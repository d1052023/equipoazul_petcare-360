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Lst>
  <p:sldSz cx="18288000" cy="10287000"/>
  <p:notesSz cx="6858000" cy="9144000"/>
  <p:embeddedFontLst>
    <p:embeddedFont>
      <p:font typeface="HK Modular" charset="1" panose="00000800000000000000"/>
      <p:regular r:id="rId81"/>
    </p:embeddedFont>
    <p:embeddedFont>
      <p:font typeface="RQND Pro" charset="1" panose="00000500000000000000"/>
      <p:regular r:id="rId82"/>
    </p:embeddedFont>
    <p:embeddedFont>
      <p:font typeface="Poppins" charset="1" panose="00000500000000000000"/>
      <p:regular r:id="rId83"/>
    </p:embeddedFont>
    <p:embeddedFont>
      <p:font typeface="Canva Sans" charset="1" panose="020B0503030501040103"/>
      <p:regular r:id="rId8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slides/slide74.xml" Type="http://schemas.openxmlformats.org/officeDocument/2006/relationships/slide"/><Relationship Id="rId8" Target="slides/slide3.xml" Type="http://schemas.openxmlformats.org/officeDocument/2006/relationships/slide"/><Relationship Id="rId80" Target="slides/slide75.xml" Type="http://schemas.openxmlformats.org/officeDocument/2006/relationships/slide"/><Relationship Id="rId81" Target="fonts/font81.fntdata" Type="http://schemas.openxmlformats.org/officeDocument/2006/relationships/font"/><Relationship Id="rId82" Target="fonts/font82.fntdata" Type="http://schemas.openxmlformats.org/officeDocument/2006/relationships/font"/><Relationship Id="rId83" Target="fonts/font83.fntdata" Type="http://schemas.openxmlformats.org/officeDocument/2006/relationships/font"/><Relationship Id="rId84" Target="fonts/font84.fntdata" Type="http://schemas.openxmlformats.org/officeDocument/2006/relationships/font"/><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2.png" Type="http://schemas.openxmlformats.org/officeDocument/2006/relationships/image"/><Relationship Id="rId7"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2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3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3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3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3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3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3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3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3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39.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40.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49.png" Type="http://schemas.openxmlformats.org/officeDocument/2006/relationships/image"/><Relationship Id="rId5" Target="../media/image50.png" Type="http://schemas.openxmlformats.org/officeDocument/2006/relationships/image"/><Relationship Id="rId6" Target="../media/image51.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52.png" Type="http://schemas.openxmlformats.org/officeDocument/2006/relationships/image"/><Relationship Id="rId5" Target="../media/image53.png" Type="http://schemas.openxmlformats.org/officeDocument/2006/relationships/image"/><Relationship Id="rId6" Target="../media/image54.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55.png" Type="http://schemas.openxmlformats.org/officeDocument/2006/relationships/image"/><Relationship Id="rId5" Target="../media/image56.png" Type="http://schemas.openxmlformats.org/officeDocument/2006/relationships/image"/><Relationship Id="rId6" Target="../media/image57.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58.png" Type="http://schemas.openxmlformats.org/officeDocument/2006/relationships/image"/><Relationship Id="rId5" Target="../media/image59.png" Type="http://schemas.openxmlformats.org/officeDocument/2006/relationships/image"/><Relationship Id="rId6" Target="../media/image60.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61.png" Type="http://schemas.openxmlformats.org/officeDocument/2006/relationships/image"/><Relationship Id="rId5" Target="../media/image62.png" Type="http://schemas.openxmlformats.org/officeDocument/2006/relationships/image"/><Relationship Id="rId6" Target="../media/image63.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64.png" Type="http://schemas.openxmlformats.org/officeDocument/2006/relationships/image"/><Relationship Id="rId5" Target="../media/image65.png" Type="http://schemas.openxmlformats.org/officeDocument/2006/relationships/image"/><Relationship Id="rId6" Target="../media/image6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67.png" Type="http://schemas.openxmlformats.org/officeDocument/2006/relationships/image"/><Relationship Id="rId5" Target="../media/image68.png" Type="http://schemas.openxmlformats.org/officeDocument/2006/relationships/image"/><Relationship Id="rId6" Target="../media/image69.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0.png" Type="http://schemas.openxmlformats.org/officeDocument/2006/relationships/image"/><Relationship Id="rId5" Target="../media/image71.png" Type="http://schemas.openxmlformats.org/officeDocument/2006/relationships/image"/><Relationship Id="rId6" Target="../media/image72.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3.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4.png" Type="http://schemas.openxmlformats.org/officeDocument/2006/relationships/image"/><Relationship Id="rId5" Target="../media/image75.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6.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6.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6.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6.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7.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8.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9.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9.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9.png" Type="http://schemas.openxmlformats.org/officeDocument/2006/relationships/image"/><Relationship Id="rId5" Target="../media/image80.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9.png" Type="http://schemas.openxmlformats.org/officeDocument/2006/relationships/image"/><Relationship Id="rId5" Target="../media/image81.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9.png" Type="http://schemas.openxmlformats.org/officeDocument/2006/relationships/image"/><Relationship Id="rId5" Target="../media/image82.png" Type="http://schemas.openxmlformats.org/officeDocument/2006/relationships/image"/><Relationship Id="rId6" Target="../media/image83.png" Type="http://schemas.openxmlformats.org/officeDocument/2006/relationships/image"/><Relationship Id="rId7" Target="../media/image84.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9.png" Type="http://schemas.openxmlformats.org/officeDocument/2006/relationships/image"/><Relationship Id="rId5" Target="../media/image85.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9.png" Type="http://schemas.openxmlformats.org/officeDocument/2006/relationships/image"/><Relationship Id="rId5" Target="../media/image86.png" Type="http://schemas.openxmlformats.org/officeDocument/2006/relationships/image"/><Relationship Id="rId6" Target="../media/image87.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9.png" Type="http://schemas.openxmlformats.org/officeDocument/2006/relationships/image"/><Relationship Id="rId5" Target="../media/image88.png" Type="http://schemas.openxmlformats.org/officeDocument/2006/relationships/image"/><Relationship Id="rId6" Target="../media/image89.png" Type="http://schemas.openxmlformats.org/officeDocument/2006/relationships/image"/><Relationship Id="rId7" Target="../media/image90.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9.png" Type="http://schemas.openxmlformats.org/officeDocument/2006/relationships/image"/><Relationship Id="rId5" Target="../media/image91.png" Type="http://schemas.openxmlformats.org/officeDocument/2006/relationships/image"/><Relationship Id="rId6" Target="../media/image92.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9.png" Type="http://schemas.openxmlformats.org/officeDocument/2006/relationships/image"/><Relationship Id="rId5" Target="../media/image93.png" Type="http://schemas.openxmlformats.org/officeDocument/2006/relationships/image"/><Relationship Id="rId6" Target="../media/image94.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79.png" Type="http://schemas.openxmlformats.org/officeDocument/2006/relationships/image"/><Relationship Id="rId5" Target="../media/image95.png" Type="http://schemas.openxmlformats.org/officeDocument/2006/relationships/image"/><Relationship Id="rId6" Target="../media/image96.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97.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98.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99.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100.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101.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102.pn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103.pn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s>
</file>

<file path=ppt/slides/_rels/slide7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0.png" Type="http://schemas.openxmlformats.org/officeDocument/2006/relationships/image"/><Relationship Id="rId11" Target="../media/image111.svg" Type="http://schemas.openxmlformats.org/officeDocument/2006/relationships/image"/><Relationship Id="rId2" Target="../media/image10.jpeg" Type="http://schemas.openxmlformats.org/officeDocument/2006/relationships/image"/><Relationship Id="rId3" Target="../media/image5.png" Type="http://schemas.openxmlformats.org/officeDocument/2006/relationships/image"/><Relationship Id="rId4" Target="../media/image104.png" Type="http://schemas.openxmlformats.org/officeDocument/2006/relationships/image"/><Relationship Id="rId5" Target="../media/image105.svg" Type="http://schemas.openxmlformats.org/officeDocument/2006/relationships/image"/><Relationship Id="rId6" Target="../media/image106.png" Type="http://schemas.openxmlformats.org/officeDocument/2006/relationships/image"/><Relationship Id="rId7" Target="../media/image107.svg" Type="http://schemas.openxmlformats.org/officeDocument/2006/relationships/image"/><Relationship Id="rId8" Target="../media/image108.png" Type="http://schemas.openxmlformats.org/officeDocument/2006/relationships/image"/><Relationship Id="rId9" Target="../media/image109.svg" Type="http://schemas.openxmlformats.org/officeDocument/2006/relationships/image"/></Relationships>
</file>

<file path=ppt/slides/_rels/slide7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png" Type="http://schemas.openxmlformats.org/officeDocument/2006/relationships/image"/><Relationship Id="rId4" Target="../media/image1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3"/>
            <a:stretch>
              <a:fillRect l="0" t="0" r="0" b="0"/>
            </a:stretch>
          </a:blipFill>
        </p:spPr>
      </p:sp>
      <p:sp>
        <p:nvSpPr>
          <p:cNvPr name="Freeform 7" id="7"/>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816727" y="2338684"/>
            <a:ext cx="5317423" cy="5317423"/>
          </a:xfrm>
          <a:custGeom>
            <a:avLst/>
            <a:gdLst/>
            <a:ahLst/>
            <a:cxnLst/>
            <a:rect r="r" b="b" t="t" l="l"/>
            <a:pathLst>
              <a:path h="5317423" w="5317423">
                <a:moveTo>
                  <a:pt x="0" y="0"/>
                </a:moveTo>
                <a:lnTo>
                  <a:pt x="5317422" y="0"/>
                </a:lnTo>
                <a:lnTo>
                  <a:pt x="5317422" y="5317423"/>
                </a:lnTo>
                <a:lnTo>
                  <a:pt x="0" y="5317423"/>
                </a:lnTo>
                <a:lnTo>
                  <a:pt x="0" y="0"/>
                </a:lnTo>
                <a:close/>
              </a:path>
            </a:pathLst>
          </a:custGeom>
          <a:blipFill>
            <a:blip r:embed="rId6"/>
            <a:stretch>
              <a:fillRect l="0" t="0" r="0" b="0"/>
            </a:stretch>
          </a:blipFill>
        </p:spPr>
      </p:sp>
      <p:sp>
        <p:nvSpPr>
          <p:cNvPr name="Freeform 9" id="9"/>
          <p:cNvSpPr/>
          <p:nvPr/>
        </p:nvSpPr>
        <p:spPr>
          <a:xfrm flipH="false" flipV="false" rot="0">
            <a:off x="8304904" y="2295809"/>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7"/>
            <a:stretch>
              <a:fillRect l="0" t="0" r="0" b="0"/>
            </a:stretch>
          </a:blipFill>
        </p:spPr>
      </p:sp>
      <p:sp>
        <p:nvSpPr>
          <p:cNvPr name="TextBox 10" id="10"/>
          <p:cNvSpPr txBox="true"/>
          <p:nvPr/>
        </p:nvSpPr>
        <p:spPr>
          <a:xfrm rot="0">
            <a:off x="8304904" y="4377652"/>
            <a:ext cx="8271372" cy="1115662"/>
          </a:xfrm>
          <a:prstGeom prst="rect">
            <a:avLst/>
          </a:prstGeom>
        </p:spPr>
        <p:txBody>
          <a:bodyPr anchor="t" rtlCol="false" tIns="0" lIns="0" bIns="0" rIns="0">
            <a:spAutoFit/>
          </a:bodyPr>
          <a:lstStyle/>
          <a:p>
            <a:pPr algn="l">
              <a:lnSpc>
                <a:spcPts val="9165"/>
              </a:lnSpc>
              <a:spcBef>
                <a:spcPct val="0"/>
              </a:spcBef>
            </a:pPr>
            <a:r>
              <a:rPr lang="en-US" sz="6546">
                <a:solidFill>
                  <a:srgbClr val="1800AD"/>
                </a:solidFill>
                <a:latin typeface="HK Modular"/>
                <a:ea typeface="HK Modular"/>
                <a:cs typeface="HK Modular"/>
                <a:sym typeface="HK Modular"/>
              </a:rPr>
              <a:t>SEMANA 8</a:t>
            </a:r>
          </a:p>
        </p:txBody>
      </p:sp>
      <p:sp>
        <p:nvSpPr>
          <p:cNvPr name="TextBox 11" id="11"/>
          <p:cNvSpPr txBox="true"/>
          <p:nvPr/>
        </p:nvSpPr>
        <p:spPr>
          <a:xfrm rot="0">
            <a:off x="8304904" y="5916767"/>
            <a:ext cx="6621756" cy="892949"/>
          </a:xfrm>
          <a:prstGeom prst="rect">
            <a:avLst/>
          </a:prstGeom>
        </p:spPr>
        <p:txBody>
          <a:bodyPr anchor="t" rtlCol="false" tIns="0" lIns="0" bIns="0" rIns="0">
            <a:spAutoFit/>
          </a:bodyPr>
          <a:lstStyle/>
          <a:p>
            <a:pPr algn="l">
              <a:lnSpc>
                <a:spcPts val="7267"/>
              </a:lnSpc>
              <a:spcBef>
                <a:spcPct val="0"/>
              </a:spcBef>
            </a:pPr>
            <a:r>
              <a:rPr lang="en-US" sz="5191">
                <a:solidFill>
                  <a:srgbClr val="38B6FF"/>
                </a:solidFill>
                <a:latin typeface="HK Modular"/>
                <a:ea typeface="HK Modular"/>
                <a:cs typeface="HK Modular"/>
                <a:sym typeface="HK Modular"/>
              </a:rPr>
              <a:t>GRUPO 1</a:t>
            </a:r>
          </a:p>
        </p:txBody>
      </p:sp>
      <p:sp>
        <p:nvSpPr>
          <p:cNvPr name="TextBox 12" id="12"/>
          <p:cNvSpPr txBox="true"/>
          <p:nvPr/>
        </p:nvSpPr>
        <p:spPr>
          <a:xfrm rot="0">
            <a:off x="8906723" y="2356120"/>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10800000">
            <a:off x="-1787219" y="2807845"/>
            <a:ext cx="7553143" cy="9506253"/>
            <a:chOff x="0" y="0"/>
            <a:chExt cx="2170403" cy="2731631"/>
          </a:xfrm>
        </p:grpSpPr>
        <p:sp>
          <p:nvSpPr>
            <p:cNvPr name="Freeform 4" id="4"/>
            <p:cNvSpPr/>
            <p:nvPr/>
          </p:nvSpPr>
          <p:spPr>
            <a:xfrm flipH="false" flipV="false" rot="0">
              <a:off x="0" y="0"/>
              <a:ext cx="2170403" cy="2731631"/>
            </a:xfrm>
            <a:custGeom>
              <a:avLst/>
              <a:gdLst/>
              <a:ahLst/>
              <a:cxnLst/>
              <a:rect r="r" b="b" t="t" l="l"/>
              <a:pathLst>
                <a:path h="2731631" w="2170403">
                  <a:moveTo>
                    <a:pt x="29725" y="0"/>
                  </a:moveTo>
                  <a:lnTo>
                    <a:pt x="2140678" y="0"/>
                  </a:lnTo>
                  <a:cubicBezTo>
                    <a:pt x="2148561" y="0"/>
                    <a:pt x="2156122" y="3132"/>
                    <a:pt x="2161696" y="8706"/>
                  </a:cubicBezTo>
                  <a:cubicBezTo>
                    <a:pt x="2167271" y="14281"/>
                    <a:pt x="2170403" y="21841"/>
                    <a:pt x="2170403" y="29725"/>
                  </a:cubicBezTo>
                  <a:lnTo>
                    <a:pt x="2170403" y="2701906"/>
                  </a:lnTo>
                  <a:cubicBezTo>
                    <a:pt x="2170403" y="2718322"/>
                    <a:pt x="2157094" y="2731631"/>
                    <a:pt x="2140678" y="2731631"/>
                  </a:cubicBezTo>
                  <a:lnTo>
                    <a:pt x="29725" y="2731631"/>
                  </a:lnTo>
                  <a:cubicBezTo>
                    <a:pt x="21841" y="2731631"/>
                    <a:pt x="14281" y="2728499"/>
                    <a:pt x="8706" y="2722924"/>
                  </a:cubicBezTo>
                  <a:cubicBezTo>
                    <a:pt x="3132" y="2717350"/>
                    <a:pt x="0" y="2709789"/>
                    <a:pt x="0" y="2701906"/>
                  </a:cubicBezTo>
                  <a:lnTo>
                    <a:pt x="0" y="29725"/>
                  </a:lnTo>
                  <a:cubicBezTo>
                    <a:pt x="0" y="21841"/>
                    <a:pt x="3132" y="14281"/>
                    <a:pt x="8706" y="8706"/>
                  </a:cubicBezTo>
                  <a:cubicBezTo>
                    <a:pt x="14281" y="3132"/>
                    <a:pt x="21841" y="0"/>
                    <a:pt x="29725" y="0"/>
                  </a:cubicBezTo>
                  <a:close/>
                </a:path>
              </a:pathLst>
            </a:custGeom>
            <a:gradFill rotWithShape="true">
              <a:gsLst>
                <a:gs pos="0">
                  <a:srgbClr val="000000">
                    <a:alpha val="0"/>
                  </a:srgbClr>
                </a:gs>
                <a:gs pos="100000">
                  <a:srgbClr val="00B2FF">
                    <a:alpha val="100000"/>
                  </a:srgbClr>
                </a:gs>
              </a:gsLst>
              <a:lin ang="0"/>
            </a:gradFill>
          </p:spPr>
        </p:sp>
        <p:sp>
          <p:nvSpPr>
            <p:cNvPr name="TextBox 5" id="5"/>
            <p:cNvSpPr txBox="true"/>
            <p:nvPr/>
          </p:nvSpPr>
          <p:spPr>
            <a:xfrm>
              <a:off x="0" y="-38100"/>
              <a:ext cx="2170403" cy="27697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5400000">
            <a:off x="3940201" y="-7697568"/>
            <a:ext cx="10626331" cy="19778728"/>
            <a:chOff x="0" y="0"/>
            <a:chExt cx="2798705" cy="5209212"/>
          </a:xfrm>
        </p:grpSpPr>
        <p:sp>
          <p:nvSpPr>
            <p:cNvPr name="Freeform 7" id="7"/>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8" id="8"/>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937632" y="3989838"/>
            <a:ext cx="12198152" cy="1370059"/>
          </a:xfrm>
          <a:prstGeom prst="rect">
            <a:avLst/>
          </a:prstGeom>
        </p:spPr>
        <p:txBody>
          <a:bodyPr anchor="t" rtlCol="false" tIns="0" lIns="0" bIns="0" rIns="0">
            <a:spAutoFit/>
          </a:bodyPr>
          <a:lstStyle/>
          <a:p>
            <a:pPr algn="ctr">
              <a:lnSpc>
                <a:spcPts val="11109"/>
              </a:lnSpc>
              <a:spcBef>
                <a:spcPct val="0"/>
              </a:spcBef>
            </a:pPr>
            <a:r>
              <a:rPr lang="en-US" sz="7935">
                <a:solidFill>
                  <a:srgbClr val="6CDAFF"/>
                </a:solidFill>
                <a:latin typeface="HK Modular"/>
                <a:ea typeface="HK Modular"/>
                <a:cs typeface="HK Modular"/>
                <a:sym typeface="HK Modular"/>
              </a:rPr>
              <a:t>QUIZ #6</a:t>
            </a:r>
          </a:p>
        </p:txBody>
      </p:sp>
      <p:grpSp>
        <p:nvGrpSpPr>
          <p:cNvPr name="Group 10" id="10"/>
          <p:cNvGrpSpPr/>
          <p:nvPr/>
        </p:nvGrpSpPr>
        <p:grpSpPr>
          <a:xfrm rot="0">
            <a:off x="572768" y="3822181"/>
            <a:ext cx="4125543" cy="412554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5960DC">
                      <a:alpha val="100000"/>
                    </a:srgbClr>
                  </a:gs>
                  <a:gs pos="100000">
                    <a:srgbClr val="FF99FF">
                      <a:alpha val="100000"/>
                    </a:srgbClr>
                  </a:gs>
                </a:gsLst>
                <a:lin ang="0"/>
              </a:gra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a:grpSpLocks noChangeAspect="true"/>
          </p:cNvGrpSpPr>
          <p:nvPr/>
        </p:nvGrpSpPr>
        <p:grpSpPr>
          <a:xfrm rot="0">
            <a:off x="902350" y="4151763"/>
            <a:ext cx="3466379" cy="3466379"/>
            <a:chOff x="0" y="0"/>
            <a:chExt cx="14840029" cy="14840029"/>
          </a:xfrm>
        </p:grpSpPr>
        <p:sp>
          <p:nvSpPr>
            <p:cNvPr name="Freeform 14" id="14"/>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C4459F"/>
            </a:solidFill>
          </p:spPr>
        </p:sp>
        <p:sp>
          <p:nvSpPr>
            <p:cNvPr name="Freeform 15" id="15"/>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sp>
        <p:sp>
          <p:nvSpPr>
            <p:cNvPr name="Freeform 16" id="16"/>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3"/>
              <a:stretch>
                <a:fillRect l="-24712" t="0" r="-24712" b="0"/>
              </a:stretch>
            </a:blipFill>
          </p:spPr>
        </p:sp>
      </p:grpSp>
      <p:sp>
        <p:nvSpPr>
          <p:cNvPr name="TextBox 17" id="17"/>
          <p:cNvSpPr txBox="true"/>
          <p:nvPr/>
        </p:nvSpPr>
        <p:spPr>
          <a:xfrm rot="0">
            <a:off x="5061148" y="6441376"/>
            <a:ext cx="11651029"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Ingresen al  Codigo que se va a generar con Quizizz</a:t>
            </a:r>
          </a:p>
        </p:txBody>
      </p:sp>
      <p:sp>
        <p:nvSpPr>
          <p:cNvPr name="TextBox 18" id="18"/>
          <p:cNvSpPr txBox="true"/>
          <p:nvPr/>
        </p:nvSpPr>
        <p:spPr>
          <a:xfrm rot="0">
            <a:off x="5061148" y="7160306"/>
            <a:ext cx="11651029"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Solo van a tener un intento</a:t>
            </a:r>
          </a:p>
        </p:txBody>
      </p:sp>
      <p:sp>
        <p:nvSpPr>
          <p:cNvPr name="Freeform 19" id="19"/>
          <p:cNvSpPr/>
          <p:nvPr/>
        </p:nvSpPr>
        <p:spPr>
          <a:xfrm flipH="false" flipV="false" rot="0">
            <a:off x="7538486" y="-795729"/>
            <a:ext cx="3884115" cy="3884115"/>
          </a:xfrm>
          <a:custGeom>
            <a:avLst/>
            <a:gdLst/>
            <a:ahLst/>
            <a:cxnLst/>
            <a:rect r="r" b="b" t="t" l="l"/>
            <a:pathLst>
              <a:path h="3884115" w="3884115">
                <a:moveTo>
                  <a:pt x="0" y="0"/>
                </a:moveTo>
                <a:lnTo>
                  <a:pt x="3884115" y="0"/>
                </a:lnTo>
                <a:lnTo>
                  <a:pt x="3884115" y="3884115"/>
                </a:lnTo>
                <a:lnTo>
                  <a:pt x="0" y="3884115"/>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085699" y="1223022"/>
            <a:ext cx="9389196" cy="1115662"/>
          </a:xfrm>
          <a:prstGeom prst="rect">
            <a:avLst/>
          </a:prstGeom>
        </p:spPr>
        <p:txBody>
          <a:bodyPr anchor="t" rtlCol="false" tIns="0" lIns="0" bIns="0" rIns="0">
            <a:spAutoFit/>
          </a:bodyPr>
          <a:lstStyle/>
          <a:p>
            <a:pPr algn="l">
              <a:lnSpc>
                <a:spcPts val="9165"/>
              </a:lnSpc>
              <a:spcBef>
                <a:spcPct val="0"/>
              </a:spcBef>
            </a:pPr>
            <a:r>
              <a:rPr lang="en-US" sz="6546">
                <a:solidFill>
                  <a:srgbClr val="5D10EA"/>
                </a:solidFill>
                <a:latin typeface="HK Modular"/>
                <a:ea typeface="HK Modular"/>
                <a:cs typeface="HK Modular"/>
                <a:sym typeface="HK Modular"/>
              </a:rPr>
              <a:t>ORDEN DEL DIA </a:t>
            </a:r>
          </a:p>
        </p:txBody>
      </p:sp>
      <p:sp>
        <p:nvSpPr>
          <p:cNvPr name="Freeform 8" id="8"/>
          <p:cNvSpPr/>
          <p:nvPr/>
        </p:nvSpPr>
        <p:spPr>
          <a:xfrm flipH="false" flipV="false" rot="0">
            <a:off x="1816727" y="2338684"/>
            <a:ext cx="5317423" cy="5317423"/>
          </a:xfrm>
          <a:custGeom>
            <a:avLst/>
            <a:gdLst/>
            <a:ahLst/>
            <a:cxnLst/>
            <a:rect r="r" b="b" t="t" l="l"/>
            <a:pathLst>
              <a:path h="5317423" w="5317423">
                <a:moveTo>
                  <a:pt x="0" y="0"/>
                </a:moveTo>
                <a:lnTo>
                  <a:pt x="5317422" y="0"/>
                </a:lnTo>
                <a:lnTo>
                  <a:pt x="5317422" y="5317423"/>
                </a:lnTo>
                <a:lnTo>
                  <a:pt x="0" y="5317423"/>
                </a:lnTo>
                <a:lnTo>
                  <a:pt x="0" y="0"/>
                </a:lnTo>
                <a:close/>
              </a:path>
            </a:pathLst>
          </a:custGeom>
          <a:blipFill>
            <a:blip r:embed="rId5"/>
            <a:stretch>
              <a:fillRect l="0" t="0" r="0" b="0"/>
            </a:stretch>
          </a:blipFill>
        </p:spPr>
      </p:sp>
      <p:sp>
        <p:nvSpPr>
          <p:cNvPr name="Freeform 9" id="9"/>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6"/>
            <a:stretch>
              <a:fillRect l="0" t="0" r="0" b="0"/>
            </a:stretch>
          </a:blipFill>
        </p:spPr>
      </p:sp>
      <p:sp>
        <p:nvSpPr>
          <p:cNvPr name="Freeform 10" id="10"/>
          <p:cNvSpPr/>
          <p:nvPr/>
        </p:nvSpPr>
        <p:spPr>
          <a:xfrm flipH="false" flipV="false" rot="0">
            <a:off x="8304904" y="437716"/>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7"/>
            <a:stretch>
              <a:fillRect l="0" t="0" r="0" b="0"/>
            </a:stretch>
          </a:blipFill>
        </p:spPr>
      </p:sp>
      <p:sp>
        <p:nvSpPr>
          <p:cNvPr name="TextBox 11" id="11"/>
          <p:cNvSpPr txBox="true"/>
          <p:nvPr/>
        </p:nvSpPr>
        <p:spPr>
          <a:xfrm rot="0">
            <a:off x="8906723" y="498026"/>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TextBox 12" id="12"/>
          <p:cNvSpPr txBox="true"/>
          <p:nvPr/>
        </p:nvSpPr>
        <p:spPr>
          <a:xfrm rot="0">
            <a:off x="8751667" y="2729209"/>
            <a:ext cx="7725509" cy="7477170"/>
          </a:xfrm>
          <a:prstGeom prst="rect">
            <a:avLst/>
          </a:prstGeom>
        </p:spPr>
        <p:txBody>
          <a:bodyPr anchor="t" rtlCol="false" tIns="0" lIns="0" bIns="0" rIns="0">
            <a:spAutoFit/>
          </a:bodyPr>
          <a:lstStyle/>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REPASO APIS Y DISEÑO DE APIS #2 EJERCICIO PRACTICO</a:t>
            </a:r>
          </a:p>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UX:</a:t>
            </a:r>
          </a:p>
          <a:p>
            <a:pPr algn="l" marL="912750" indent="-304250" lvl="2">
              <a:lnSpc>
                <a:spcPts val="2959"/>
              </a:lnSpc>
              <a:buFont typeface="Arial"/>
              <a:buChar char="⚬"/>
            </a:pPr>
            <a:r>
              <a:rPr lang="en-US" sz="2113">
                <a:solidFill>
                  <a:srgbClr val="FFFFFF"/>
                </a:solidFill>
                <a:latin typeface="HK Modular"/>
                <a:ea typeface="HK Modular"/>
                <a:cs typeface="HK Modular"/>
                <a:sym typeface="HK Modular"/>
              </a:rPr>
              <a:t>HEURISTICA DE NIELSEN</a:t>
            </a:r>
          </a:p>
          <a:p>
            <a:pPr algn="l" marL="912750" indent="-304250" lvl="2">
              <a:lnSpc>
                <a:spcPts val="2959"/>
              </a:lnSpc>
              <a:buFont typeface="Arial"/>
              <a:buChar char="⚬"/>
            </a:pPr>
            <a:r>
              <a:rPr lang="en-US" sz="2113">
                <a:solidFill>
                  <a:srgbClr val="FFFFFF"/>
                </a:solidFill>
                <a:latin typeface="HK Modular"/>
                <a:ea typeface="HK Modular"/>
                <a:cs typeface="HK Modular"/>
                <a:sym typeface="HK Modular"/>
              </a:rPr>
              <a:t>LEYES DEL UX</a:t>
            </a:r>
          </a:p>
          <a:p>
            <a:pPr algn="l" marL="912750" indent="-304250" lvl="2">
              <a:lnSpc>
                <a:spcPts val="2959"/>
              </a:lnSpc>
              <a:buFont typeface="Arial"/>
              <a:buChar char="⚬"/>
            </a:pPr>
            <a:r>
              <a:rPr lang="en-US" sz="2113">
                <a:solidFill>
                  <a:srgbClr val="FFFFFF"/>
                </a:solidFill>
                <a:latin typeface="HK Modular"/>
                <a:ea typeface="HK Modular"/>
                <a:cs typeface="HK Modular"/>
                <a:sym typeface="HK Modular"/>
              </a:rPr>
              <a:t>BUENAS PRACTICAS DEL UX READING</a:t>
            </a:r>
          </a:p>
          <a:p>
            <a:pPr algn="l" marL="912750" indent="-304250" lvl="2">
              <a:lnSpc>
                <a:spcPts val="2959"/>
              </a:lnSpc>
              <a:buFont typeface="Arial"/>
              <a:buChar char="⚬"/>
            </a:pPr>
            <a:r>
              <a:rPr lang="en-US" sz="2113">
                <a:solidFill>
                  <a:srgbClr val="FFFFFF"/>
                </a:solidFill>
                <a:latin typeface="HK Modular"/>
                <a:ea typeface="HK Modular"/>
                <a:cs typeface="HK Modular"/>
                <a:sym typeface="HK Modular"/>
              </a:rPr>
              <a:t>MOCKS Y DISEÑOS CON FIGMA</a:t>
            </a:r>
          </a:p>
          <a:p>
            <a:pPr algn="l" marL="912750" indent="-304250" lvl="2">
              <a:lnSpc>
                <a:spcPts val="2959"/>
              </a:lnSpc>
              <a:buFont typeface="Arial"/>
              <a:buChar char="⚬"/>
            </a:pPr>
            <a:r>
              <a:rPr lang="en-US" sz="2113">
                <a:solidFill>
                  <a:srgbClr val="FFFFFF"/>
                </a:solidFill>
                <a:latin typeface="HK Modular"/>
                <a:ea typeface="HK Modular"/>
                <a:cs typeface="HK Modular"/>
                <a:sym typeface="HK Modular"/>
              </a:rPr>
              <a:t>Modulo de Diagramacion #7: FLUJOS FUNCIONALES ENTRE PANTALLAS</a:t>
            </a:r>
          </a:p>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ARQUITECTURA DE UN PROYECTO DE FRONT - ESTRUCTURA</a:t>
            </a:r>
          </a:p>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REACT</a:t>
            </a:r>
          </a:p>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HERO UI, MATERIAL DESIGN, DRIBBLE</a:t>
            </a:r>
          </a:p>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VERCEL</a:t>
            </a:r>
          </a:p>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MANUAL DE IDENTIDAD</a:t>
            </a:r>
          </a:p>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High Level Design: Documento de arquitectura Y DISEÑO DEL FRONT</a:t>
            </a:r>
          </a:p>
          <a:p>
            <a:pPr algn="l">
              <a:lnSpc>
                <a:spcPts val="295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8057478" y="-155865"/>
            <a:ext cx="2347661" cy="2347661"/>
          </a:xfrm>
          <a:custGeom>
            <a:avLst/>
            <a:gdLst/>
            <a:ahLst/>
            <a:cxnLst/>
            <a:rect r="r" b="b" t="t" l="l"/>
            <a:pathLst>
              <a:path h="2347661" w="2347661">
                <a:moveTo>
                  <a:pt x="0" y="0"/>
                </a:moveTo>
                <a:lnTo>
                  <a:pt x="2347661" y="0"/>
                </a:lnTo>
                <a:lnTo>
                  <a:pt x="2347661" y="2347661"/>
                </a:lnTo>
                <a:lnTo>
                  <a:pt x="0" y="2347661"/>
                </a:lnTo>
                <a:lnTo>
                  <a:pt x="0" y="0"/>
                </a:lnTo>
                <a:close/>
              </a:path>
            </a:pathLst>
          </a:custGeom>
          <a:blipFill>
            <a:blip r:embed="rId3"/>
            <a:stretch>
              <a:fillRect l="0" t="0" r="0" b="0"/>
            </a:stretch>
          </a:blipFill>
        </p:spPr>
      </p:sp>
      <p:sp>
        <p:nvSpPr>
          <p:cNvPr name="Freeform 13" id="13"/>
          <p:cNvSpPr/>
          <p:nvPr/>
        </p:nvSpPr>
        <p:spPr>
          <a:xfrm flipH="false" flipV="false" rot="0">
            <a:off x="1097880" y="6944010"/>
            <a:ext cx="6959599" cy="2557652"/>
          </a:xfrm>
          <a:custGeom>
            <a:avLst/>
            <a:gdLst/>
            <a:ahLst/>
            <a:cxnLst/>
            <a:rect r="r" b="b" t="t" l="l"/>
            <a:pathLst>
              <a:path h="2557652" w="6959599">
                <a:moveTo>
                  <a:pt x="0" y="0"/>
                </a:moveTo>
                <a:lnTo>
                  <a:pt x="6959598" y="0"/>
                </a:lnTo>
                <a:lnTo>
                  <a:pt x="6959598" y="2557653"/>
                </a:lnTo>
                <a:lnTo>
                  <a:pt x="0" y="2557653"/>
                </a:lnTo>
                <a:lnTo>
                  <a:pt x="0" y="0"/>
                </a:lnTo>
                <a:close/>
              </a:path>
            </a:pathLst>
          </a:custGeom>
          <a:blipFill>
            <a:blip r:embed="rId4"/>
            <a:stretch>
              <a:fillRect l="0" t="0" r="0" b="0"/>
            </a:stretch>
          </a:blipFill>
        </p:spPr>
      </p:sp>
      <p:sp>
        <p:nvSpPr>
          <p:cNvPr name="TextBox 14" id="14"/>
          <p:cNvSpPr txBox="true"/>
          <p:nvPr/>
        </p:nvSpPr>
        <p:spPr>
          <a:xfrm rot="0">
            <a:off x="3997117" y="2087021"/>
            <a:ext cx="10684768" cy="899656"/>
          </a:xfrm>
          <a:prstGeom prst="rect">
            <a:avLst/>
          </a:prstGeom>
        </p:spPr>
        <p:txBody>
          <a:bodyPr anchor="t" rtlCol="false" tIns="0" lIns="0" bIns="0" rIns="0">
            <a:spAutoFit/>
          </a:bodyPr>
          <a:lstStyle/>
          <a:p>
            <a:pPr algn="l">
              <a:lnSpc>
                <a:spcPts val="7316"/>
              </a:lnSpc>
              <a:spcBef>
                <a:spcPct val="0"/>
              </a:spcBef>
            </a:pPr>
            <a:r>
              <a:rPr lang="en-US" sz="5226">
                <a:solidFill>
                  <a:srgbClr val="38B6FF"/>
                </a:solidFill>
                <a:latin typeface="HK Modular"/>
                <a:ea typeface="HK Modular"/>
                <a:cs typeface="HK Modular"/>
                <a:sym typeface="HK Modular"/>
              </a:rPr>
              <a:t>EJERCICIO DE REPASO</a:t>
            </a:r>
          </a:p>
        </p:txBody>
      </p:sp>
      <p:sp>
        <p:nvSpPr>
          <p:cNvPr name="TextBox 15" id="15"/>
          <p:cNvSpPr txBox="true"/>
          <p:nvPr/>
        </p:nvSpPr>
        <p:spPr>
          <a:xfrm rot="0">
            <a:off x="1028700" y="3558177"/>
            <a:ext cx="7822473" cy="2747658"/>
          </a:xfrm>
          <a:prstGeom prst="rect">
            <a:avLst/>
          </a:prstGeom>
        </p:spPr>
        <p:txBody>
          <a:bodyPr anchor="t" rtlCol="false" tIns="0" lIns="0" bIns="0" rIns="0">
            <a:spAutoFit/>
          </a:bodyPr>
          <a:lstStyle/>
          <a:p>
            <a:pPr algn="ctr">
              <a:lnSpc>
                <a:spcPts val="3120"/>
              </a:lnSpc>
              <a:spcBef>
                <a:spcPct val="0"/>
              </a:spcBef>
            </a:pPr>
            <a:r>
              <a:rPr lang="en-US" sz="2228">
                <a:solidFill>
                  <a:srgbClr val="FFFFFF"/>
                </a:solidFill>
                <a:latin typeface="Poppins"/>
                <a:ea typeface="Poppins"/>
                <a:cs typeface="Poppins"/>
                <a:sym typeface="Poppins"/>
              </a:rPr>
              <a:t>El mundo Pokémon cuenta con cientos de criaturas distribuidas en diferentes regiones y generaciones, cada una con habilidades y tipos elementales únicos.</a:t>
            </a:r>
          </a:p>
          <a:p>
            <a:pPr algn="ctr">
              <a:lnSpc>
                <a:spcPts val="3120"/>
              </a:lnSpc>
              <a:spcBef>
                <a:spcPct val="0"/>
              </a:spcBef>
            </a:pPr>
            <a:r>
              <a:rPr lang="en-US" sz="2228">
                <a:solidFill>
                  <a:srgbClr val="FFFFFF"/>
                </a:solidFill>
                <a:latin typeface="Poppins"/>
                <a:ea typeface="Poppins"/>
                <a:cs typeface="Poppins"/>
                <a:sym typeface="Poppins"/>
              </a:rPr>
              <a:t> Tu misión será desarrollar una aplicación completa que funcione como una PokéDex digital, capaz de registrar, organizar y consultar Pokémon con base en su información principal.</a:t>
            </a:r>
          </a:p>
        </p:txBody>
      </p:sp>
      <p:sp>
        <p:nvSpPr>
          <p:cNvPr name="TextBox 16" id="16"/>
          <p:cNvSpPr txBox="true"/>
          <p:nvPr/>
        </p:nvSpPr>
        <p:spPr>
          <a:xfrm rot="0">
            <a:off x="10170422" y="3558177"/>
            <a:ext cx="7381744" cy="5195321"/>
          </a:xfrm>
          <a:prstGeom prst="rect">
            <a:avLst/>
          </a:prstGeom>
        </p:spPr>
        <p:txBody>
          <a:bodyPr anchor="t" rtlCol="false" tIns="0" lIns="0" bIns="0" rIns="0">
            <a:spAutoFit/>
          </a:bodyPr>
          <a:lstStyle/>
          <a:p>
            <a:pPr algn="l">
              <a:lnSpc>
                <a:spcPts val="3187"/>
              </a:lnSpc>
            </a:pPr>
            <a:r>
              <a:rPr lang="en-US" sz="2277">
                <a:solidFill>
                  <a:srgbClr val="FFFFFF"/>
                </a:solidFill>
                <a:latin typeface="Poppins"/>
                <a:ea typeface="Poppins"/>
                <a:cs typeface="Poppins"/>
                <a:sym typeface="Poppins"/>
              </a:rPr>
              <a:t>Permitir:</a:t>
            </a:r>
          </a:p>
          <a:p>
            <a:pPr algn="l">
              <a:lnSpc>
                <a:spcPts val="3187"/>
              </a:lnSpc>
            </a:pPr>
          </a:p>
          <a:p>
            <a:pPr algn="l" marL="491614" indent="-245807" lvl="1">
              <a:lnSpc>
                <a:spcPts val="3187"/>
              </a:lnSpc>
              <a:buFont typeface="Arial"/>
              <a:buChar char="•"/>
            </a:pPr>
            <a:r>
              <a:rPr lang="en-US" sz="2277">
                <a:solidFill>
                  <a:srgbClr val="FFFFFF"/>
                </a:solidFill>
                <a:latin typeface="Poppins"/>
                <a:ea typeface="Poppins"/>
                <a:cs typeface="Poppins"/>
                <a:sym typeface="Poppins"/>
              </a:rPr>
              <a:t>Registrar un Pokemon</a:t>
            </a:r>
          </a:p>
          <a:p>
            <a:pPr algn="l" marL="491614" indent="-245807" lvl="1">
              <a:lnSpc>
                <a:spcPts val="3187"/>
              </a:lnSpc>
              <a:buFont typeface="Arial"/>
              <a:buChar char="•"/>
            </a:pPr>
            <a:r>
              <a:rPr lang="en-US" sz="2277">
                <a:solidFill>
                  <a:srgbClr val="FFFFFF"/>
                </a:solidFill>
                <a:latin typeface="Poppins"/>
                <a:ea typeface="Poppins"/>
                <a:cs typeface="Poppins"/>
                <a:sym typeface="Poppins"/>
              </a:rPr>
              <a:t>Actualizar la Informacion de un Pokemon</a:t>
            </a:r>
          </a:p>
          <a:p>
            <a:pPr algn="l" marL="491614" indent="-245807" lvl="1">
              <a:lnSpc>
                <a:spcPts val="3187"/>
              </a:lnSpc>
              <a:buFont typeface="Arial"/>
              <a:buChar char="•"/>
            </a:pPr>
            <a:r>
              <a:rPr lang="en-US" sz="2277">
                <a:solidFill>
                  <a:srgbClr val="FFFFFF"/>
                </a:solidFill>
                <a:latin typeface="Poppins"/>
                <a:ea typeface="Poppins"/>
                <a:cs typeface="Poppins"/>
                <a:sym typeface="Poppins"/>
              </a:rPr>
              <a:t>Eliminar un Pokemon</a:t>
            </a:r>
          </a:p>
          <a:p>
            <a:pPr algn="l" marL="491614" indent="-245807" lvl="1">
              <a:lnSpc>
                <a:spcPts val="3187"/>
              </a:lnSpc>
              <a:buFont typeface="Arial"/>
              <a:buChar char="•"/>
            </a:pPr>
            <a:r>
              <a:rPr lang="en-US" sz="2277">
                <a:solidFill>
                  <a:srgbClr val="FFFFFF"/>
                </a:solidFill>
                <a:latin typeface="Poppins"/>
                <a:ea typeface="Poppins"/>
                <a:cs typeface="Poppins"/>
                <a:sym typeface="Poppins"/>
              </a:rPr>
              <a:t>Consultar Pokemones por Tipo elemental, region y generacion</a:t>
            </a:r>
          </a:p>
          <a:p>
            <a:pPr algn="l" marL="491614" indent="-245807" lvl="1">
              <a:lnSpc>
                <a:spcPts val="3187"/>
              </a:lnSpc>
              <a:buFont typeface="Arial"/>
              <a:buChar char="•"/>
            </a:pPr>
            <a:r>
              <a:rPr lang="en-US" sz="2277">
                <a:solidFill>
                  <a:srgbClr val="FFFFFF"/>
                </a:solidFill>
                <a:latin typeface="Poppins"/>
                <a:ea typeface="Poppins"/>
                <a:cs typeface="Poppins"/>
                <a:sym typeface="Poppins"/>
              </a:rPr>
              <a:t>Consultar todos los pokemones</a:t>
            </a:r>
          </a:p>
          <a:p>
            <a:pPr algn="l" marL="491614" indent="-245807" lvl="1">
              <a:lnSpc>
                <a:spcPts val="3187"/>
              </a:lnSpc>
              <a:buFont typeface="Arial"/>
              <a:buChar char="•"/>
            </a:pPr>
            <a:r>
              <a:rPr lang="en-US" sz="2277">
                <a:solidFill>
                  <a:srgbClr val="FFFFFF"/>
                </a:solidFill>
                <a:latin typeface="Poppins"/>
                <a:ea typeface="Poppins"/>
                <a:cs typeface="Poppins"/>
                <a:sym typeface="Poppins"/>
              </a:rPr>
              <a:t>Consultar un Pokemon</a:t>
            </a:r>
          </a:p>
          <a:p>
            <a:pPr algn="l" marL="491614" indent="-245807" lvl="1">
              <a:lnSpc>
                <a:spcPts val="3187"/>
              </a:lnSpc>
              <a:buFont typeface="Arial"/>
              <a:buChar char="•"/>
            </a:pPr>
            <a:r>
              <a:rPr lang="en-US" sz="2277">
                <a:solidFill>
                  <a:srgbClr val="FFFFFF"/>
                </a:solidFill>
                <a:latin typeface="Poppins"/>
                <a:ea typeface="Poppins"/>
                <a:cs typeface="Poppins"/>
                <a:sym typeface="Poppins"/>
              </a:rPr>
              <a:t>Consultar que pokemones pueden aprender cierto movimiento</a:t>
            </a:r>
          </a:p>
          <a:p>
            <a:pPr algn="l" marL="491614" indent="-245807" lvl="1">
              <a:lnSpc>
                <a:spcPts val="3187"/>
              </a:lnSpc>
              <a:buFont typeface="Arial"/>
              <a:buChar char="•"/>
            </a:pPr>
            <a:r>
              <a:rPr lang="en-US" sz="2277">
                <a:solidFill>
                  <a:srgbClr val="FFFFFF"/>
                </a:solidFill>
                <a:latin typeface="Poppins"/>
                <a:ea typeface="Poppins"/>
                <a:cs typeface="Poppins"/>
                <a:sym typeface="Poppins"/>
              </a:rPr>
              <a:t>Consultar que pokemones pueden aprender cierta habilidad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8057478" y="-155865"/>
            <a:ext cx="2347661" cy="2347661"/>
          </a:xfrm>
          <a:custGeom>
            <a:avLst/>
            <a:gdLst/>
            <a:ahLst/>
            <a:cxnLst/>
            <a:rect r="r" b="b" t="t" l="l"/>
            <a:pathLst>
              <a:path h="2347661" w="2347661">
                <a:moveTo>
                  <a:pt x="0" y="0"/>
                </a:moveTo>
                <a:lnTo>
                  <a:pt x="2347661" y="0"/>
                </a:lnTo>
                <a:lnTo>
                  <a:pt x="2347661" y="2347661"/>
                </a:lnTo>
                <a:lnTo>
                  <a:pt x="0" y="2347661"/>
                </a:lnTo>
                <a:lnTo>
                  <a:pt x="0" y="0"/>
                </a:lnTo>
                <a:close/>
              </a:path>
            </a:pathLst>
          </a:custGeom>
          <a:blipFill>
            <a:blip r:embed="rId3"/>
            <a:stretch>
              <a:fillRect l="0" t="0" r="0" b="0"/>
            </a:stretch>
          </a:blipFill>
        </p:spPr>
      </p:sp>
      <p:sp>
        <p:nvSpPr>
          <p:cNvPr name="Freeform 13" id="13"/>
          <p:cNvSpPr/>
          <p:nvPr/>
        </p:nvSpPr>
        <p:spPr>
          <a:xfrm flipH="false" flipV="false" rot="0">
            <a:off x="13000964" y="7504962"/>
            <a:ext cx="2440356" cy="2245128"/>
          </a:xfrm>
          <a:custGeom>
            <a:avLst/>
            <a:gdLst/>
            <a:ahLst/>
            <a:cxnLst/>
            <a:rect r="r" b="b" t="t" l="l"/>
            <a:pathLst>
              <a:path h="2245128" w="2440356">
                <a:moveTo>
                  <a:pt x="0" y="0"/>
                </a:moveTo>
                <a:lnTo>
                  <a:pt x="2440356" y="0"/>
                </a:lnTo>
                <a:lnTo>
                  <a:pt x="2440356" y="2245127"/>
                </a:lnTo>
                <a:lnTo>
                  <a:pt x="0" y="2245127"/>
                </a:lnTo>
                <a:lnTo>
                  <a:pt x="0" y="0"/>
                </a:lnTo>
                <a:close/>
              </a:path>
            </a:pathLst>
          </a:custGeom>
          <a:blipFill>
            <a:blip r:embed="rId4"/>
            <a:stretch>
              <a:fillRect l="0" t="0" r="0" b="0"/>
            </a:stretch>
          </a:blipFill>
        </p:spPr>
      </p:sp>
      <p:sp>
        <p:nvSpPr>
          <p:cNvPr name="Freeform 14" id="14"/>
          <p:cNvSpPr/>
          <p:nvPr/>
        </p:nvSpPr>
        <p:spPr>
          <a:xfrm flipH="false" flipV="false" rot="0">
            <a:off x="11393281" y="5590010"/>
            <a:ext cx="5403266" cy="1480476"/>
          </a:xfrm>
          <a:custGeom>
            <a:avLst/>
            <a:gdLst/>
            <a:ahLst/>
            <a:cxnLst/>
            <a:rect r="r" b="b" t="t" l="l"/>
            <a:pathLst>
              <a:path h="1480476" w="5403266">
                <a:moveTo>
                  <a:pt x="0" y="0"/>
                </a:moveTo>
                <a:lnTo>
                  <a:pt x="5403267" y="0"/>
                </a:lnTo>
                <a:lnTo>
                  <a:pt x="5403267" y="1480476"/>
                </a:lnTo>
                <a:lnTo>
                  <a:pt x="0" y="1480476"/>
                </a:lnTo>
                <a:lnTo>
                  <a:pt x="0" y="0"/>
                </a:lnTo>
                <a:close/>
              </a:path>
            </a:pathLst>
          </a:custGeom>
          <a:blipFill>
            <a:blip r:embed="rId5"/>
            <a:stretch>
              <a:fillRect l="0" t="0" r="0" b="0"/>
            </a:stretch>
          </a:blipFill>
        </p:spPr>
      </p:sp>
      <p:sp>
        <p:nvSpPr>
          <p:cNvPr name="Freeform 15" id="15"/>
          <p:cNvSpPr/>
          <p:nvPr/>
        </p:nvSpPr>
        <p:spPr>
          <a:xfrm flipH="false" flipV="false" rot="0">
            <a:off x="13000964" y="3242104"/>
            <a:ext cx="2700732" cy="2053107"/>
          </a:xfrm>
          <a:custGeom>
            <a:avLst/>
            <a:gdLst/>
            <a:ahLst/>
            <a:cxnLst/>
            <a:rect r="r" b="b" t="t" l="l"/>
            <a:pathLst>
              <a:path h="2053107" w="2700732">
                <a:moveTo>
                  <a:pt x="0" y="0"/>
                </a:moveTo>
                <a:lnTo>
                  <a:pt x="2700732" y="0"/>
                </a:lnTo>
                <a:lnTo>
                  <a:pt x="2700732" y="2053107"/>
                </a:lnTo>
                <a:lnTo>
                  <a:pt x="0" y="2053107"/>
                </a:lnTo>
                <a:lnTo>
                  <a:pt x="0" y="0"/>
                </a:lnTo>
                <a:close/>
              </a:path>
            </a:pathLst>
          </a:custGeom>
          <a:blipFill>
            <a:blip r:embed="rId6"/>
            <a:stretch>
              <a:fillRect l="0" t="0" r="0" b="0"/>
            </a:stretch>
          </a:blipFill>
        </p:spPr>
      </p:sp>
      <p:sp>
        <p:nvSpPr>
          <p:cNvPr name="TextBox 16" id="16"/>
          <p:cNvSpPr txBox="true"/>
          <p:nvPr/>
        </p:nvSpPr>
        <p:spPr>
          <a:xfrm rot="0">
            <a:off x="3997117" y="2087021"/>
            <a:ext cx="10684768" cy="899656"/>
          </a:xfrm>
          <a:prstGeom prst="rect">
            <a:avLst/>
          </a:prstGeom>
        </p:spPr>
        <p:txBody>
          <a:bodyPr anchor="t" rtlCol="false" tIns="0" lIns="0" bIns="0" rIns="0">
            <a:spAutoFit/>
          </a:bodyPr>
          <a:lstStyle/>
          <a:p>
            <a:pPr algn="l">
              <a:lnSpc>
                <a:spcPts val="7316"/>
              </a:lnSpc>
              <a:spcBef>
                <a:spcPct val="0"/>
              </a:spcBef>
            </a:pPr>
            <a:r>
              <a:rPr lang="en-US" sz="5226">
                <a:solidFill>
                  <a:srgbClr val="38B6FF"/>
                </a:solidFill>
                <a:latin typeface="HK Modular"/>
                <a:ea typeface="HK Modular"/>
                <a:cs typeface="HK Modular"/>
                <a:sym typeface="HK Modular"/>
              </a:rPr>
              <a:t>EJERCICIO DE REPASO</a:t>
            </a:r>
          </a:p>
        </p:txBody>
      </p:sp>
      <p:sp>
        <p:nvSpPr>
          <p:cNvPr name="TextBox 17" id="17"/>
          <p:cNvSpPr txBox="true"/>
          <p:nvPr/>
        </p:nvSpPr>
        <p:spPr>
          <a:xfrm rot="0">
            <a:off x="915344" y="3462306"/>
            <a:ext cx="4968454" cy="4964666"/>
          </a:xfrm>
          <a:prstGeom prst="rect">
            <a:avLst/>
          </a:prstGeom>
        </p:spPr>
        <p:txBody>
          <a:bodyPr anchor="t" rtlCol="false" tIns="0" lIns="0" bIns="0" rIns="0">
            <a:spAutoFit/>
          </a:bodyPr>
          <a:lstStyle/>
          <a:p>
            <a:pPr algn="just">
              <a:lnSpc>
                <a:spcPts val="1981"/>
              </a:lnSpc>
            </a:pPr>
            <a:r>
              <a:rPr lang="en-US" sz="1415">
                <a:solidFill>
                  <a:srgbClr val="FFFFFF"/>
                </a:solidFill>
                <a:latin typeface="Poppins"/>
                <a:ea typeface="Poppins"/>
                <a:cs typeface="Poppins"/>
                <a:sym typeface="Poppins"/>
              </a:rPr>
              <a:t>Informacion de un Pokemon</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Nombre</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Nombre en Japones</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Imagen</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Numero en la Pokedex</a:t>
            </a:r>
          </a:p>
          <a:p>
            <a:pPr algn="just" marL="611296" indent="-203765" lvl="2">
              <a:lnSpc>
                <a:spcPts val="1981"/>
              </a:lnSpc>
              <a:buFont typeface="Arial"/>
              <a:buChar char="⚬"/>
            </a:pPr>
            <a:r>
              <a:rPr lang="en-US" sz="1415">
                <a:solidFill>
                  <a:srgbClr val="FFFFFF"/>
                </a:solidFill>
                <a:latin typeface="Poppins"/>
                <a:ea typeface="Poppins"/>
                <a:cs typeface="Poppins"/>
                <a:sym typeface="Poppins"/>
              </a:rPr>
              <a:t>Nacional</a:t>
            </a:r>
          </a:p>
          <a:p>
            <a:pPr algn="just" marL="611296" indent="-203765" lvl="2">
              <a:lnSpc>
                <a:spcPts val="1981"/>
              </a:lnSpc>
              <a:buFont typeface="Arial"/>
              <a:buChar char="⚬"/>
            </a:pPr>
            <a:r>
              <a:rPr lang="en-US" sz="1415">
                <a:solidFill>
                  <a:srgbClr val="FFFFFF"/>
                </a:solidFill>
                <a:latin typeface="Poppins"/>
                <a:ea typeface="Poppins"/>
                <a:cs typeface="Poppins"/>
                <a:sym typeface="Poppins"/>
              </a:rPr>
              <a:t>Regiones en las que aparece</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Generacion</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Categoria</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Tipos</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Habilidad</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Habilidad Oculta</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Peso</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Altura</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Grupo de Pokemon</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Sexo %</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Color</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Descripcion</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Linea Evolutiva</a:t>
            </a:r>
          </a:p>
          <a:p>
            <a:pPr algn="just" marL="305648" indent="-152824" lvl="1">
              <a:lnSpc>
                <a:spcPts val="1981"/>
              </a:lnSpc>
              <a:buFont typeface="Arial"/>
              <a:buChar char="•"/>
            </a:pPr>
            <a:r>
              <a:rPr lang="en-US" sz="1415">
                <a:solidFill>
                  <a:srgbClr val="FFFFFF"/>
                </a:solidFill>
                <a:latin typeface="Poppins"/>
                <a:ea typeface="Poppins"/>
                <a:cs typeface="Poppins"/>
                <a:sym typeface="Poppins"/>
              </a:rPr>
              <a:t>Movimientos subiendo de Nivel</a:t>
            </a:r>
          </a:p>
        </p:txBody>
      </p:sp>
      <p:sp>
        <p:nvSpPr>
          <p:cNvPr name="TextBox 18" id="18"/>
          <p:cNvSpPr txBox="true"/>
          <p:nvPr/>
        </p:nvSpPr>
        <p:spPr>
          <a:xfrm rot="0">
            <a:off x="5573251" y="3462306"/>
            <a:ext cx="4968454" cy="1497566"/>
          </a:xfrm>
          <a:prstGeom prst="rect">
            <a:avLst/>
          </a:prstGeom>
        </p:spPr>
        <p:txBody>
          <a:bodyPr anchor="t" rtlCol="false" tIns="0" lIns="0" bIns="0" rIns="0">
            <a:spAutoFit/>
          </a:bodyPr>
          <a:lstStyle/>
          <a:p>
            <a:pPr algn="l">
              <a:lnSpc>
                <a:spcPts val="1981"/>
              </a:lnSpc>
            </a:pPr>
            <a:r>
              <a:rPr lang="en-US" sz="1415">
                <a:solidFill>
                  <a:srgbClr val="FFFFFF"/>
                </a:solidFill>
                <a:latin typeface="Poppins"/>
                <a:ea typeface="Poppins"/>
                <a:cs typeface="Poppins"/>
                <a:sym typeface="Poppins"/>
              </a:rPr>
              <a:t>Habilidad:</a:t>
            </a:r>
          </a:p>
          <a:p>
            <a:pPr algn="l" marL="305648" indent="-152824" lvl="1">
              <a:lnSpc>
                <a:spcPts val="1981"/>
              </a:lnSpc>
              <a:buFont typeface="Arial"/>
              <a:buChar char="•"/>
            </a:pPr>
            <a:r>
              <a:rPr lang="en-US" sz="1415">
                <a:solidFill>
                  <a:srgbClr val="FFFFFF"/>
                </a:solidFill>
                <a:latin typeface="Poppins"/>
                <a:ea typeface="Poppins"/>
                <a:cs typeface="Poppins"/>
                <a:sym typeface="Poppins"/>
              </a:rPr>
              <a:t>Nombre</a:t>
            </a:r>
          </a:p>
          <a:p>
            <a:pPr algn="l" marL="305648" indent="-152824" lvl="1">
              <a:lnSpc>
                <a:spcPts val="1981"/>
              </a:lnSpc>
              <a:buFont typeface="Arial"/>
              <a:buChar char="•"/>
            </a:pPr>
            <a:r>
              <a:rPr lang="en-US" sz="1415">
                <a:solidFill>
                  <a:srgbClr val="FFFFFF"/>
                </a:solidFill>
                <a:latin typeface="Poppins"/>
                <a:ea typeface="Poppins"/>
                <a:cs typeface="Poppins"/>
                <a:sym typeface="Poppins"/>
              </a:rPr>
              <a:t>Descripcion</a:t>
            </a:r>
          </a:p>
          <a:p>
            <a:pPr algn="l" marL="305648" indent="-152824" lvl="1">
              <a:lnSpc>
                <a:spcPts val="1981"/>
              </a:lnSpc>
              <a:buFont typeface="Arial"/>
              <a:buChar char="•"/>
            </a:pPr>
            <a:r>
              <a:rPr lang="en-US" sz="1415">
                <a:solidFill>
                  <a:srgbClr val="FFFFFF"/>
                </a:solidFill>
                <a:latin typeface="Poppins"/>
                <a:ea typeface="Poppins"/>
                <a:cs typeface="Poppins"/>
                <a:sym typeface="Poppins"/>
              </a:rPr>
              <a:t>Efecto</a:t>
            </a:r>
          </a:p>
          <a:p>
            <a:pPr algn="l">
              <a:lnSpc>
                <a:spcPts val="1981"/>
              </a:lnSpc>
            </a:pPr>
          </a:p>
          <a:p>
            <a:pPr algn="l">
              <a:lnSpc>
                <a:spcPts val="1981"/>
              </a:lnSpc>
            </a:pPr>
          </a:p>
        </p:txBody>
      </p:sp>
      <p:sp>
        <p:nvSpPr>
          <p:cNvPr name="TextBox 19" id="19"/>
          <p:cNvSpPr txBox="true"/>
          <p:nvPr/>
        </p:nvSpPr>
        <p:spPr>
          <a:xfrm rot="0">
            <a:off x="5573251" y="4865669"/>
            <a:ext cx="4968454" cy="3974066"/>
          </a:xfrm>
          <a:prstGeom prst="rect">
            <a:avLst/>
          </a:prstGeom>
        </p:spPr>
        <p:txBody>
          <a:bodyPr anchor="t" rtlCol="false" tIns="0" lIns="0" bIns="0" rIns="0">
            <a:spAutoFit/>
          </a:bodyPr>
          <a:lstStyle/>
          <a:p>
            <a:pPr algn="l">
              <a:lnSpc>
                <a:spcPts val="1981"/>
              </a:lnSpc>
            </a:pPr>
            <a:r>
              <a:rPr lang="en-US" sz="1415">
                <a:solidFill>
                  <a:srgbClr val="FFFFFF"/>
                </a:solidFill>
                <a:latin typeface="Poppins"/>
                <a:ea typeface="Poppins"/>
                <a:cs typeface="Poppins"/>
                <a:sym typeface="Poppins"/>
              </a:rPr>
              <a:t>Movimiento:</a:t>
            </a:r>
          </a:p>
          <a:p>
            <a:pPr algn="l" marL="305648" indent="-152824" lvl="1">
              <a:lnSpc>
                <a:spcPts val="1981"/>
              </a:lnSpc>
              <a:buFont typeface="Arial"/>
              <a:buChar char="•"/>
            </a:pPr>
            <a:r>
              <a:rPr lang="en-US" sz="1415">
                <a:solidFill>
                  <a:srgbClr val="FFFFFF"/>
                </a:solidFill>
                <a:latin typeface="Poppins"/>
                <a:ea typeface="Poppins"/>
                <a:cs typeface="Poppins"/>
                <a:sym typeface="Poppins"/>
              </a:rPr>
              <a:t>Nombre</a:t>
            </a:r>
          </a:p>
          <a:p>
            <a:pPr algn="l" marL="305648" indent="-152824" lvl="1">
              <a:lnSpc>
                <a:spcPts val="1981"/>
              </a:lnSpc>
              <a:buFont typeface="Arial"/>
              <a:buChar char="•"/>
            </a:pPr>
            <a:r>
              <a:rPr lang="en-US" sz="1415">
                <a:solidFill>
                  <a:srgbClr val="FFFFFF"/>
                </a:solidFill>
                <a:latin typeface="Poppins"/>
                <a:ea typeface="Poppins"/>
                <a:cs typeface="Poppins"/>
                <a:sym typeface="Poppins"/>
              </a:rPr>
              <a:t>Descripcion</a:t>
            </a:r>
          </a:p>
          <a:p>
            <a:pPr algn="l" marL="305648" indent="-152824" lvl="1">
              <a:lnSpc>
                <a:spcPts val="1981"/>
              </a:lnSpc>
              <a:buFont typeface="Arial"/>
              <a:buChar char="•"/>
            </a:pPr>
            <a:r>
              <a:rPr lang="en-US" sz="1415">
                <a:solidFill>
                  <a:srgbClr val="FFFFFF"/>
                </a:solidFill>
                <a:latin typeface="Poppins"/>
                <a:ea typeface="Poppins"/>
                <a:cs typeface="Poppins"/>
                <a:sym typeface="Poppins"/>
              </a:rPr>
              <a:t>Datos en combate</a:t>
            </a:r>
          </a:p>
          <a:p>
            <a:pPr algn="l" marL="611296" indent="-203765" lvl="2">
              <a:lnSpc>
                <a:spcPts val="1981"/>
              </a:lnSpc>
              <a:buFont typeface="Arial"/>
              <a:buChar char="⚬"/>
            </a:pPr>
            <a:r>
              <a:rPr lang="en-US" sz="1415">
                <a:solidFill>
                  <a:srgbClr val="FFFFFF"/>
                </a:solidFill>
                <a:latin typeface="Poppins"/>
                <a:ea typeface="Poppins"/>
                <a:cs typeface="Poppins"/>
                <a:sym typeface="Poppins"/>
              </a:rPr>
              <a:t>Tipo</a:t>
            </a:r>
          </a:p>
          <a:p>
            <a:pPr algn="l" marL="611296" indent="-203765" lvl="2">
              <a:lnSpc>
                <a:spcPts val="1981"/>
              </a:lnSpc>
              <a:buFont typeface="Arial"/>
              <a:buChar char="⚬"/>
            </a:pPr>
            <a:r>
              <a:rPr lang="en-US" sz="1415">
                <a:solidFill>
                  <a:srgbClr val="FFFFFF"/>
                </a:solidFill>
                <a:latin typeface="Poppins"/>
                <a:ea typeface="Poppins"/>
                <a:cs typeface="Poppins"/>
                <a:sym typeface="Poppins"/>
              </a:rPr>
              <a:t>Categoria</a:t>
            </a:r>
          </a:p>
          <a:p>
            <a:pPr algn="l" marL="611296" indent="-203765" lvl="2">
              <a:lnSpc>
                <a:spcPts val="1981"/>
              </a:lnSpc>
              <a:buFont typeface="Arial"/>
              <a:buChar char="⚬"/>
            </a:pPr>
            <a:r>
              <a:rPr lang="en-US" sz="1415">
                <a:solidFill>
                  <a:srgbClr val="FFFFFF"/>
                </a:solidFill>
                <a:latin typeface="Poppins"/>
                <a:ea typeface="Poppins"/>
                <a:cs typeface="Poppins"/>
                <a:sym typeface="Poppins"/>
              </a:rPr>
              <a:t>Generacion</a:t>
            </a:r>
          </a:p>
          <a:p>
            <a:pPr algn="l" marL="611296" indent="-203765" lvl="2">
              <a:lnSpc>
                <a:spcPts val="1981"/>
              </a:lnSpc>
              <a:buFont typeface="Arial"/>
              <a:buChar char="⚬"/>
            </a:pPr>
            <a:r>
              <a:rPr lang="en-US" sz="1415">
                <a:solidFill>
                  <a:srgbClr val="FFFFFF"/>
                </a:solidFill>
                <a:latin typeface="Poppins"/>
                <a:ea typeface="Poppins"/>
                <a:cs typeface="Poppins"/>
                <a:sym typeface="Poppins"/>
              </a:rPr>
              <a:t>Potencia</a:t>
            </a:r>
          </a:p>
          <a:p>
            <a:pPr algn="l" marL="611296" indent="-203765" lvl="2">
              <a:lnSpc>
                <a:spcPts val="1981"/>
              </a:lnSpc>
              <a:buFont typeface="Arial"/>
              <a:buChar char="⚬"/>
            </a:pPr>
            <a:r>
              <a:rPr lang="en-US" sz="1415">
                <a:solidFill>
                  <a:srgbClr val="FFFFFF"/>
                </a:solidFill>
                <a:latin typeface="Poppins"/>
                <a:ea typeface="Poppins"/>
                <a:cs typeface="Poppins"/>
                <a:sym typeface="Poppins"/>
              </a:rPr>
              <a:t>Precision</a:t>
            </a:r>
          </a:p>
          <a:p>
            <a:pPr algn="l" marL="611296" indent="-203765" lvl="2">
              <a:lnSpc>
                <a:spcPts val="1981"/>
              </a:lnSpc>
              <a:buFont typeface="Arial"/>
              <a:buChar char="⚬"/>
            </a:pPr>
            <a:r>
              <a:rPr lang="en-US" sz="1415">
                <a:solidFill>
                  <a:srgbClr val="FFFFFF"/>
                </a:solidFill>
                <a:latin typeface="Poppins"/>
                <a:ea typeface="Poppins"/>
                <a:cs typeface="Poppins"/>
                <a:sym typeface="Poppins"/>
              </a:rPr>
              <a:t>PP</a:t>
            </a:r>
          </a:p>
          <a:p>
            <a:pPr algn="l" marL="611296" indent="-203765" lvl="2">
              <a:lnSpc>
                <a:spcPts val="1981"/>
              </a:lnSpc>
              <a:buFont typeface="Arial"/>
              <a:buChar char="⚬"/>
            </a:pPr>
            <a:r>
              <a:rPr lang="en-US" sz="1415">
                <a:solidFill>
                  <a:srgbClr val="FFFFFF"/>
                </a:solidFill>
                <a:latin typeface="Poppins"/>
                <a:ea typeface="Poppins"/>
                <a:cs typeface="Poppins"/>
                <a:sym typeface="Poppins"/>
              </a:rPr>
              <a:t>Efecto Secundario</a:t>
            </a:r>
          </a:p>
          <a:p>
            <a:pPr algn="l" marL="611296" indent="-203765" lvl="2">
              <a:lnSpc>
                <a:spcPts val="1981"/>
              </a:lnSpc>
              <a:buFont typeface="Arial"/>
              <a:buChar char="⚬"/>
            </a:pPr>
            <a:r>
              <a:rPr lang="en-US" sz="1415">
                <a:solidFill>
                  <a:srgbClr val="FFFFFF"/>
                </a:solidFill>
                <a:latin typeface="Poppins"/>
                <a:ea typeface="Poppins"/>
                <a:cs typeface="Poppins"/>
                <a:sym typeface="Poppins"/>
              </a:rPr>
              <a:t>Prioridad</a:t>
            </a:r>
          </a:p>
          <a:p>
            <a:pPr algn="l" marL="611296" indent="-203765" lvl="2">
              <a:lnSpc>
                <a:spcPts val="1981"/>
              </a:lnSpc>
              <a:buFont typeface="Arial"/>
              <a:buChar char="⚬"/>
            </a:pPr>
            <a:r>
              <a:rPr lang="en-US" sz="1415">
                <a:solidFill>
                  <a:srgbClr val="FFFFFF"/>
                </a:solidFill>
                <a:latin typeface="Poppins"/>
                <a:ea typeface="Poppins"/>
                <a:cs typeface="Poppins"/>
                <a:sym typeface="Poppins"/>
              </a:rPr>
              <a:t>Contacto</a:t>
            </a:r>
          </a:p>
          <a:p>
            <a:pPr algn="l" marL="305648" indent="-152824" lvl="1">
              <a:lnSpc>
                <a:spcPts val="1981"/>
              </a:lnSpc>
              <a:buFont typeface="Arial"/>
              <a:buChar char="•"/>
            </a:pPr>
            <a:r>
              <a:rPr lang="en-US" sz="1415">
                <a:solidFill>
                  <a:srgbClr val="FFFFFF"/>
                </a:solidFill>
                <a:latin typeface="Poppins"/>
                <a:ea typeface="Poppins"/>
                <a:cs typeface="Poppins"/>
                <a:sym typeface="Poppins"/>
              </a:rPr>
              <a:t>Efecto</a:t>
            </a:r>
          </a:p>
          <a:p>
            <a:pPr algn="l">
              <a:lnSpc>
                <a:spcPts val="1981"/>
              </a:lnSpc>
            </a:pPr>
          </a:p>
          <a:p>
            <a:pPr algn="l">
              <a:lnSpc>
                <a:spcPts val="1981"/>
              </a:lnSpc>
            </a:pPr>
          </a:p>
        </p:txBody>
      </p:sp>
      <p:sp>
        <p:nvSpPr>
          <p:cNvPr name="TextBox 20" id="20"/>
          <p:cNvSpPr txBox="true"/>
          <p:nvPr/>
        </p:nvSpPr>
        <p:spPr>
          <a:xfrm rot="0">
            <a:off x="8782112" y="3319593"/>
            <a:ext cx="4544551" cy="2291209"/>
          </a:xfrm>
          <a:prstGeom prst="rect">
            <a:avLst/>
          </a:prstGeom>
        </p:spPr>
        <p:txBody>
          <a:bodyPr anchor="t" rtlCol="false" tIns="0" lIns="0" bIns="0" rIns="0">
            <a:spAutoFit/>
          </a:bodyPr>
          <a:lstStyle/>
          <a:p>
            <a:pPr algn="l" marL="279570" indent="-139785" lvl="1">
              <a:lnSpc>
                <a:spcPts val="1812"/>
              </a:lnSpc>
              <a:buFont typeface="Arial"/>
              <a:buChar char="•"/>
            </a:pPr>
            <a:r>
              <a:rPr lang="en-US" sz="1294">
                <a:solidFill>
                  <a:srgbClr val="FFFFFF"/>
                </a:solidFill>
                <a:latin typeface="Poppins"/>
                <a:ea typeface="Poppins"/>
                <a:cs typeface="Poppins"/>
                <a:sym typeface="Poppins"/>
              </a:rPr>
              <a:t>Region:</a:t>
            </a:r>
          </a:p>
          <a:p>
            <a:pPr algn="l" marL="559140" indent="-186380" lvl="2">
              <a:lnSpc>
                <a:spcPts val="1812"/>
              </a:lnSpc>
              <a:buFont typeface="Arial"/>
              <a:buChar char="⚬"/>
            </a:pPr>
            <a:r>
              <a:rPr lang="en-US" sz="1294">
                <a:solidFill>
                  <a:srgbClr val="FFFFFF"/>
                </a:solidFill>
                <a:latin typeface="Poppins"/>
                <a:ea typeface="Poppins"/>
                <a:cs typeface="Poppins"/>
                <a:sym typeface="Poppins"/>
              </a:rPr>
              <a:t>Nombre</a:t>
            </a:r>
          </a:p>
          <a:p>
            <a:pPr algn="l" marL="559140" indent="-186380" lvl="2">
              <a:lnSpc>
                <a:spcPts val="1812"/>
              </a:lnSpc>
              <a:buFont typeface="Arial"/>
              <a:buChar char="⚬"/>
            </a:pPr>
            <a:r>
              <a:rPr lang="en-US" sz="1294">
                <a:solidFill>
                  <a:srgbClr val="FFFFFF"/>
                </a:solidFill>
                <a:latin typeface="Poppins"/>
                <a:ea typeface="Poppins"/>
                <a:cs typeface="Poppins"/>
                <a:sym typeface="Poppins"/>
              </a:rPr>
              <a:t>Mapa</a:t>
            </a:r>
          </a:p>
          <a:p>
            <a:pPr algn="l" marL="559140" indent="-186380" lvl="2">
              <a:lnSpc>
                <a:spcPts val="1812"/>
              </a:lnSpc>
              <a:buFont typeface="Arial"/>
              <a:buChar char="⚬"/>
            </a:pPr>
            <a:r>
              <a:rPr lang="en-US" sz="1294">
                <a:solidFill>
                  <a:srgbClr val="FFFFFF"/>
                </a:solidFill>
                <a:latin typeface="Poppins"/>
                <a:ea typeface="Poppins"/>
                <a:cs typeface="Poppins"/>
                <a:sym typeface="Poppins"/>
              </a:rPr>
              <a:t>Descripcion</a:t>
            </a:r>
          </a:p>
          <a:p>
            <a:pPr algn="l" marL="559140" indent="-186380" lvl="2">
              <a:lnSpc>
                <a:spcPts val="1812"/>
              </a:lnSpc>
              <a:buFont typeface="Arial"/>
              <a:buChar char="⚬"/>
            </a:pPr>
            <a:r>
              <a:rPr lang="en-US" sz="1294">
                <a:solidFill>
                  <a:srgbClr val="FFFFFF"/>
                </a:solidFill>
                <a:latin typeface="Poppins"/>
                <a:ea typeface="Poppins"/>
                <a:cs typeface="Poppins"/>
                <a:sym typeface="Poppins"/>
              </a:rPr>
              <a:t>Profesor</a:t>
            </a:r>
          </a:p>
          <a:p>
            <a:pPr algn="l" marL="559140" indent="-186380" lvl="2">
              <a:lnSpc>
                <a:spcPts val="1812"/>
              </a:lnSpc>
              <a:buFont typeface="Arial"/>
              <a:buChar char="⚬"/>
            </a:pPr>
            <a:r>
              <a:rPr lang="en-US" sz="1294">
                <a:solidFill>
                  <a:srgbClr val="FFFFFF"/>
                </a:solidFill>
                <a:latin typeface="Poppins"/>
                <a:ea typeface="Poppins"/>
                <a:cs typeface="Poppins"/>
                <a:sym typeface="Poppins"/>
              </a:rPr>
              <a:t>Iniciales</a:t>
            </a:r>
          </a:p>
          <a:p>
            <a:pPr algn="l" marL="559140" indent="-186380" lvl="2">
              <a:lnSpc>
                <a:spcPts val="1812"/>
              </a:lnSpc>
              <a:buFont typeface="Arial"/>
              <a:buChar char="⚬"/>
            </a:pPr>
            <a:r>
              <a:rPr lang="en-US" sz="1294">
                <a:solidFill>
                  <a:srgbClr val="FFFFFF"/>
                </a:solidFill>
                <a:latin typeface="Poppins"/>
                <a:ea typeface="Poppins"/>
                <a:cs typeface="Poppins"/>
                <a:sym typeface="Poppins"/>
              </a:rPr>
              <a:t>Villanos</a:t>
            </a:r>
          </a:p>
          <a:p>
            <a:pPr algn="l" marL="559140" indent="-186380" lvl="2">
              <a:lnSpc>
                <a:spcPts val="1812"/>
              </a:lnSpc>
              <a:buFont typeface="Arial"/>
              <a:buChar char="⚬"/>
            </a:pPr>
            <a:r>
              <a:rPr lang="en-US" sz="1294">
                <a:solidFill>
                  <a:srgbClr val="FFFFFF"/>
                </a:solidFill>
                <a:latin typeface="Poppins"/>
                <a:ea typeface="Poppins"/>
                <a:cs typeface="Poppins"/>
                <a:sym typeface="Poppins"/>
              </a:rPr>
              <a:t>Generacion</a:t>
            </a:r>
          </a:p>
          <a:p>
            <a:pPr algn="l" marL="559140" indent="-186380" lvl="2">
              <a:lnSpc>
                <a:spcPts val="1812"/>
              </a:lnSpc>
              <a:buFont typeface="Arial"/>
              <a:buChar char="⚬"/>
            </a:pPr>
            <a:r>
              <a:rPr lang="en-US" sz="1294">
                <a:solidFill>
                  <a:srgbClr val="FFFFFF"/>
                </a:solidFill>
                <a:latin typeface="Poppins"/>
                <a:ea typeface="Poppins"/>
                <a:cs typeface="Poppins"/>
                <a:sym typeface="Poppins"/>
              </a:rPr>
              <a:t>VideoJuegos</a:t>
            </a:r>
          </a:p>
          <a:p>
            <a:pPr algn="l">
              <a:lnSpc>
                <a:spcPts val="1812"/>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8057478" y="-155865"/>
            <a:ext cx="2347661" cy="2347661"/>
          </a:xfrm>
          <a:custGeom>
            <a:avLst/>
            <a:gdLst/>
            <a:ahLst/>
            <a:cxnLst/>
            <a:rect r="r" b="b" t="t" l="l"/>
            <a:pathLst>
              <a:path h="2347661" w="2347661">
                <a:moveTo>
                  <a:pt x="0" y="0"/>
                </a:moveTo>
                <a:lnTo>
                  <a:pt x="2347661" y="0"/>
                </a:lnTo>
                <a:lnTo>
                  <a:pt x="2347661" y="2347661"/>
                </a:lnTo>
                <a:lnTo>
                  <a:pt x="0" y="2347661"/>
                </a:lnTo>
                <a:lnTo>
                  <a:pt x="0" y="0"/>
                </a:lnTo>
                <a:close/>
              </a:path>
            </a:pathLst>
          </a:custGeom>
          <a:blipFill>
            <a:blip r:embed="rId3"/>
            <a:stretch>
              <a:fillRect l="0" t="0" r="0" b="0"/>
            </a:stretch>
          </a:blipFill>
        </p:spPr>
      </p:sp>
      <p:sp>
        <p:nvSpPr>
          <p:cNvPr name="Freeform 13" id="13"/>
          <p:cNvSpPr/>
          <p:nvPr/>
        </p:nvSpPr>
        <p:spPr>
          <a:xfrm flipH="false" flipV="false" rot="0">
            <a:off x="9339501" y="4000232"/>
            <a:ext cx="8183903" cy="4670469"/>
          </a:xfrm>
          <a:custGeom>
            <a:avLst/>
            <a:gdLst/>
            <a:ahLst/>
            <a:cxnLst/>
            <a:rect r="r" b="b" t="t" l="l"/>
            <a:pathLst>
              <a:path h="4670469" w="8183903">
                <a:moveTo>
                  <a:pt x="0" y="0"/>
                </a:moveTo>
                <a:lnTo>
                  <a:pt x="8183903" y="0"/>
                </a:lnTo>
                <a:lnTo>
                  <a:pt x="8183903" y="4670469"/>
                </a:lnTo>
                <a:lnTo>
                  <a:pt x="0" y="4670469"/>
                </a:lnTo>
                <a:lnTo>
                  <a:pt x="0" y="0"/>
                </a:lnTo>
                <a:close/>
              </a:path>
            </a:pathLst>
          </a:custGeom>
          <a:blipFill>
            <a:blip r:embed="rId4"/>
            <a:stretch>
              <a:fillRect l="0" t="0" r="0" b="0"/>
            </a:stretch>
          </a:blipFill>
        </p:spPr>
      </p:sp>
      <p:sp>
        <p:nvSpPr>
          <p:cNvPr name="TextBox 14" id="14"/>
          <p:cNvSpPr txBox="true"/>
          <p:nvPr/>
        </p:nvSpPr>
        <p:spPr>
          <a:xfrm rot="0">
            <a:off x="3997117" y="2087021"/>
            <a:ext cx="10684768" cy="899656"/>
          </a:xfrm>
          <a:prstGeom prst="rect">
            <a:avLst/>
          </a:prstGeom>
        </p:spPr>
        <p:txBody>
          <a:bodyPr anchor="t" rtlCol="false" tIns="0" lIns="0" bIns="0" rIns="0">
            <a:spAutoFit/>
          </a:bodyPr>
          <a:lstStyle/>
          <a:p>
            <a:pPr algn="l">
              <a:lnSpc>
                <a:spcPts val="7316"/>
              </a:lnSpc>
              <a:spcBef>
                <a:spcPct val="0"/>
              </a:spcBef>
            </a:pPr>
            <a:r>
              <a:rPr lang="en-US" sz="5226">
                <a:solidFill>
                  <a:srgbClr val="38B6FF"/>
                </a:solidFill>
                <a:latin typeface="HK Modular"/>
                <a:ea typeface="HK Modular"/>
                <a:cs typeface="HK Modular"/>
                <a:sym typeface="HK Modular"/>
              </a:rPr>
              <a:t>EJERCICIO DE REPASO</a:t>
            </a:r>
          </a:p>
        </p:txBody>
      </p:sp>
      <p:sp>
        <p:nvSpPr>
          <p:cNvPr name="TextBox 15" id="15"/>
          <p:cNvSpPr txBox="true"/>
          <p:nvPr/>
        </p:nvSpPr>
        <p:spPr>
          <a:xfrm rot="0">
            <a:off x="795359" y="3933557"/>
            <a:ext cx="7822473" cy="3524786"/>
          </a:xfrm>
          <a:prstGeom prst="rect">
            <a:avLst/>
          </a:prstGeom>
        </p:spPr>
        <p:txBody>
          <a:bodyPr anchor="t" rtlCol="false" tIns="0" lIns="0" bIns="0" rIns="0">
            <a:spAutoFit/>
          </a:bodyPr>
          <a:lstStyle/>
          <a:p>
            <a:pPr algn="l" marL="481220" indent="-240610" lvl="1">
              <a:lnSpc>
                <a:spcPts val="3120"/>
              </a:lnSpc>
              <a:buAutoNum type="arabicPeriod" startAt="1"/>
            </a:pPr>
            <a:r>
              <a:rPr lang="en-US" sz="2228">
                <a:solidFill>
                  <a:srgbClr val="FFFFFF"/>
                </a:solidFill>
                <a:latin typeface="Poppins"/>
                <a:ea typeface="Poppins"/>
                <a:cs typeface="Poppins"/>
                <a:sym typeface="Poppins"/>
              </a:rPr>
              <a:t>Definir La estructura de Los datos de entrada y de Salida</a:t>
            </a:r>
          </a:p>
          <a:p>
            <a:pPr algn="l" marL="481220" indent="-240610" lvl="1">
              <a:lnSpc>
                <a:spcPts val="3120"/>
              </a:lnSpc>
              <a:buAutoNum type="arabicPeriod" startAt="1"/>
            </a:pPr>
            <a:r>
              <a:rPr lang="en-US" sz="2228">
                <a:solidFill>
                  <a:srgbClr val="FFFFFF"/>
                </a:solidFill>
                <a:latin typeface="Poppins"/>
                <a:ea typeface="Poppins"/>
                <a:cs typeface="Poppins"/>
                <a:sym typeface="Poppins"/>
              </a:rPr>
              <a:t>Definir los controladores</a:t>
            </a:r>
          </a:p>
          <a:p>
            <a:pPr algn="l" marL="481220" indent="-240610" lvl="1">
              <a:lnSpc>
                <a:spcPts val="3120"/>
              </a:lnSpc>
              <a:buAutoNum type="arabicPeriod" startAt="1"/>
            </a:pPr>
            <a:r>
              <a:rPr lang="en-US" sz="2228">
                <a:solidFill>
                  <a:srgbClr val="FFFFFF"/>
                </a:solidFill>
                <a:latin typeface="Poppins"/>
                <a:ea typeface="Poppins"/>
                <a:cs typeface="Poppins"/>
                <a:sym typeface="Poppins"/>
              </a:rPr>
              <a:t>Definir la Estructura de nuestro modelo</a:t>
            </a:r>
          </a:p>
          <a:p>
            <a:pPr algn="l" marL="481220" indent="-240610" lvl="1">
              <a:lnSpc>
                <a:spcPts val="3120"/>
              </a:lnSpc>
              <a:buAutoNum type="arabicPeriod" startAt="1"/>
            </a:pPr>
            <a:r>
              <a:rPr lang="en-US" sz="2228">
                <a:solidFill>
                  <a:srgbClr val="FFFFFF"/>
                </a:solidFill>
                <a:latin typeface="Poppins"/>
                <a:ea typeface="Poppins"/>
                <a:cs typeface="Poppins"/>
                <a:sym typeface="Poppins"/>
              </a:rPr>
              <a:t>Definir los servicios a utilizar</a:t>
            </a:r>
          </a:p>
          <a:p>
            <a:pPr algn="l" marL="481220" indent="-240610" lvl="1">
              <a:lnSpc>
                <a:spcPts val="3120"/>
              </a:lnSpc>
              <a:buAutoNum type="arabicPeriod" startAt="1"/>
            </a:pPr>
            <a:r>
              <a:rPr lang="en-US" sz="2228">
                <a:solidFill>
                  <a:srgbClr val="FFFFFF"/>
                </a:solidFill>
                <a:latin typeface="Poppins"/>
                <a:ea typeface="Poppins"/>
                <a:cs typeface="Poppins"/>
                <a:sym typeface="Poppins"/>
              </a:rPr>
              <a:t>Definir la Estructura de la informacion que vamos a persistir</a:t>
            </a:r>
          </a:p>
          <a:p>
            <a:pPr algn="l" marL="481220" indent="-240610" lvl="1">
              <a:lnSpc>
                <a:spcPts val="3120"/>
              </a:lnSpc>
              <a:buAutoNum type="arabicPeriod" startAt="1"/>
            </a:pPr>
            <a:r>
              <a:rPr lang="en-US" sz="2228">
                <a:solidFill>
                  <a:srgbClr val="FFFFFF"/>
                </a:solidFill>
                <a:latin typeface="Poppins"/>
                <a:ea typeface="Poppins"/>
                <a:cs typeface="Poppins"/>
                <a:sym typeface="Poppins"/>
              </a:rPr>
              <a:t>Definir como van a ser los mappers por capas</a:t>
            </a:r>
          </a:p>
          <a:p>
            <a:pPr algn="l" marL="481220" indent="-240610" lvl="1">
              <a:lnSpc>
                <a:spcPts val="3120"/>
              </a:lnSpc>
              <a:buAutoNum type="arabicPeriod" startAt="1"/>
            </a:pPr>
            <a:r>
              <a:rPr lang="en-US" sz="2228">
                <a:solidFill>
                  <a:srgbClr val="FFFFFF"/>
                </a:solidFill>
                <a:latin typeface="Poppins"/>
                <a:ea typeface="Poppins"/>
                <a:cs typeface="Poppins"/>
                <a:sym typeface="Poppins"/>
              </a:rPr>
              <a:t>Definir el manejo de errores</a:t>
            </a:r>
          </a:p>
        </p:txBody>
      </p:sp>
      <p:sp>
        <p:nvSpPr>
          <p:cNvPr name="TextBox 16" id="16"/>
          <p:cNvSpPr txBox="true"/>
          <p:nvPr/>
        </p:nvSpPr>
        <p:spPr>
          <a:xfrm rot="0">
            <a:off x="2150183" y="8584976"/>
            <a:ext cx="5112824" cy="496210"/>
          </a:xfrm>
          <a:prstGeom prst="rect">
            <a:avLst/>
          </a:prstGeom>
        </p:spPr>
        <p:txBody>
          <a:bodyPr anchor="t" rtlCol="false" tIns="0" lIns="0" bIns="0" rIns="0">
            <a:spAutoFit/>
          </a:bodyPr>
          <a:lstStyle/>
          <a:p>
            <a:pPr algn="l">
              <a:lnSpc>
                <a:spcPts val="3843"/>
              </a:lnSpc>
            </a:pPr>
            <a:r>
              <a:rPr lang="en-US" sz="2745">
                <a:solidFill>
                  <a:srgbClr val="FFFFFF"/>
                </a:solidFill>
                <a:latin typeface="Poppins"/>
                <a:ea typeface="Poppins"/>
                <a:cs typeface="Poppins"/>
                <a:sym typeface="Poppins"/>
              </a:rPr>
              <a:t>¿Que datos son Obligatorios?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8057478" y="-155865"/>
            <a:ext cx="2347661" cy="2347661"/>
          </a:xfrm>
          <a:custGeom>
            <a:avLst/>
            <a:gdLst/>
            <a:ahLst/>
            <a:cxnLst/>
            <a:rect r="r" b="b" t="t" l="l"/>
            <a:pathLst>
              <a:path h="2347661" w="2347661">
                <a:moveTo>
                  <a:pt x="0" y="0"/>
                </a:moveTo>
                <a:lnTo>
                  <a:pt x="2347661" y="0"/>
                </a:lnTo>
                <a:lnTo>
                  <a:pt x="2347661" y="2347661"/>
                </a:lnTo>
                <a:lnTo>
                  <a:pt x="0" y="2347661"/>
                </a:lnTo>
                <a:lnTo>
                  <a:pt x="0" y="0"/>
                </a:lnTo>
                <a:close/>
              </a:path>
            </a:pathLst>
          </a:custGeom>
          <a:blipFill>
            <a:blip r:embed="rId3"/>
            <a:stretch>
              <a:fillRect l="0" t="0" r="0" b="0"/>
            </a:stretch>
          </a:blipFill>
        </p:spPr>
      </p:sp>
      <p:sp>
        <p:nvSpPr>
          <p:cNvPr name="Freeform 13" id="13"/>
          <p:cNvSpPr/>
          <p:nvPr/>
        </p:nvSpPr>
        <p:spPr>
          <a:xfrm flipH="false" flipV="false" rot="0">
            <a:off x="4711781" y="3624852"/>
            <a:ext cx="8864439" cy="1955805"/>
          </a:xfrm>
          <a:custGeom>
            <a:avLst/>
            <a:gdLst/>
            <a:ahLst/>
            <a:cxnLst/>
            <a:rect r="r" b="b" t="t" l="l"/>
            <a:pathLst>
              <a:path h="1955805" w="8864439">
                <a:moveTo>
                  <a:pt x="0" y="0"/>
                </a:moveTo>
                <a:lnTo>
                  <a:pt x="8864438" y="0"/>
                </a:lnTo>
                <a:lnTo>
                  <a:pt x="8864438" y="1955805"/>
                </a:lnTo>
                <a:lnTo>
                  <a:pt x="0" y="1955805"/>
                </a:lnTo>
                <a:lnTo>
                  <a:pt x="0" y="0"/>
                </a:lnTo>
                <a:close/>
              </a:path>
            </a:pathLst>
          </a:custGeom>
          <a:blipFill>
            <a:blip r:embed="rId4"/>
            <a:stretch>
              <a:fillRect l="0" t="0" r="0" b="0"/>
            </a:stretch>
          </a:blipFill>
        </p:spPr>
      </p:sp>
      <p:sp>
        <p:nvSpPr>
          <p:cNvPr name="Freeform 14" id="14"/>
          <p:cNvSpPr/>
          <p:nvPr/>
        </p:nvSpPr>
        <p:spPr>
          <a:xfrm flipH="false" flipV="false" rot="0">
            <a:off x="7442748" y="6104947"/>
            <a:ext cx="3577122" cy="3577122"/>
          </a:xfrm>
          <a:custGeom>
            <a:avLst/>
            <a:gdLst/>
            <a:ahLst/>
            <a:cxnLst/>
            <a:rect r="r" b="b" t="t" l="l"/>
            <a:pathLst>
              <a:path h="3577122" w="3577122">
                <a:moveTo>
                  <a:pt x="0" y="0"/>
                </a:moveTo>
                <a:lnTo>
                  <a:pt x="3577122" y="0"/>
                </a:lnTo>
                <a:lnTo>
                  <a:pt x="3577122" y="3577122"/>
                </a:lnTo>
                <a:lnTo>
                  <a:pt x="0" y="3577122"/>
                </a:lnTo>
                <a:lnTo>
                  <a:pt x="0" y="0"/>
                </a:lnTo>
                <a:close/>
              </a:path>
            </a:pathLst>
          </a:custGeom>
          <a:blipFill>
            <a:blip r:embed="rId5"/>
            <a:stretch>
              <a:fillRect l="0" t="0" r="0" b="0"/>
            </a:stretch>
          </a:blipFill>
        </p:spPr>
      </p:sp>
      <p:sp>
        <p:nvSpPr>
          <p:cNvPr name="TextBox 15" id="15"/>
          <p:cNvSpPr txBox="true"/>
          <p:nvPr/>
        </p:nvSpPr>
        <p:spPr>
          <a:xfrm rot="0">
            <a:off x="3997117" y="2087021"/>
            <a:ext cx="10684768" cy="899656"/>
          </a:xfrm>
          <a:prstGeom prst="rect">
            <a:avLst/>
          </a:prstGeom>
        </p:spPr>
        <p:txBody>
          <a:bodyPr anchor="t" rtlCol="false" tIns="0" lIns="0" bIns="0" rIns="0">
            <a:spAutoFit/>
          </a:bodyPr>
          <a:lstStyle/>
          <a:p>
            <a:pPr algn="l">
              <a:lnSpc>
                <a:spcPts val="7316"/>
              </a:lnSpc>
              <a:spcBef>
                <a:spcPct val="0"/>
              </a:spcBef>
            </a:pPr>
            <a:r>
              <a:rPr lang="en-US" sz="5226">
                <a:solidFill>
                  <a:srgbClr val="38B6FF"/>
                </a:solidFill>
                <a:latin typeface="HK Modular"/>
                <a:ea typeface="HK Modular"/>
                <a:cs typeface="HK Modular"/>
                <a:sym typeface="HK Modular"/>
              </a:rPr>
              <a:t>EJERCICIO DE REPASO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8057478" y="-155865"/>
            <a:ext cx="2347661" cy="2347661"/>
          </a:xfrm>
          <a:custGeom>
            <a:avLst/>
            <a:gdLst/>
            <a:ahLst/>
            <a:cxnLst/>
            <a:rect r="r" b="b" t="t" l="l"/>
            <a:pathLst>
              <a:path h="2347661" w="2347661">
                <a:moveTo>
                  <a:pt x="0" y="0"/>
                </a:moveTo>
                <a:lnTo>
                  <a:pt x="2347661" y="0"/>
                </a:lnTo>
                <a:lnTo>
                  <a:pt x="2347661" y="2347661"/>
                </a:lnTo>
                <a:lnTo>
                  <a:pt x="0" y="2347661"/>
                </a:lnTo>
                <a:lnTo>
                  <a:pt x="0" y="0"/>
                </a:lnTo>
                <a:close/>
              </a:path>
            </a:pathLst>
          </a:custGeom>
          <a:blipFill>
            <a:blip r:embed="rId3"/>
            <a:stretch>
              <a:fillRect l="0" t="0" r="0" b="0"/>
            </a:stretch>
          </a:blipFill>
        </p:spPr>
      </p:sp>
      <p:sp>
        <p:nvSpPr>
          <p:cNvPr name="Freeform 13" id="13"/>
          <p:cNvSpPr/>
          <p:nvPr/>
        </p:nvSpPr>
        <p:spPr>
          <a:xfrm flipH="false" flipV="false" rot="0">
            <a:off x="11018063" y="4310787"/>
            <a:ext cx="6432382" cy="3762944"/>
          </a:xfrm>
          <a:custGeom>
            <a:avLst/>
            <a:gdLst/>
            <a:ahLst/>
            <a:cxnLst/>
            <a:rect r="r" b="b" t="t" l="l"/>
            <a:pathLst>
              <a:path h="3762944" w="6432382">
                <a:moveTo>
                  <a:pt x="0" y="0"/>
                </a:moveTo>
                <a:lnTo>
                  <a:pt x="6432382" y="0"/>
                </a:lnTo>
                <a:lnTo>
                  <a:pt x="6432382" y="3762943"/>
                </a:lnTo>
                <a:lnTo>
                  <a:pt x="0" y="37629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3997117" y="2087021"/>
            <a:ext cx="10684768" cy="899656"/>
          </a:xfrm>
          <a:prstGeom prst="rect">
            <a:avLst/>
          </a:prstGeom>
        </p:spPr>
        <p:txBody>
          <a:bodyPr anchor="t" rtlCol="false" tIns="0" lIns="0" bIns="0" rIns="0">
            <a:spAutoFit/>
          </a:bodyPr>
          <a:lstStyle/>
          <a:p>
            <a:pPr algn="l">
              <a:lnSpc>
                <a:spcPts val="7316"/>
              </a:lnSpc>
              <a:spcBef>
                <a:spcPct val="0"/>
              </a:spcBef>
            </a:pPr>
            <a:r>
              <a:rPr lang="en-US" sz="5226">
                <a:solidFill>
                  <a:srgbClr val="38B6FF"/>
                </a:solidFill>
                <a:latin typeface="HK Modular"/>
                <a:ea typeface="HK Modular"/>
                <a:cs typeface="HK Modular"/>
                <a:sym typeface="HK Modular"/>
              </a:rPr>
              <a:t>EJERCICIO DE REPASO</a:t>
            </a:r>
          </a:p>
        </p:txBody>
      </p:sp>
      <p:sp>
        <p:nvSpPr>
          <p:cNvPr name="TextBox 15" id="15"/>
          <p:cNvSpPr txBox="true"/>
          <p:nvPr/>
        </p:nvSpPr>
        <p:spPr>
          <a:xfrm rot="0">
            <a:off x="1862774" y="3956245"/>
            <a:ext cx="8208816" cy="4965119"/>
          </a:xfrm>
          <a:prstGeom prst="rect">
            <a:avLst/>
          </a:prstGeom>
        </p:spPr>
        <p:txBody>
          <a:bodyPr anchor="t" rtlCol="false" tIns="0" lIns="0" bIns="0" rIns="0">
            <a:spAutoFit/>
          </a:bodyPr>
          <a:lstStyle/>
          <a:p>
            <a:pPr algn="l" marL="610103" indent="-305051" lvl="1">
              <a:lnSpc>
                <a:spcPts val="3956"/>
              </a:lnSpc>
              <a:buAutoNum type="arabicPeriod" startAt="1"/>
            </a:pPr>
            <a:r>
              <a:rPr lang="en-US" sz="2825">
                <a:solidFill>
                  <a:srgbClr val="FFFFFF"/>
                </a:solidFill>
                <a:latin typeface="Poppins"/>
                <a:ea typeface="Poppins"/>
                <a:cs typeface="Poppins"/>
                <a:sym typeface="Poppins"/>
              </a:rPr>
              <a:t>Crear recursos en Azure</a:t>
            </a:r>
          </a:p>
          <a:p>
            <a:pPr algn="l" marL="610103" indent="-305051" lvl="1">
              <a:lnSpc>
                <a:spcPts val="3956"/>
              </a:lnSpc>
              <a:buAutoNum type="arabicPeriod" startAt="1"/>
            </a:pPr>
            <a:r>
              <a:rPr lang="en-US" sz="2825">
                <a:solidFill>
                  <a:srgbClr val="FFFFFF"/>
                </a:solidFill>
                <a:latin typeface="Poppins"/>
                <a:ea typeface="Poppins"/>
                <a:cs typeface="Poppins"/>
                <a:sym typeface="Poppins"/>
              </a:rPr>
              <a:t>Preparar MongoDB Atlas y guardar URI en Github Secrets</a:t>
            </a:r>
          </a:p>
          <a:p>
            <a:pPr algn="l" marL="610103" indent="-305051" lvl="1">
              <a:lnSpc>
                <a:spcPts val="3956"/>
              </a:lnSpc>
              <a:buAutoNum type="arabicPeriod" startAt="1"/>
            </a:pPr>
            <a:r>
              <a:rPr lang="en-US" sz="2825">
                <a:solidFill>
                  <a:srgbClr val="FFFFFF"/>
                </a:solidFill>
                <a:latin typeface="Poppins"/>
                <a:ea typeface="Poppins"/>
                <a:cs typeface="Poppins"/>
                <a:sym typeface="Poppins"/>
              </a:rPr>
              <a:t>Crear un Service Principal en Azure y guardar credenciales</a:t>
            </a:r>
          </a:p>
          <a:p>
            <a:pPr algn="l" marL="610103" indent="-305051" lvl="1">
              <a:lnSpc>
                <a:spcPts val="3956"/>
              </a:lnSpc>
              <a:buAutoNum type="arabicPeriod" startAt="1"/>
            </a:pPr>
            <a:r>
              <a:rPr lang="en-US" sz="2825">
                <a:solidFill>
                  <a:srgbClr val="FFFFFF"/>
                </a:solidFill>
                <a:latin typeface="Poppins"/>
                <a:ea typeface="Poppins"/>
                <a:cs typeface="Poppins"/>
                <a:sym typeface="Poppins"/>
              </a:rPr>
              <a:t>Crear workflow Github Actions:</a:t>
            </a:r>
          </a:p>
          <a:p>
            <a:pPr algn="l" marL="1220205" indent="-406735" lvl="2">
              <a:lnSpc>
                <a:spcPts val="3956"/>
              </a:lnSpc>
              <a:buAutoNum type="alphaLcPeriod" startAt="1"/>
            </a:pPr>
            <a:r>
              <a:rPr lang="en-US" sz="2825">
                <a:solidFill>
                  <a:srgbClr val="FFFFFF"/>
                </a:solidFill>
                <a:latin typeface="Poppins"/>
                <a:ea typeface="Poppins"/>
                <a:cs typeface="Poppins"/>
                <a:sym typeface="Poppins"/>
              </a:rPr>
              <a:t>Compile</a:t>
            </a:r>
          </a:p>
          <a:p>
            <a:pPr algn="l" marL="1220205" indent="-406735" lvl="2">
              <a:lnSpc>
                <a:spcPts val="3956"/>
              </a:lnSpc>
              <a:buAutoNum type="alphaLcPeriod" startAt="1"/>
            </a:pPr>
            <a:r>
              <a:rPr lang="en-US" sz="2825">
                <a:solidFill>
                  <a:srgbClr val="FFFFFF"/>
                </a:solidFill>
                <a:latin typeface="Poppins"/>
                <a:ea typeface="Poppins"/>
                <a:cs typeface="Poppins"/>
                <a:sym typeface="Poppins"/>
              </a:rPr>
              <a:t>Testee</a:t>
            </a:r>
          </a:p>
          <a:p>
            <a:pPr algn="l" marL="1220205" indent="-406735" lvl="2">
              <a:lnSpc>
                <a:spcPts val="3956"/>
              </a:lnSpc>
              <a:buAutoNum type="alphaLcPeriod" startAt="1"/>
            </a:pPr>
            <a:r>
              <a:rPr lang="en-US" sz="2825">
                <a:solidFill>
                  <a:srgbClr val="FFFFFF"/>
                </a:solidFill>
                <a:latin typeface="Poppins"/>
                <a:ea typeface="Poppins"/>
                <a:cs typeface="Poppins"/>
                <a:sym typeface="Poppins"/>
              </a:rPr>
              <a:t>Empaque</a:t>
            </a:r>
          </a:p>
          <a:p>
            <a:pPr algn="l" marL="1220205" indent="-406735" lvl="2">
              <a:lnSpc>
                <a:spcPts val="3956"/>
              </a:lnSpc>
              <a:buAutoNum type="alphaLcPeriod" startAt="1"/>
            </a:pPr>
            <a:r>
              <a:rPr lang="en-US" sz="2825">
                <a:solidFill>
                  <a:srgbClr val="FFFFFF"/>
                </a:solidFill>
                <a:latin typeface="Poppins"/>
                <a:ea typeface="Poppins"/>
                <a:cs typeface="Poppins"/>
                <a:sym typeface="Poppins"/>
              </a:rPr>
              <a:t>Despliegue el JAR al slot sandbox</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8057478" y="-155865"/>
            <a:ext cx="2347661" cy="2347661"/>
          </a:xfrm>
          <a:custGeom>
            <a:avLst/>
            <a:gdLst/>
            <a:ahLst/>
            <a:cxnLst/>
            <a:rect r="r" b="b" t="t" l="l"/>
            <a:pathLst>
              <a:path h="2347661" w="2347661">
                <a:moveTo>
                  <a:pt x="0" y="0"/>
                </a:moveTo>
                <a:lnTo>
                  <a:pt x="2347661" y="0"/>
                </a:lnTo>
                <a:lnTo>
                  <a:pt x="2347661" y="2347661"/>
                </a:lnTo>
                <a:lnTo>
                  <a:pt x="0" y="2347661"/>
                </a:lnTo>
                <a:lnTo>
                  <a:pt x="0" y="0"/>
                </a:lnTo>
                <a:close/>
              </a:path>
            </a:pathLst>
          </a:custGeom>
          <a:blipFill>
            <a:blip r:embed="rId3"/>
            <a:stretch>
              <a:fillRect l="0" t="0" r="0" b="0"/>
            </a:stretch>
          </a:blipFill>
        </p:spPr>
      </p:sp>
      <p:sp>
        <p:nvSpPr>
          <p:cNvPr name="Freeform 13" id="13"/>
          <p:cNvSpPr/>
          <p:nvPr/>
        </p:nvSpPr>
        <p:spPr>
          <a:xfrm flipH="false" flipV="false" rot="0">
            <a:off x="1028700" y="3590122"/>
            <a:ext cx="4386468" cy="5897772"/>
          </a:xfrm>
          <a:custGeom>
            <a:avLst/>
            <a:gdLst/>
            <a:ahLst/>
            <a:cxnLst/>
            <a:rect r="r" b="b" t="t" l="l"/>
            <a:pathLst>
              <a:path h="5897772" w="4386468">
                <a:moveTo>
                  <a:pt x="0" y="0"/>
                </a:moveTo>
                <a:lnTo>
                  <a:pt x="4386468" y="0"/>
                </a:lnTo>
                <a:lnTo>
                  <a:pt x="4386468" y="5897771"/>
                </a:lnTo>
                <a:lnTo>
                  <a:pt x="0" y="5897771"/>
                </a:lnTo>
                <a:lnTo>
                  <a:pt x="0" y="0"/>
                </a:lnTo>
                <a:close/>
              </a:path>
            </a:pathLst>
          </a:custGeom>
          <a:blipFill>
            <a:blip r:embed="rId4"/>
            <a:stretch>
              <a:fillRect l="0" t="0" r="0" b="0"/>
            </a:stretch>
          </a:blipFill>
        </p:spPr>
      </p:sp>
      <p:sp>
        <p:nvSpPr>
          <p:cNvPr name="Freeform 14" id="14"/>
          <p:cNvSpPr/>
          <p:nvPr/>
        </p:nvSpPr>
        <p:spPr>
          <a:xfrm flipH="false" flipV="false" rot="0">
            <a:off x="7251662" y="3624852"/>
            <a:ext cx="4536528" cy="5863041"/>
          </a:xfrm>
          <a:custGeom>
            <a:avLst/>
            <a:gdLst/>
            <a:ahLst/>
            <a:cxnLst/>
            <a:rect r="r" b="b" t="t" l="l"/>
            <a:pathLst>
              <a:path h="5863041" w="4536528">
                <a:moveTo>
                  <a:pt x="0" y="0"/>
                </a:moveTo>
                <a:lnTo>
                  <a:pt x="4536528" y="0"/>
                </a:lnTo>
                <a:lnTo>
                  <a:pt x="4536528" y="5863041"/>
                </a:lnTo>
                <a:lnTo>
                  <a:pt x="0" y="5863041"/>
                </a:lnTo>
                <a:lnTo>
                  <a:pt x="0" y="0"/>
                </a:lnTo>
                <a:close/>
              </a:path>
            </a:pathLst>
          </a:custGeom>
          <a:blipFill>
            <a:blip r:embed="rId5"/>
            <a:stretch>
              <a:fillRect l="0" t="0" r="0" b="0"/>
            </a:stretch>
          </a:blipFill>
        </p:spPr>
      </p:sp>
      <p:sp>
        <p:nvSpPr>
          <p:cNvPr name="Freeform 15" id="15"/>
          <p:cNvSpPr/>
          <p:nvPr/>
        </p:nvSpPr>
        <p:spPr>
          <a:xfrm flipH="false" flipV="false" rot="0">
            <a:off x="13621401" y="5143500"/>
            <a:ext cx="3637899" cy="1711107"/>
          </a:xfrm>
          <a:custGeom>
            <a:avLst/>
            <a:gdLst/>
            <a:ahLst/>
            <a:cxnLst/>
            <a:rect r="r" b="b" t="t" l="l"/>
            <a:pathLst>
              <a:path h="1711107" w="3637899">
                <a:moveTo>
                  <a:pt x="0" y="0"/>
                </a:moveTo>
                <a:lnTo>
                  <a:pt x="3637899" y="0"/>
                </a:lnTo>
                <a:lnTo>
                  <a:pt x="3637899" y="1711107"/>
                </a:lnTo>
                <a:lnTo>
                  <a:pt x="0" y="1711107"/>
                </a:lnTo>
                <a:lnTo>
                  <a:pt x="0" y="0"/>
                </a:lnTo>
                <a:close/>
              </a:path>
            </a:pathLst>
          </a:custGeom>
          <a:blipFill>
            <a:blip r:embed="rId6"/>
            <a:stretch>
              <a:fillRect l="0" t="0" r="0" b="0"/>
            </a:stretch>
          </a:blipFill>
        </p:spPr>
      </p:sp>
      <p:sp>
        <p:nvSpPr>
          <p:cNvPr name="TextBox 16" id="16"/>
          <p:cNvSpPr txBox="true"/>
          <p:nvPr/>
        </p:nvSpPr>
        <p:spPr>
          <a:xfrm rot="0">
            <a:off x="3997117" y="2087021"/>
            <a:ext cx="10684768" cy="899656"/>
          </a:xfrm>
          <a:prstGeom prst="rect">
            <a:avLst/>
          </a:prstGeom>
        </p:spPr>
        <p:txBody>
          <a:bodyPr anchor="t" rtlCol="false" tIns="0" lIns="0" bIns="0" rIns="0">
            <a:spAutoFit/>
          </a:bodyPr>
          <a:lstStyle/>
          <a:p>
            <a:pPr algn="l">
              <a:lnSpc>
                <a:spcPts val="7316"/>
              </a:lnSpc>
              <a:spcBef>
                <a:spcPct val="0"/>
              </a:spcBef>
            </a:pPr>
            <a:r>
              <a:rPr lang="en-US" sz="5226">
                <a:solidFill>
                  <a:srgbClr val="38B6FF"/>
                </a:solidFill>
                <a:latin typeface="HK Modular"/>
                <a:ea typeface="HK Modular"/>
                <a:cs typeface="HK Modular"/>
                <a:sym typeface="HK Modular"/>
              </a:rPr>
              <a:t>EJERCICIO DE REPASO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8057478" y="-155865"/>
            <a:ext cx="2347661" cy="2347661"/>
          </a:xfrm>
          <a:custGeom>
            <a:avLst/>
            <a:gdLst/>
            <a:ahLst/>
            <a:cxnLst/>
            <a:rect r="r" b="b" t="t" l="l"/>
            <a:pathLst>
              <a:path h="2347661" w="2347661">
                <a:moveTo>
                  <a:pt x="0" y="0"/>
                </a:moveTo>
                <a:lnTo>
                  <a:pt x="2347661" y="0"/>
                </a:lnTo>
                <a:lnTo>
                  <a:pt x="2347661" y="2347661"/>
                </a:lnTo>
                <a:lnTo>
                  <a:pt x="0" y="2347661"/>
                </a:lnTo>
                <a:lnTo>
                  <a:pt x="0" y="0"/>
                </a:lnTo>
                <a:close/>
              </a:path>
            </a:pathLst>
          </a:custGeom>
          <a:blipFill>
            <a:blip r:embed="rId3"/>
            <a:stretch>
              <a:fillRect l="0" t="0" r="0" b="0"/>
            </a:stretch>
          </a:blipFill>
        </p:spPr>
      </p:sp>
      <p:sp>
        <p:nvSpPr>
          <p:cNvPr name="Freeform 13" id="13"/>
          <p:cNvSpPr/>
          <p:nvPr/>
        </p:nvSpPr>
        <p:spPr>
          <a:xfrm flipH="false" flipV="false" rot="0">
            <a:off x="11235416" y="3624852"/>
            <a:ext cx="5552261" cy="5438096"/>
          </a:xfrm>
          <a:custGeom>
            <a:avLst/>
            <a:gdLst/>
            <a:ahLst/>
            <a:cxnLst/>
            <a:rect r="r" b="b" t="t" l="l"/>
            <a:pathLst>
              <a:path h="5438096" w="5552261">
                <a:moveTo>
                  <a:pt x="0" y="0"/>
                </a:moveTo>
                <a:lnTo>
                  <a:pt x="5552261" y="0"/>
                </a:lnTo>
                <a:lnTo>
                  <a:pt x="5552261" y="5438097"/>
                </a:lnTo>
                <a:lnTo>
                  <a:pt x="0" y="5438097"/>
                </a:lnTo>
                <a:lnTo>
                  <a:pt x="0" y="0"/>
                </a:lnTo>
                <a:close/>
              </a:path>
            </a:pathLst>
          </a:custGeom>
          <a:blipFill>
            <a:blip r:embed="rId4"/>
            <a:stretch>
              <a:fillRect l="0" t="0" r="-46782" b="0"/>
            </a:stretch>
          </a:blipFill>
        </p:spPr>
      </p:sp>
      <p:sp>
        <p:nvSpPr>
          <p:cNvPr name="TextBox 14" id="14"/>
          <p:cNvSpPr txBox="true"/>
          <p:nvPr/>
        </p:nvSpPr>
        <p:spPr>
          <a:xfrm rot="0">
            <a:off x="3997117" y="2087021"/>
            <a:ext cx="10684768" cy="899656"/>
          </a:xfrm>
          <a:prstGeom prst="rect">
            <a:avLst/>
          </a:prstGeom>
        </p:spPr>
        <p:txBody>
          <a:bodyPr anchor="t" rtlCol="false" tIns="0" lIns="0" bIns="0" rIns="0">
            <a:spAutoFit/>
          </a:bodyPr>
          <a:lstStyle/>
          <a:p>
            <a:pPr algn="l">
              <a:lnSpc>
                <a:spcPts val="7316"/>
              </a:lnSpc>
              <a:spcBef>
                <a:spcPct val="0"/>
              </a:spcBef>
            </a:pPr>
            <a:r>
              <a:rPr lang="en-US" sz="5226">
                <a:solidFill>
                  <a:srgbClr val="38B6FF"/>
                </a:solidFill>
                <a:latin typeface="HK Modular"/>
                <a:ea typeface="HK Modular"/>
                <a:cs typeface="HK Modular"/>
                <a:sym typeface="HK Modular"/>
              </a:rPr>
              <a:t>EJERCICIO DE REPASO</a:t>
            </a:r>
          </a:p>
        </p:txBody>
      </p:sp>
      <p:sp>
        <p:nvSpPr>
          <p:cNvPr name="TextBox 15" id="15"/>
          <p:cNvSpPr txBox="true"/>
          <p:nvPr/>
        </p:nvSpPr>
        <p:spPr>
          <a:xfrm rot="0">
            <a:off x="2485579" y="3279208"/>
            <a:ext cx="6658421" cy="6053185"/>
          </a:xfrm>
          <a:prstGeom prst="rect">
            <a:avLst/>
          </a:prstGeom>
        </p:spPr>
        <p:txBody>
          <a:bodyPr anchor="t" rtlCol="false" tIns="0" lIns="0" bIns="0" rIns="0">
            <a:spAutoFit/>
          </a:bodyPr>
          <a:lstStyle/>
          <a:p>
            <a:pPr algn="l">
              <a:lnSpc>
                <a:spcPts val="3715"/>
              </a:lnSpc>
            </a:pPr>
          </a:p>
          <a:p>
            <a:pPr algn="l" marL="572933" indent="-286467" lvl="1">
              <a:lnSpc>
                <a:spcPts val="3715"/>
              </a:lnSpc>
              <a:buAutoNum type="arabicPeriod" startAt="1"/>
            </a:pPr>
            <a:r>
              <a:rPr lang="en-US" sz="2653">
                <a:solidFill>
                  <a:srgbClr val="FFFFFF"/>
                </a:solidFill>
                <a:latin typeface="Poppins"/>
                <a:ea typeface="Poppins"/>
                <a:cs typeface="Poppins"/>
                <a:sym typeface="Poppins"/>
              </a:rPr>
              <a:t>Como quedaria el pipeline si se cambiara para que el despliegue en sandbox fuera realizado para la rama develop cuando se haga push y pull request ?</a:t>
            </a:r>
          </a:p>
          <a:p>
            <a:pPr algn="l" marL="572933" indent="-286467" lvl="1">
              <a:lnSpc>
                <a:spcPts val="3715"/>
              </a:lnSpc>
              <a:buAutoNum type="arabicPeriod" startAt="1"/>
            </a:pPr>
            <a:r>
              <a:rPr lang="en-US" sz="2653">
                <a:solidFill>
                  <a:srgbClr val="FFFFFF"/>
                </a:solidFill>
                <a:latin typeface="Poppins"/>
                <a:ea typeface="Poppins"/>
                <a:cs typeface="Poppins"/>
                <a:sym typeface="Poppins"/>
              </a:rPr>
              <a:t>Como quedaria el pipeline si se cambiara para que el despliegue en qa fuera realizado para cualquier rama que inicie con feature al realizar un pull request?</a:t>
            </a:r>
          </a:p>
          <a:p>
            <a:pPr algn="l" marL="572933" indent="-286467" lvl="1">
              <a:lnSpc>
                <a:spcPts val="3715"/>
              </a:lnSpc>
              <a:buAutoNum type="arabicPeriod" startAt="1"/>
            </a:pPr>
            <a:r>
              <a:rPr lang="en-US" sz="2653">
                <a:solidFill>
                  <a:srgbClr val="FFFFFF"/>
                </a:solidFill>
                <a:latin typeface="Poppins"/>
                <a:ea typeface="Poppins"/>
                <a:cs typeface="Poppins"/>
                <a:sym typeface="Poppins"/>
              </a:rPr>
              <a:t>Que agregarias o cambiarias del pipeline de ejemplo?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18143" y="-8073359"/>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8057478" y="-155865"/>
            <a:ext cx="2347661" cy="2347661"/>
          </a:xfrm>
          <a:custGeom>
            <a:avLst/>
            <a:gdLst/>
            <a:ahLst/>
            <a:cxnLst/>
            <a:rect r="r" b="b" t="t" l="l"/>
            <a:pathLst>
              <a:path h="2347661" w="2347661">
                <a:moveTo>
                  <a:pt x="0" y="0"/>
                </a:moveTo>
                <a:lnTo>
                  <a:pt x="2347661" y="0"/>
                </a:lnTo>
                <a:lnTo>
                  <a:pt x="2347661" y="2347661"/>
                </a:lnTo>
                <a:lnTo>
                  <a:pt x="0" y="2347661"/>
                </a:lnTo>
                <a:lnTo>
                  <a:pt x="0" y="0"/>
                </a:lnTo>
                <a:close/>
              </a:path>
            </a:pathLst>
          </a:custGeom>
          <a:blipFill>
            <a:blip r:embed="rId3"/>
            <a:stretch>
              <a:fillRect l="0" t="0" r="0" b="0"/>
            </a:stretch>
          </a:blipFill>
        </p:spPr>
      </p:sp>
      <p:sp>
        <p:nvSpPr>
          <p:cNvPr name="TextBox 13" id="13"/>
          <p:cNvSpPr txBox="true"/>
          <p:nvPr/>
        </p:nvSpPr>
        <p:spPr>
          <a:xfrm rot="0">
            <a:off x="3997117" y="2087021"/>
            <a:ext cx="10684768" cy="899656"/>
          </a:xfrm>
          <a:prstGeom prst="rect">
            <a:avLst/>
          </a:prstGeom>
        </p:spPr>
        <p:txBody>
          <a:bodyPr anchor="t" rtlCol="false" tIns="0" lIns="0" bIns="0" rIns="0">
            <a:spAutoFit/>
          </a:bodyPr>
          <a:lstStyle/>
          <a:p>
            <a:pPr algn="l">
              <a:lnSpc>
                <a:spcPts val="7316"/>
              </a:lnSpc>
              <a:spcBef>
                <a:spcPct val="0"/>
              </a:spcBef>
            </a:pPr>
            <a:r>
              <a:rPr lang="en-US" sz="5226">
                <a:solidFill>
                  <a:srgbClr val="38B6FF"/>
                </a:solidFill>
                <a:latin typeface="HK Modular"/>
                <a:ea typeface="HK Modular"/>
                <a:cs typeface="HK Modular"/>
                <a:sym typeface="HK Modular"/>
              </a:rPr>
              <a:t>EJERCICIO DE REPASO</a:t>
            </a:r>
          </a:p>
        </p:txBody>
      </p:sp>
      <p:sp>
        <p:nvSpPr>
          <p:cNvPr name="TextBox 14" id="14"/>
          <p:cNvSpPr txBox="true"/>
          <p:nvPr/>
        </p:nvSpPr>
        <p:spPr>
          <a:xfrm rot="0">
            <a:off x="2913504" y="3352617"/>
            <a:ext cx="12931568" cy="1868608"/>
          </a:xfrm>
          <a:prstGeom prst="rect">
            <a:avLst/>
          </a:prstGeom>
        </p:spPr>
        <p:txBody>
          <a:bodyPr anchor="t" rtlCol="false" tIns="0" lIns="0" bIns="0" rIns="0">
            <a:spAutoFit/>
          </a:bodyPr>
          <a:lstStyle/>
          <a:p>
            <a:pPr algn="l">
              <a:lnSpc>
                <a:spcPts val="3715"/>
              </a:lnSpc>
            </a:pPr>
            <a:r>
              <a:rPr lang="en-US" sz="2653">
                <a:solidFill>
                  <a:srgbClr val="FFFFFF"/>
                </a:solidFill>
                <a:latin typeface="Poppins"/>
                <a:ea typeface="Poppins"/>
                <a:cs typeface="Poppins"/>
                <a:sym typeface="Poppins"/>
              </a:rPr>
              <a:t>Para nuestra pokedex nos piden realizar una version digital completa, que funcione como una herramientoa interactiva, para registrar, consultar y organizar pokemones, generando un Front Web que permita ser Responsive para cualquier dispositivo</a:t>
            </a:r>
          </a:p>
        </p:txBody>
      </p:sp>
      <p:sp>
        <p:nvSpPr>
          <p:cNvPr name="TextBox 15" id="15"/>
          <p:cNvSpPr txBox="true"/>
          <p:nvPr/>
        </p:nvSpPr>
        <p:spPr>
          <a:xfrm rot="0">
            <a:off x="3997117" y="6406957"/>
            <a:ext cx="4037851" cy="473749"/>
          </a:xfrm>
          <a:prstGeom prst="rect">
            <a:avLst/>
          </a:prstGeom>
        </p:spPr>
        <p:txBody>
          <a:bodyPr anchor="t" rtlCol="false" tIns="0" lIns="0" bIns="0" rIns="0">
            <a:spAutoFit/>
          </a:bodyPr>
          <a:lstStyle/>
          <a:p>
            <a:pPr algn="l">
              <a:lnSpc>
                <a:spcPts val="3715"/>
              </a:lnSpc>
            </a:pPr>
            <a:r>
              <a:rPr lang="en-US" sz="2653">
                <a:solidFill>
                  <a:srgbClr val="FFFFFF"/>
                </a:solidFill>
                <a:latin typeface="Poppins"/>
                <a:ea typeface="Poppins"/>
                <a:cs typeface="Poppins"/>
                <a:sym typeface="Poppins"/>
              </a:rPr>
              <a:t>Visualizar Las Regiones</a:t>
            </a:r>
          </a:p>
        </p:txBody>
      </p:sp>
      <p:sp>
        <p:nvSpPr>
          <p:cNvPr name="TextBox 16" id="16"/>
          <p:cNvSpPr txBox="true"/>
          <p:nvPr/>
        </p:nvSpPr>
        <p:spPr>
          <a:xfrm rot="0">
            <a:off x="3502322" y="8086337"/>
            <a:ext cx="4705924" cy="9422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Ver todos los pokemones y organizarlo por criterios</a:t>
            </a:r>
          </a:p>
        </p:txBody>
      </p:sp>
      <p:sp>
        <p:nvSpPr>
          <p:cNvPr name="TextBox 17" id="17"/>
          <p:cNvSpPr txBox="true"/>
          <p:nvPr/>
        </p:nvSpPr>
        <p:spPr>
          <a:xfrm rot="0">
            <a:off x="10405139" y="6172709"/>
            <a:ext cx="4705924" cy="9422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Mostrar detalle de cada pokemon</a:t>
            </a:r>
          </a:p>
        </p:txBody>
      </p:sp>
      <p:sp>
        <p:nvSpPr>
          <p:cNvPr name="TextBox 18" id="18"/>
          <p:cNvSpPr txBox="true"/>
          <p:nvPr/>
        </p:nvSpPr>
        <p:spPr>
          <a:xfrm rot="0">
            <a:off x="10405139" y="8086337"/>
            <a:ext cx="4705924" cy="9422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Registrar, editar y eliminar pokemon desde la interfaz</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8057478" y="-155865"/>
            <a:ext cx="2347661" cy="2347661"/>
          </a:xfrm>
          <a:custGeom>
            <a:avLst/>
            <a:gdLst/>
            <a:ahLst/>
            <a:cxnLst/>
            <a:rect r="r" b="b" t="t" l="l"/>
            <a:pathLst>
              <a:path h="2347661" w="2347661">
                <a:moveTo>
                  <a:pt x="0" y="0"/>
                </a:moveTo>
                <a:lnTo>
                  <a:pt x="2347661" y="0"/>
                </a:lnTo>
                <a:lnTo>
                  <a:pt x="2347661" y="2347661"/>
                </a:lnTo>
                <a:lnTo>
                  <a:pt x="0" y="2347661"/>
                </a:lnTo>
                <a:lnTo>
                  <a:pt x="0" y="0"/>
                </a:lnTo>
                <a:close/>
              </a:path>
            </a:pathLst>
          </a:custGeom>
          <a:blipFill>
            <a:blip r:embed="rId3"/>
            <a:stretch>
              <a:fillRect l="0" t="0" r="0" b="0"/>
            </a:stretch>
          </a:blipFill>
        </p:spPr>
      </p:sp>
      <p:sp>
        <p:nvSpPr>
          <p:cNvPr name="Freeform 13" id="13"/>
          <p:cNvSpPr/>
          <p:nvPr/>
        </p:nvSpPr>
        <p:spPr>
          <a:xfrm flipH="false" flipV="false" rot="0">
            <a:off x="1322989" y="3624852"/>
            <a:ext cx="9180713" cy="5386018"/>
          </a:xfrm>
          <a:custGeom>
            <a:avLst/>
            <a:gdLst/>
            <a:ahLst/>
            <a:cxnLst/>
            <a:rect r="r" b="b" t="t" l="l"/>
            <a:pathLst>
              <a:path h="5386018" w="9180713">
                <a:moveTo>
                  <a:pt x="0" y="0"/>
                </a:moveTo>
                <a:lnTo>
                  <a:pt x="9180713" y="0"/>
                </a:lnTo>
                <a:lnTo>
                  <a:pt x="9180713" y="5386019"/>
                </a:lnTo>
                <a:lnTo>
                  <a:pt x="0" y="5386019"/>
                </a:lnTo>
                <a:lnTo>
                  <a:pt x="0" y="0"/>
                </a:lnTo>
                <a:close/>
              </a:path>
            </a:pathLst>
          </a:custGeom>
          <a:blipFill>
            <a:blip r:embed="rId4"/>
            <a:stretch>
              <a:fillRect l="0" t="0" r="0" b="0"/>
            </a:stretch>
          </a:blipFill>
        </p:spPr>
      </p:sp>
      <p:sp>
        <p:nvSpPr>
          <p:cNvPr name="Freeform 14" id="14"/>
          <p:cNvSpPr/>
          <p:nvPr/>
        </p:nvSpPr>
        <p:spPr>
          <a:xfrm flipH="false" flipV="false" rot="0">
            <a:off x="12253579" y="4205803"/>
            <a:ext cx="4573221" cy="3104074"/>
          </a:xfrm>
          <a:custGeom>
            <a:avLst/>
            <a:gdLst/>
            <a:ahLst/>
            <a:cxnLst/>
            <a:rect r="r" b="b" t="t" l="l"/>
            <a:pathLst>
              <a:path h="3104074" w="4573221">
                <a:moveTo>
                  <a:pt x="0" y="0"/>
                </a:moveTo>
                <a:lnTo>
                  <a:pt x="4573221" y="0"/>
                </a:lnTo>
                <a:lnTo>
                  <a:pt x="4573221" y="3104074"/>
                </a:lnTo>
                <a:lnTo>
                  <a:pt x="0" y="31040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3997117" y="2087021"/>
            <a:ext cx="10684768" cy="899656"/>
          </a:xfrm>
          <a:prstGeom prst="rect">
            <a:avLst/>
          </a:prstGeom>
        </p:spPr>
        <p:txBody>
          <a:bodyPr anchor="t" rtlCol="false" tIns="0" lIns="0" bIns="0" rIns="0">
            <a:spAutoFit/>
          </a:bodyPr>
          <a:lstStyle/>
          <a:p>
            <a:pPr algn="l">
              <a:lnSpc>
                <a:spcPts val="7316"/>
              </a:lnSpc>
              <a:spcBef>
                <a:spcPct val="0"/>
              </a:spcBef>
            </a:pPr>
            <a:r>
              <a:rPr lang="en-US" sz="5226">
                <a:solidFill>
                  <a:srgbClr val="38B6FF"/>
                </a:solidFill>
                <a:latin typeface="HK Modular"/>
                <a:ea typeface="HK Modular"/>
                <a:cs typeface="HK Modular"/>
                <a:sym typeface="HK Modular"/>
              </a:rPr>
              <a:t>EJERCICIO DE REPASO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7803096" y="0"/>
            <a:ext cx="3072809" cy="3072809"/>
          </a:xfrm>
          <a:custGeom>
            <a:avLst/>
            <a:gdLst/>
            <a:ahLst/>
            <a:cxnLst/>
            <a:rect r="r" b="b" t="t" l="l"/>
            <a:pathLst>
              <a:path h="3072809" w="3072809">
                <a:moveTo>
                  <a:pt x="0" y="0"/>
                </a:moveTo>
                <a:lnTo>
                  <a:pt x="3072809" y="0"/>
                </a:lnTo>
                <a:lnTo>
                  <a:pt x="3072809" y="3072809"/>
                </a:lnTo>
                <a:lnTo>
                  <a:pt x="0" y="3072809"/>
                </a:lnTo>
                <a:lnTo>
                  <a:pt x="0" y="0"/>
                </a:lnTo>
                <a:close/>
              </a:path>
            </a:pathLst>
          </a:custGeom>
          <a:blipFill>
            <a:blip r:embed="rId3"/>
            <a:stretch>
              <a:fillRect l="0" t="0" r="0" b="0"/>
            </a:stretch>
          </a:blipFill>
        </p:spPr>
      </p:sp>
      <p:sp>
        <p:nvSpPr>
          <p:cNvPr name="Freeform 13" id="13"/>
          <p:cNvSpPr/>
          <p:nvPr/>
        </p:nvSpPr>
        <p:spPr>
          <a:xfrm flipH="false" flipV="false" rot="0">
            <a:off x="1606612" y="3072809"/>
            <a:ext cx="7646755" cy="6020082"/>
          </a:xfrm>
          <a:custGeom>
            <a:avLst/>
            <a:gdLst/>
            <a:ahLst/>
            <a:cxnLst/>
            <a:rect r="r" b="b" t="t" l="l"/>
            <a:pathLst>
              <a:path h="6020082" w="7646755">
                <a:moveTo>
                  <a:pt x="0" y="0"/>
                </a:moveTo>
                <a:lnTo>
                  <a:pt x="7646755" y="0"/>
                </a:lnTo>
                <a:lnTo>
                  <a:pt x="7646755" y="6020082"/>
                </a:lnTo>
                <a:lnTo>
                  <a:pt x="0" y="60200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10103070" y="4703741"/>
            <a:ext cx="6751190" cy="1810994"/>
          </a:xfrm>
          <a:prstGeom prst="rect">
            <a:avLst/>
          </a:prstGeom>
        </p:spPr>
        <p:txBody>
          <a:bodyPr anchor="t" rtlCol="false" tIns="0" lIns="0" bIns="0" rIns="0">
            <a:spAutoFit/>
          </a:bodyPr>
          <a:lstStyle/>
          <a:p>
            <a:pPr algn="ctr">
              <a:lnSpc>
                <a:spcPts val="7281"/>
              </a:lnSpc>
              <a:spcBef>
                <a:spcPct val="0"/>
              </a:spcBef>
            </a:pPr>
            <a:r>
              <a:rPr lang="en-US" sz="5201">
                <a:solidFill>
                  <a:srgbClr val="38B6FF"/>
                </a:solidFill>
                <a:latin typeface="HK Modular"/>
                <a:ea typeface="HK Modular"/>
                <a:cs typeface="HK Modular"/>
                <a:sym typeface="HK Modular"/>
              </a:rPr>
              <a:t>MODULO DE FRONT END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850532" y="3351092"/>
            <a:ext cx="5636438" cy="5636438"/>
          </a:xfrm>
          <a:custGeom>
            <a:avLst/>
            <a:gdLst/>
            <a:ahLst/>
            <a:cxnLst/>
            <a:rect r="r" b="b" t="t" l="l"/>
            <a:pathLst>
              <a:path h="5636438" w="5636438">
                <a:moveTo>
                  <a:pt x="0" y="0"/>
                </a:moveTo>
                <a:lnTo>
                  <a:pt x="5636438" y="0"/>
                </a:lnTo>
                <a:lnTo>
                  <a:pt x="5636438" y="5636438"/>
                </a:lnTo>
                <a:lnTo>
                  <a:pt x="0" y="56364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3390700" y="2087021"/>
            <a:ext cx="12540977" cy="899656"/>
          </a:xfrm>
          <a:prstGeom prst="rect">
            <a:avLst/>
          </a:prstGeom>
        </p:spPr>
        <p:txBody>
          <a:bodyPr anchor="t" rtlCol="false" tIns="0" lIns="0" bIns="0" rIns="0">
            <a:spAutoFit/>
          </a:bodyPr>
          <a:lstStyle/>
          <a:p>
            <a:pPr algn="l">
              <a:lnSpc>
                <a:spcPts val="7316"/>
              </a:lnSpc>
              <a:spcBef>
                <a:spcPct val="0"/>
              </a:spcBef>
            </a:pPr>
            <a:r>
              <a:rPr lang="en-US" sz="5226">
                <a:solidFill>
                  <a:srgbClr val="38B6FF"/>
                </a:solidFill>
                <a:latin typeface="HK Modular"/>
                <a:ea typeface="HK Modular"/>
                <a:cs typeface="HK Modular"/>
                <a:sym typeface="HK Modular"/>
              </a:rPr>
              <a:t>HEURISTICA DE NIELSEN</a:t>
            </a:r>
          </a:p>
        </p:txBody>
      </p:sp>
      <p:sp>
        <p:nvSpPr>
          <p:cNvPr name="TextBox 9" id="9"/>
          <p:cNvSpPr txBox="true"/>
          <p:nvPr/>
        </p:nvSpPr>
        <p:spPr>
          <a:xfrm rot="0">
            <a:off x="7377377" y="3771246"/>
            <a:ext cx="10115555" cy="9422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Son principios publicados por Jakob nielsen en 1995, son considerados cuando se realice un diseño de interaccion.</a:t>
            </a:r>
          </a:p>
        </p:txBody>
      </p:sp>
      <p:sp>
        <p:nvSpPr>
          <p:cNvPr name="TextBox 10" id="10"/>
          <p:cNvSpPr txBox="true"/>
          <p:nvPr/>
        </p:nvSpPr>
        <p:spPr>
          <a:xfrm rot="0">
            <a:off x="7208722" y="5498060"/>
            <a:ext cx="10452866" cy="140897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Son la base en la que se apoyan los diseñadores a la hora de ralizar la evaluacion de usabilidad de un sitio web o cualquier producto digital</a:t>
            </a:r>
          </a:p>
        </p:txBody>
      </p:sp>
      <p:sp>
        <p:nvSpPr>
          <p:cNvPr name="TextBox 11" id="11"/>
          <p:cNvSpPr txBox="true"/>
          <p:nvPr/>
        </p:nvSpPr>
        <p:spPr>
          <a:xfrm rot="0">
            <a:off x="7259057" y="7725794"/>
            <a:ext cx="10352195" cy="9422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Se llaman heuristicos porque son reglas generales y no directrices de usabilidad</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850532" y="3351092"/>
            <a:ext cx="5636438" cy="5636438"/>
          </a:xfrm>
          <a:custGeom>
            <a:avLst/>
            <a:gdLst/>
            <a:ahLst/>
            <a:cxnLst/>
            <a:rect r="r" b="b" t="t" l="l"/>
            <a:pathLst>
              <a:path h="5636438" w="5636438">
                <a:moveTo>
                  <a:pt x="0" y="0"/>
                </a:moveTo>
                <a:lnTo>
                  <a:pt x="5636438" y="0"/>
                </a:lnTo>
                <a:lnTo>
                  <a:pt x="5636438" y="5636438"/>
                </a:lnTo>
                <a:lnTo>
                  <a:pt x="0" y="56364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7031459" y="5038725"/>
            <a:ext cx="10227841" cy="2743809"/>
          </a:xfrm>
          <a:prstGeom prst="rect">
            <a:avLst/>
          </a:prstGeom>
        </p:spPr>
        <p:txBody>
          <a:bodyPr anchor="t" rtlCol="false" tIns="0" lIns="0" bIns="0" rIns="0">
            <a:spAutoFit/>
          </a:bodyPr>
          <a:lstStyle/>
          <a:p>
            <a:pPr algn="ctr">
              <a:lnSpc>
                <a:spcPts val="7316"/>
              </a:lnSpc>
              <a:spcBef>
                <a:spcPct val="0"/>
              </a:spcBef>
            </a:pPr>
            <a:r>
              <a:rPr lang="en-US" sz="5226">
                <a:solidFill>
                  <a:srgbClr val="602AE6"/>
                </a:solidFill>
                <a:latin typeface="HK Modular"/>
                <a:ea typeface="HK Modular"/>
                <a:cs typeface="HK Modular"/>
                <a:sym typeface="HK Modular"/>
              </a:rPr>
              <a:t>LOS 10 PRINCIPIOS DE LA HEURISTICA DE NIELSEN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2474251" y="4547490"/>
            <a:ext cx="4108861" cy="4683352"/>
          </a:xfrm>
          <a:custGeom>
            <a:avLst/>
            <a:gdLst/>
            <a:ahLst/>
            <a:cxnLst/>
            <a:rect r="r" b="b" t="t" l="l"/>
            <a:pathLst>
              <a:path h="4683352" w="4108861">
                <a:moveTo>
                  <a:pt x="0" y="0"/>
                </a:moveTo>
                <a:lnTo>
                  <a:pt x="4108861" y="0"/>
                </a:lnTo>
                <a:lnTo>
                  <a:pt x="4108861" y="4683352"/>
                </a:lnTo>
                <a:lnTo>
                  <a:pt x="0" y="4683352"/>
                </a:lnTo>
                <a:lnTo>
                  <a:pt x="0" y="0"/>
                </a:lnTo>
                <a:close/>
              </a:path>
            </a:pathLst>
          </a:custGeom>
          <a:blipFill>
            <a:blip r:embed="rId4"/>
            <a:stretch>
              <a:fillRect l="0" t="0" r="0" b="0"/>
            </a:stretch>
          </a:blipFill>
        </p:spPr>
      </p:sp>
      <p:sp>
        <p:nvSpPr>
          <p:cNvPr name="TextBox 8" id="8"/>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38B6FF"/>
                </a:solidFill>
                <a:latin typeface="HK Modular"/>
                <a:ea typeface="HK Modular"/>
                <a:cs typeface="HK Modular"/>
                <a:sym typeface="HK Modular"/>
              </a:rPr>
              <a:t>VISIBILIDAD DEL ESTADO DEL SISTEMA</a:t>
            </a:r>
          </a:p>
        </p:txBody>
      </p:sp>
      <p:sp>
        <p:nvSpPr>
          <p:cNvPr name="TextBox 9" id="9"/>
          <p:cNvSpPr txBox="true"/>
          <p:nvPr/>
        </p:nvSpPr>
        <p:spPr>
          <a:xfrm rot="0">
            <a:off x="1318684" y="7209195"/>
            <a:ext cx="7825316" cy="234242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El sistema siempre debe mantener informados a los usuarios (feedback) sobre lo que esta sucediendo en una accion, a traves de comentarios apropiados dentro de un tiempo razonable</a:t>
            </a:r>
          </a:p>
        </p:txBody>
      </p:sp>
      <p:sp>
        <p:nvSpPr>
          <p:cNvPr name="TextBox 10" id="10"/>
          <p:cNvSpPr txBox="true"/>
          <p:nvPr/>
        </p:nvSpPr>
        <p:spPr>
          <a:xfrm rot="0">
            <a:off x="12474251"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5D10EA"/>
                </a:solidFill>
                <a:latin typeface="HK Modular"/>
                <a:ea typeface="HK Modular"/>
                <a:cs typeface="HK Modular"/>
                <a:sym typeface="HK Modular"/>
              </a:rPr>
              <a:t>EJEMPLO</a:t>
            </a:r>
          </a:p>
        </p:txBody>
      </p:sp>
      <p:sp>
        <p:nvSpPr>
          <p:cNvPr name="TextBox 11" id="11"/>
          <p:cNvSpPr txBox="true"/>
          <p:nvPr/>
        </p:nvSpPr>
        <p:spPr>
          <a:xfrm rot="0">
            <a:off x="599574" y="4080020"/>
            <a:ext cx="9263536" cy="28091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Imaginate rellenar un formulario pero no puedes diferenciar que campo del formulario estas rellenando, o tampoco puedes ver si funciono o no al no recibir un mensaje que te confirme la accion o el error, o peor, hay errores en el formulario y no te indican que campo o como solucionarlo</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0457943" y="4432445"/>
            <a:ext cx="7413872" cy="4670739"/>
          </a:xfrm>
          <a:custGeom>
            <a:avLst/>
            <a:gdLst/>
            <a:ahLst/>
            <a:cxnLst/>
            <a:rect r="r" b="b" t="t" l="l"/>
            <a:pathLst>
              <a:path h="4670739" w="7413872">
                <a:moveTo>
                  <a:pt x="0" y="0"/>
                </a:moveTo>
                <a:lnTo>
                  <a:pt x="7413872" y="0"/>
                </a:lnTo>
                <a:lnTo>
                  <a:pt x="7413872" y="4670739"/>
                </a:lnTo>
                <a:lnTo>
                  <a:pt x="0" y="4670739"/>
                </a:lnTo>
                <a:lnTo>
                  <a:pt x="0" y="0"/>
                </a:lnTo>
                <a:close/>
              </a:path>
            </a:pathLst>
          </a:custGeom>
          <a:blipFill>
            <a:blip r:embed="rId4"/>
            <a:stretch>
              <a:fillRect l="0" t="0" r="0" b="0"/>
            </a:stretch>
          </a:blipFill>
        </p:spPr>
      </p:sp>
      <p:sp>
        <p:nvSpPr>
          <p:cNvPr name="TextBox 8" id="8"/>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38B6FF"/>
                </a:solidFill>
                <a:latin typeface="HK Modular"/>
                <a:ea typeface="HK Modular"/>
                <a:cs typeface="HK Modular"/>
                <a:sym typeface="HK Modular"/>
              </a:rPr>
              <a:t>COINCIDENCIA ENTRE EL SISTEMA Y EL MUNDO REAL</a:t>
            </a:r>
          </a:p>
        </p:txBody>
      </p:sp>
      <p:sp>
        <p:nvSpPr>
          <p:cNvPr name="TextBox 9" id="9"/>
          <p:cNvSpPr txBox="true"/>
          <p:nvPr/>
        </p:nvSpPr>
        <p:spPr>
          <a:xfrm rot="0">
            <a:off x="1318684" y="7209195"/>
            <a:ext cx="7825316" cy="187569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El sistema siempre debe hablar el idioma de los usuarios, con palabras, frases y conecptos familiares para el, en lugar de terminos orientados al sistema</a:t>
            </a:r>
          </a:p>
        </p:txBody>
      </p:sp>
      <p:sp>
        <p:nvSpPr>
          <p:cNvPr name="TextBox 10" id="10"/>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5D10EA"/>
                </a:solidFill>
                <a:latin typeface="HK Modular"/>
                <a:ea typeface="HK Modular"/>
                <a:cs typeface="HK Modular"/>
                <a:sym typeface="HK Modular"/>
              </a:rPr>
              <a:t>EJEMPLO</a:t>
            </a:r>
          </a:p>
        </p:txBody>
      </p:sp>
      <p:sp>
        <p:nvSpPr>
          <p:cNvPr name="TextBox 11" id="11"/>
          <p:cNvSpPr txBox="true"/>
          <p:nvPr/>
        </p:nvSpPr>
        <p:spPr>
          <a:xfrm rot="0">
            <a:off x="599574" y="4080020"/>
            <a:ext cx="9263536" cy="234242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Cuando estas trabajando en un producto muchos dias, se da por sentado muchas cosas de su integracion, y asumimos que el usuario tambien lo sabe, por lo que mostramos errores sin contexto o mostramos errores como 404</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0790664" y="4518704"/>
            <a:ext cx="6468636" cy="3962040"/>
          </a:xfrm>
          <a:custGeom>
            <a:avLst/>
            <a:gdLst/>
            <a:ahLst/>
            <a:cxnLst/>
            <a:rect r="r" b="b" t="t" l="l"/>
            <a:pathLst>
              <a:path h="3962040" w="6468636">
                <a:moveTo>
                  <a:pt x="0" y="0"/>
                </a:moveTo>
                <a:lnTo>
                  <a:pt x="6468636" y="0"/>
                </a:lnTo>
                <a:lnTo>
                  <a:pt x="6468636" y="3962040"/>
                </a:lnTo>
                <a:lnTo>
                  <a:pt x="0" y="3962040"/>
                </a:lnTo>
                <a:lnTo>
                  <a:pt x="0" y="0"/>
                </a:lnTo>
                <a:close/>
              </a:path>
            </a:pathLst>
          </a:custGeom>
          <a:blipFill>
            <a:blip r:embed="rId4"/>
            <a:stretch>
              <a:fillRect l="0" t="0" r="0" b="0"/>
            </a:stretch>
          </a:blipFill>
        </p:spPr>
      </p:sp>
      <p:sp>
        <p:nvSpPr>
          <p:cNvPr name="TextBox 8" id="8"/>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38B6FF"/>
                </a:solidFill>
                <a:latin typeface="HK Modular"/>
                <a:ea typeface="HK Modular"/>
                <a:cs typeface="HK Modular"/>
                <a:sym typeface="HK Modular"/>
              </a:rPr>
              <a:t>LIBERTAD Y CONTROL POR PARTE DEL USUARIO</a:t>
            </a:r>
          </a:p>
        </p:txBody>
      </p:sp>
      <p:sp>
        <p:nvSpPr>
          <p:cNvPr name="TextBox 9" id="9"/>
          <p:cNvSpPr txBox="true"/>
          <p:nvPr/>
        </p:nvSpPr>
        <p:spPr>
          <a:xfrm rot="0">
            <a:off x="994668" y="6462505"/>
            <a:ext cx="9463275" cy="2018239"/>
          </a:xfrm>
          <a:prstGeom prst="rect">
            <a:avLst/>
          </a:prstGeom>
        </p:spPr>
        <p:txBody>
          <a:bodyPr anchor="t" rtlCol="false" tIns="0" lIns="0" bIns="0" rIns="0">
            <a:spAutoFit/>
          </a:bodyPr>
          <a:lstStyle/>
          <a:p>
            <a:pPr algn="ctr">
              <a:lnSpc>
                <a:spcPts val="3199"/>
              </a:lnSpc>
            </a:pPr>
            <a:r>
              <a:rPr lang="en-US" sz="2285">
                <a:solidFill>
                  <a:srgbClr val="FFFFFF"/>
                </a:solidFill>
                <a:latin typeface="Poppins"/>
                <a:ea typeface="Poppins"/>
                <a:cs typeface="Poppins"/>
                <a:sym typeface="Poppins"/>
              </a:rPr>
              <a:t>Hay ocasiones en que los usuarios elegiran las funciones del sistema por error y necesitaran una salida de emergencia, claramente marcada para dejar el estado no deseado al que accedieron, sin tener que pasar por una serie de pasos.</a:t>
            </a:r>
          </a:p>
          <a:p>
            <a:pPr algn="ctr">
              <a:lnSpc>
                <a:spcPts val="3199"/>
              </a:lnSpc>
            </a:pPr>
            <a:r>
              <a:rPr lang="en-US" sz="2285">
                <a:solidFill>
                  <a:srgbClr val="FFFFFF"/>
                </a:solidFill>
                <a:latin typeface="Poppins"/>
                <a:ea typeface="Poppins"/>
                <a:cs typeface="Poppins"/>
                <a:sym typeface="Poppins"/>
              </a:rPr>
              <a:t>Se deben apotar las funciones de deshacer y rehacer.</a:t>
            </a:r>
          </a:p>
        </p:txBody>
      </p:sp>
      <p:sp>
        <p:nvSpPr>
          <p:cNvPr name="TextBox 10" id="10"/>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5D10EA"/>
                </a:solidFill>
                <a:latin typeface="HK Modular"/>
                <a:ea typeface="HK Modular"/>
                <a:cs typeface="HK Modular"/>
                <a:sym typeface="HK Modular"/>
              </a:rPr>
              <a:t>EJEMPLO</a:t>
            </a:r>
          </a:p>
        </p:txBody>
      </p:sp>
      <p:sp>
        <p:nvSpPr>
          <p:cNvPr name="TextBox 11" id="11"/>
          <p:cNvSpPr txBox="true"/>
          <p:nvPr/>
        </p:nvSpPr>
        <p:spPr>
          <a:xfrm rot="0">
            <a:off x="994668" y="4264328"/>
            <a:ext cx="9253367" cy="1691670"/>
          </a:xfrm>
          <a:prstGeom prst="rect">
            <a:avLst/>
          </a:prstGeom>
        </p:spPr>
        <p:txBody>
          <a:bodyPr anchor="t" rtlCol="false" tIns="0" lIns="0" bIns="0" rIns="0">
            <a:spAutoFit/>
          </a:bodyPr>
          <a:lstStyle/>
          <a:p>
            <a:pPr algn="ctr">
              <a:lnSpc>
                <a:spcPts val="3355"/>
              </a:lnSpc>
              <a:spcBef>
                <a:spcPct val="0"/>
              </a:spcBef>
            </a:pPr>
            <a:r>
              <a:rPr lang="en-US" sz="2396">
                <a:solidFill>
                  <a:srgbClr val="FFFFFF"/>
                </a:solidFill>
                <a:latin typeface="Poppins"/>
                <a:ea typeface="Poppins"/>
                <a:cs typeface="Poppins"/>
                <a:sym typeface="Poppins"/>
              </a:rPr>
              <a:t>Esta regla habla de darle al usuario el control y la libertad de realizar las acciones que desee… e incluso de darle la capacidad de deshacer acciones que puede haber tomado por error.</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2020332" y="5569428"/>
            <a:ext cx="5238968" cy="3208868"/>
          </a:xfrm>
          <a:custGeom>
            <a:avLst/>
            <a:gdLst/>
            <a:ahLst/>
            <a:cxnLst/>
            <a:rect r="r" b="b" t="t" l="l"/>
            <a:pathLst>
              <a:path h="3208868" w="5238968">
                <a:moveTo>
                  <a:pt x="0" y="0"/>
                </a:moveTo>
                <a:lnTo>
                  <a:pt x="5238968" y="0"/>
                </a:lnTo>
                <a:lnTo>
                  <a:pt x="5238968" y="3208868"/>
                </a:lnTo>
                <a:lnTo>
                  <a:pt x="0" y="3208868"/>
                </a:lnTo>
                <a:lnTo>
                  <a:pt x="0" y="0"/>
                </a:lnTo>
                <a:close/>
              </a:path>
            </a:pathLst>
          </a:custGeom>
          <a:blipFill>
            <a:blip r:embed="rId4"/>
            <a:stretch>
              <a:fillRect l="0" t="0" r="0" b="0"/>
            </a:stretch>
          </a:blipFill>
        </p:spPr>
      </p:sp>
      <p:sp>
        <p:nvSpPr>
          <p:cNvPr name="TextBox 8" id="8"/>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38B6FF"/>
                </a:solidFill>
                <a:latin typeface="HK Modular"/>
                <a:ea typeface="HK Modular"/>
                <a:cs typeface="HK Modular"/>
                <a:sym typeface="HK Modular"/>
              </a:rPr>
              <a:t>CONSISTENCIA Y ESTANDARES</a:t>
            </a:r>
          </a:p>
        </p:txBody>
      </p:sp>
      <p:sp>
        <p:nvSpPr>
          <p:cNvPr name="TextBox 9" id="9"/>
          <p:cNvSpPr txBox="true"/>
          <p:nvPr/>
        </p:nvSpPr>
        <p:spPr>
          <a:xfrm rot="0">
            <a:off x="1882140" y="6449154"/>
            <a:ext cx="7825316" cy="28091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Las personas ya tienen experiencia con otros productos, como por ejemplo un like es un pulgar hacia arriba o favoritos es una estrella, cambiar ciertos elementos ya establecidos obligara a los usuarios a aprender algo nuevo, eso debe evitarse</a:t>
            </a:r>
          </a:p>
        </p:txBody>
      </p:sp>
      <p:sp>
        <p:nvSpPr>
          <p:cNvPr name="TextBox 10" id="10"/>
          <p:cNvSpPr txBox="true"/>
          <p:nvPr/>
        </p:nvSpPr>
        <p:spPr>
          <a:xfrm rot="0">
            <a:off x="12425225" y="4214659"/>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5D10EA"/>
                </a:solidFill>
                <a:latin typeface="HK Modular"/>
                <a:ea typeface="HK Modular"/>
                <a:cs typeface="HK Modular"/>
                <a:sym typeface="HK Modular"/>
              </a:rPr>
              <a:t>EJEMPLO</a:t>
            </a:r>
          </a:p>
        </p:txBody>
      </p:sp>
      <p:sp>
        <p:nvSpPr>
          <p:cNvPr name="TextBox 11" id="11"/>
          <p:cNvSpPr txBox="true"/>
          <p:nvPr/>
        </p:nvSpPr>
        <p:spPr>
          <a:xfrm rot="0">
            <a:off x="1028700" y="3951432"/>
            <a:ext cx="10097072" cy="1825853"/>
          </a:xfrm>
          <a:prstGeom prst="rect">
            <a:avLst/>
          </a:prstGeom>
        </p:spPr>
        <p:txBody>
          <a:bodyPr anchor="t" rtlCol="false" tIns="0" lIns="0" bIns="0" rIns="0">
            <a:spAutoFit/>
          </a:bodyPr>
          <a:lstStyle/>
          <a:p>
            <a:pPr algn="ctr">
              <a:lnSpc>
                <a:spcPts val="3632"/>
              </a:lnSpc>
              <a:spcBef>
                <a:spcPct val="0"/>
              </a:spcBef>
            </a:pPr>
            <a:r>
              <a:rPr lang="en-US" sz="2594">
                <a:solidFill>
                  <a:srgbClr val="FFFFFF"/>
                </a:solidFill>
                <a:latin typeface="Poppins"/>
                <a:ea typeface="Poppins"/>
                <a:cs typeface="Poppins"/>
                <a:sym typeface="Poppins"/>
              </a:rPr>
              <a:t>Los usuarios no deben verse obligados si diferentes palabras, situaciones o acciones significan lo mismo. Se debe seguir las convenciones establecidas en la plataforma y la industria.</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0165764" y="4449131"/>
            <a:ext cx="7464024" cy="5234147"/>
          </a:xfrm>
          <a:custGeom>
            <a:avLst/>
            <a:gdLst/>
            <a:ahLst/>
            <a:cxnLst/>
            <a:rect r="r" b="b" t="t" l="l"/>
            <a:pathLst>
              <a:path h="5234147" w="7464024">
                <a:moveTo>
                  <a:pt x="0" y="0"/>
                </a:moveTo>
                <a:lnTo>
                  <a:pt x="7464024" y="0"/>
                </a:lnTo>
                <a:lnTo>
                  <a:pt x="7464024" y="5234147"/>
                </a:lnTo>
                <a:lnTo>
                  <a:pt x="0" y="5234147"/>
                </a:lnTo>
                <a:lnTo>
                  <a:pt x="0" y="0"/>
                </a:lnTo>
                <a:close/>
              </a:path>
            </a:pathLst>
          </a:custGeom>
          <a:blipFill>
            <a:blip r:embed="rId4"/>
            <a:stretch>
              <a:fillRect l="0" t="0" r="0" b="0"/>
            </a:stretch>
          </a:blipFill>
        </p:spPr>
      </p:sp>
      <p:sp>
        <p:nvSpPr>
          <p:cNvPr name="TextBox 8" id="8"/>
          <p:cNvSpPr txBox="true"/>
          <p:nvPr/>
        </p:nvSpPr>
        <p:spPr>
          <a:xfrm rot="0">
            <a:off x="4010530" y="1878351"/>
            <a:ext cx="9618910" cy="683037"/>
          </a:xfrm>
          <a:prstGeom prst="rect">
            <a:avLst/>
          </a:prstGeom>
        </p:spPr>
        <p:txBody>
          <a:bodyPr anchor="t" rtlCol="false" tIns="0" lIns="0" bIns="0" rIns="0">
            <a:spAutoFit/>
          </a:bodyPr>
          <a:lstStyle/>
          <a:p>
            <a:pPr algn="ctr">
              <a:lnSpc>
                <a:spcPts val="5611"/>
              </a:lnSpc>
              <a:spcBef>
                <a:spcPct val="0"/>
              </a:spcBef>
            </a:pPr>
            <a:r>
              <a:rPr lang="en-US" sz="4008">
                <a:solidFill>
                  <a:srgbClr val="38B6FF"/>
                </a:solidFill>
                <a:latin typeface="HK Modular"/>
                <a:ea typeface="HK Modular"/>
                <a:cs typeface="HK Modular"/>
                <a:sym typeface="HK Modular"/>
              </a:rPr>
              <a:t>PREVENCION DE ERRORES</a:t>
            </a:r>
          </a:p>
        </p:txBody>
      </p:sp>
      <p:sp>
        <p:nvSpPr>
          <p:cNvPr name="TextBox 9" id="9"/>
          <p:cNvSpPr txBox="true"/>
          <p:nvPr/>
        </p:nvSpPr>
        <p:spPr>
          <a:xfrm rot="0">
            <a:off x="1428051" y="3473183"/>
            <a:ext cx="7825316" cy="187569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Como su nombre lo indica, mucho mejor que un buen diseño de mensajes de error es realizar un diseño cuidadoso que prevenga la ocurrencia de problemas</a:t>
            </a:r>
          </a:p>
        </p:txBody>
      </p:sp>
      <p:sp>
        <p:nvSpPr>
          <p:cNvPr name="TextBox 10" id="10"/>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5D10EA"/>
                </a:solidFill>
                <a:latin typeface="HK Modular"/>
                <a:ea typeface="HK Modular"/>
                <a:cs typeface="HK Modular"/>
                <a:sym typeface="HK Modular"/>
              </a:rPr>
              <a:t>EJEMPLO</a:t>
            </a:r>
          </a:p>
        </p:txBody>
      </p:sp>
      <p:sp>
        <p:nvSpPr>
          <p:cNvPr name="TextBox 11" id="11"/>
          <p:cNvSpPr txBox="true"/>
          <p:nvPr/>
        </p:nvSpPr>
        <p:spPr>
          <a:xfrm rot="0">
            <a:off x="1428051" y="5968375"/>
            <a:ext cx="7825316" cy="327587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Los buenos mensajes de error son importantes. Pero mejor aún, es crear un diseño que evite que los errores ocurran.</a:t>
            </a:r>
          </a:p>
          <a:p>
            <a:pPr algn="ctr">
              <a:lnSpc>
                <a:spcPts val="3715"/>
              </a:lnSpc>
            </a:pPr>
            <a:r>
              <a:rPr lang="en-US" sz="2653">
                <a:solidFill>
                  <a:srgbClr val="FFFFFF"/>
                </a:solidFill>
                <a:latin typeface="Poppins"/>
                <a:ea typeface="Poppins"/>
                <a:cs typeface="Poppins"/>
                <a:sym typeface="Poppins"/>
              </a:rPr>
              <a:t>No esperes que los usuarios se equivoquen, agrega elementos que lo ayuden a prevenir los errores.</a:t>
            </a:r>
          </a:p>
          <a:p>
            <a:pPr algn="ctr">
              <a:lnSpc>
                <a:spcPts val="3715"/>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0188827" y="4698666"/>
            <a:ext cx="7429909" cy="4207186"/>
          </a:xfrm>
          <a:custGeom>
            <a:avLst/>
            <a:gdLst/>
            <a:ahLst/>
            <a:cxnLst/>
            <a:rect r="r" b="b" t="t" l="l"/>
            <a:pathLst>
              <a:path h="4207186" w="7429909">
                <a:moveTo>
                  <a:pt x="0" y="0"/>
                </a:moveTo>
                <a:lnTo>
                  <a:pt x="7429909" y="0"/>
                </a:lnTo>
                <a:lnTo>
                  <a:pt x="7429909" y="4207186"/>
                </a:lnTo>
                <a:lnTo>
                  <a:pt x="0" y="4207186"/>
                </a:lnTo>
                <a:lnTo>
                  <a:pt x="0" y="0"/>
                </a:lnTo>
                <a:close/>
              </a:path>
            </a:pathLst>
          </a:custGeom>
          <a:blipFill>
            <a:blip r:embed="rId4"/>
            <a:stretch>
              <a:fillRect l="0" t="0" r="0" b="0"/>
            </a:stretch>
          </a:blipFill>
        </p:spPr>
      </p:sp>
      <p:sp>
        <p:nvSpPr>
          <p:cNvPr name="TextBox 8" id="8"/>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38B6FF"/>
                </a:solidFill>
                <a:latin typeface="HK Modular"/>
                <a:ea typeface="HK Modular"/>
                <a:cs typeface="HK Modular"/>
                <a:sym typeface="HK Modular"/>
              </a:rPr>
              <a:t>RECONOCIMIENTO ANTES QUE RECUERDO</a:t>
            </a:r>
          </a:p>
        </p:txBody>
      </p:sp>
      <p:sp>
        <p:nvSpPr>
          <p:cNvPr name="TextBox 9" id="9"/>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5D10EA"/>
                </a:solidFill>
                <a:latin typeface="HK Modular"/>
                <a:ea typeface="HK Modular"/>
                <a:cs typeface="HK Modular"/>
                <a:sym typeface="HK Modular"/>
              </a:rPr>
              <a:t>EJEMPLO</a:t>
            </a:r>
          </a:p>
        </p:txBody>
      </p:sp>
      <p:sp>
        <p:nvSpPr>
          <p:cNvPr name="TextBox 10" id="10"/>
          <p:cNvSpPr txBox="true"/>
          <p:nvPr/>
        </p:nvSpPr>
        <p:spPr>
          <a:xfrm rot="0">
            <a:off x="1973572" y="3786126"/>
            <a:ext cx="7170428" cy="5564559"/>
          </a:xfrm>
          <a:prstGeom prst="rect">
            <a:avLst/>
          </a:prstGeom>
        </p:spPr>
        <p:txBody>
          <a:bodyPr anchor="t" rtlCol="false" tIns="0" lIns="0" bIns="0" rIns="0">
            <a:spAutoFit/>
          </a:bodyPr>
          <a:lstStyle/>
          <a:p>
            <a:pPr algn="ctr">
              <a:lnSpc>
                <a:spcPts val="3655"/>
              </a:lnSpc>
              <a:spcBef>
                <a:spcPct val="0"/>
              </a:spcBef>
            </a:pPr>
            <a:r>
              <a:rPr lang="en-US" sz="2611">
                <a:solidFill>
                  <a:srgbClr val="FFFFFF"/>
                </a:solidFill>
                <a:latin typeface="Poppins"/>
                <a:ea typeface="Poppins"/>
                <a:cs typeface="Poppins"/>
                <a:sym typeface="Poppins"/>
              </a:rPr>
              <a:t>Minimizar el uso de memoria del usuario haciendo visibles los elementos, las acciones y las opciones.</a:t>
            </a:r>
          </a:p>
          <a:p>
            <a:pPr algn="ctr">
              <a:lnSpc>
                <a:spcPts val="3655"/>
              </a:lnSpc>
              <a:spcBef>
                <a:spcPct val="0"/>
              </a:spcBef>
            </a:pPr>
            <a:r>
              <a:rPr lang="en-US" sz="2611">
                <a:solidFill>
                  <a:srgbClr val="FFFFFF"/>
                </a:solidFill>
                <a:latin typeface="Poppins"/>
                <a:ea typeface="Poppins"/>
                <a:cs typeface="Poppins"/>
                <a:sym typeface="Poppins"/>
              </a:rPr>
              <a:t>Las interfaces deben promover el reconocimiento y evitar que los usuarios memoricen sus acciones o elementos al desplazarse por el sistema. Algunas preguntas que te pueden ayudar son: ¿Conoce el usuario de donde viene y a donde va? ¿El usuario tiene que recordar cosas para entender lo que esta pasando? y ¿cómo lo ayudamos a recodar?</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0239183" y="4674247"/>
            <a:ext cx="7786078" cy="4584053"/>
          </a:xfrm>
          <a:custGeom>
            <a:avLst/>
            <a:gdLst/>
            <a:ahLst/>
            <a:cxnLst/>
            <a:rect r="r" b="b" t="t" l="l"/>
            <a:pathLst>
              <a:path h="4584053" w="7786078">
                <a:moveTo>
                  <a:pt x="0" y="0"/>
                </a:moveTo>
                <a:lnTo>
                  <a:pt x="7786078" y="0"/>
                </a:lnTo>
                <a:lnTo>
                  <a:pt x="7786078" y="4584053"/>
                </a:lnTo>
                <a:lnTo>
                  <a:pt x="0" y="4584053"/>
                </a:lnTo>
                <a:lnTo>
                  <a:pt x="0" y="0"/>
                </a:lnTo>
                <a:close/>
              </a:path>
            </a:pathLst>
          </a:custGeom>
          <a:blipFill>
            <a:blip r:embed="rId4"/>
            <a:stretch>
              <a:fillRect l="0" t="0" r="0" b="0"/>
            </a:stretch>
          </a:blipFill>
        </p:spPr>
      </p:sp>
      <p:sp>
        <p:nvSpPr>
          <p:cNvPr name="TextBox 8" id="8"/>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38B6FF"/>
                </a:solidFill>
                <a:latin typeface="HK Modular"/>
                <a:ea typeface="HK Modular"/>
                <a:cs typeface="HK Modular"/>
                <a:sym typeface="HK Modular"/>
              </a:rPr>
              <a:t>FLEXIBILIDAD Y EFICIENCIA DE USO</a:t>
            </a:r>
          </a:p>
        </p:txBody>
      </p:sp>
      <p:sp>
        <p:nvSpPr>
          <p:cNvPr name="TextBox 9" id="9"/>
          <p:cNvSpPr txBox="true"/>
          <p:nvPr/>
        </p:nvSpPr>
        <p:spPr>
          <a:xfrm rot="0">
            <a:off x="1428051" y="4080020"/>
            <a:ext cx="7825316" cy="420932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Los usuarios más experimentados, deben poseer atajos y aceleradores para poder realizar sus operaciones mas habituales. De esta forma, tiene alternativas para personalizar sus acciones frecuentes.</a:t>
            </a:r>
          </a:p>
          <a:p>
            <a:pPr algn="ctr">
              <a:lnSpc>
                <a:spcPts val="3715"/>
              </a:lnSpc>
            </a:pPr>
            <a:r>
              <a:rPr lang="en-US" sz="2653">
                <a:solidFill>
                  <a:srgbClr val="FFFFFF"/>
                </a:solidFill>
                <a:latin typeface="Poppins"/>
                <a:ea typeface="Poppins"/>
                <a:cs typeface="Poppins"/>
                <a:sym typeface="Poppins"/>
              </a:rPr>
              <a:t>La clave es la personalización tanto del contenido como de la funcionalidad para cada usuario.</a:t>
            </a:r>
          </a:p>
          <a:p>
            <a:pPr algn="ctr">
              <a:lnSpc>
                <a:spcPts val="3715"/>
              </a:lnSpc>
            </a:pPr>
          </a:p>
        </p:txBody>
      </p:sp>
      <p:sp>
        <p:nvSpPr>
          <p:cNvPr name="TextBox 10" id="10"/>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5D10EA"/>
                </a:solidFill>
                <a:latin typeface="HK Modular"/>
                <a:ea typeface="HK Modular"/>
                <a:cs typeface="HK Modular"/>
                <a:sym typeface="HK Modular"/>
              </a:rPr>
              <a:t>EJEMPLO</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9869322" y="4527425"/>
            <a:ext cx="7933616" cy="4175066"/>
          </a:xfrm>
          <a:custGeom>
            <a:avLst/>
            <a:gdLst/>
            <a:ahLst/>
            <a:cxnLst/>
            <a:rect r="r" b="b" t="t" l="l"/>
            <a:pathLst>
              <a:path h="4175066" w="7933616">
                <a:moveTo>
                  <a:pt x="0" y="0"/>
                </a:moveTo>
                <a:lnTo>
                  <a:pt x="7933617" y="0"/>
                </a:lnTo>
                <a:lnTo>
                  <a:pt x="7933617" y="4175066"/>
                </a:lnTo>
                <a:lnTo>
                  <a:pt x="0" y="4175066"/>
                </a:lnTo>
                <a:lnTo>
                  <a:pt x="0" y="0"/>
                </a:lnTo>
                <a:close/>
              </a:path>
            </a:pathLst>
          </a:custGeom>
          <a:blipFill>
            <a:blip r:embed="rId4"/>
            <a:stretch>
              <a:fillRect l="0" t="0" r="0" b="0"/>
            </a:stretch>
          </a:blipFill>
        </p:spPr>
      </p:sp>
      <p:sp>
        <p:nvSpPr>
          <p:cNvPr name="TextBox 8" id="8"/>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38B6FF"/>
                </a:solidFill>
                <a:latin typeface="HK Modular"/>
                <a:ea typeface="HK Modular"/>
                <a:cs typeface="HK Modular"/>
                <a:sym typeface="HK Modular"/>
              </a:rPr>
              <a:t>ESTETICA Y DISEÑO MINIMALISTA</a:t>
            </a:r>
          </a:p>
        </p:txBody>
      </p:sp>
      <p:sp>
        <p:nvSpPr>
          <p:cNvPr name="TextBox 9" id="9"/>
          <p:cNvSpPr txBox="true"/>
          <p:nvPr/>
        </p:nvSpPr>
        <p:spPr>
          <a:xfrm rot="0">
            <a:off x="1428051" y="4451225"/>
            <a:ext cx="7825316" cy="420932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El “diseño minimalista” no es solo una moda. Además, no se refiere exclusivamente a la estética flat, sino a no añadir más información de la estrictamente necesaria.</a:t>
            </a:r>
          </a:p>
          <a:p>
            <a:pPr algn="ctr">
              <a:lnSpc>
                <a:spcPts val="3715"/>
              </a:lnSpc>
            </a:pPr>
            <a:r>
              <a:rPr lang="en-US" sz="2653">
                <a:solidFill>
                  <a:srgbClr val="FFFFFF"/>
                </a:solidFill>
                <a:latin typeface="Poppins"/>
                <a:ea typeface="Poppins"/>
                <a:cs typeface="Poppins"/>
                <a:sym typeface="Poppins"/>
              </a:rPr>
              <a:t>Para lograrlo, pregúntate si toda la información que muestras en la interfaz es necesaria y útil en ese momento exacto. Si no lo es, ocúltala o quítala.</a:t>
            </a:r>
          </a:p>
          <a:p>
            <a:pPr algn="ctr">
              <a:lnSpc>
                <a:spcPts val="3715"/>
              </a:lnSpc>
            </a:pPr>
          </a:p>
        </p:txBody>
      </p:sp>
      <p:sp>
        <p:nvSpPr>
          <p:cNvPr name="TextBox 10" id="10"/>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5D10EA"/>
                </a:solidFill>
                <a:latin typeface="HK Modular"/>
                <a:ea typeface="HK Modular"/>
                <a:cs typeface="HK Modular"/>
                <a:sym typeface="HK Modular"/>
              </a:rPr>
              <a:t>EJEMPLO</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0935125" y="4445837"/>
            <a:ext cx="6459509" cy="4812463"/>
          </a:xfrm>
          <a:custGeom>
            <a:avLst/>
            <a:gdLst/>
            <a:ahLst/>
            <a:cxnLst/>
            <a:rect r="r" b="b" t="t" l="l"/>
            <a:pathLst>
              <a:path h="4812463" w="6459509">
                <a:moveTo>
                  <a:pt x="0" y="0"/>
                </a:moveTo>
                <a:lnTo>
                  <a:pt x="6459509" y="0"/>
                </a:lnTo>
                <a:lnTo>
                  <a:pt x="6459509" y="4812463"/>
                </a:lnTo>
                <a:lnTo>
                  <a:pt x="0" y="4812463"/>
                </a:lnTo>
                <a:lnTo>
                  <a:pt x="0" y="0"/>
                </a:lnTo>
                <a:close/>
              </a:path>
            </a:pathLst>
          </a:custGeom>
          <a:blipFill>
            <a:blip r:embed="rId4"/>
            <a:stretch>
              <a:fillRect l="0" t="0" r="0" b="0"/>
            </a:stretch>
          </a:blipFill>
        </p:spPr>
      </p:sp>
      <p:sp>
        <p:nvSpPr>
          <p:cNvPr name="TextBox 8" id="8"/>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38B6FF"/>
                </a:solidFill>
                <a:latin typeface="HK Modular"/>
                <a:ea typeface="HK Modular"/>
                <a:cs typeface="HK Modular"/>
                <a:sym typeface="HK Modular"/>
              </a:rPr>
              <a:t>AYUDAR A LOS USUARIOS A RECONOCER</a:t>
            </a:r>
          </a:p>
        </p:txBody>
      </p:sp>
      <p:sp>
        <p:nvSpPr>
          <p:cNvPr name="TextBox 9" id="9"/>
          <p:cNvSpPr txBox="true"/>
          <p:nvPr/>
        </p:nvSpPr>
        <p:spPr>
          <a:xfrm rot="0">
            <a:off x="1318684" y="3776601"/>
            <a:ext cx="7825316" cy="187569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Los mensajes de error deben expresarse en un lenguaje entendible, sin códigos de error. Se debe describir con precisión el problema y sugerir constructivamente una solución.</a:t>
            </a:r>
          </a:p>
        </p:txBody>
      </p:sp>
      <p:sp>
        <p:nvSpPr>
          <p:cNvPr name="TextBox 10" id="10"/>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5D10EA"/>
                </a:solidFill>
                <a:latin typeface="HK Modular"/>
                <a:ea typeface="HK Modular"/>
                <a:cs typeface="HK Modular"/>
                <a:sym typeface="HK Modular"/>
              </a:rPr>
              <a:t>EJEMPLO</a:t>
            </a:r>
          </a:p>
        </p:txBody>
      </p:sp>
      <p:sp>
        <p:nvSpPr>
          <p:cNvPr name="TextBox 11" id="11"/>
          <p:cNvSpPr txBox="true"/>
          <p:nvPr/>
        </p:nvSpPr>
        <p:spPr>
          <a:xfrm rot="0">
            <a:off x="1428051" y="6529014"/>
            <a:ext cx="7825316" cy="327587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Permite que el usuario comprenda qué está pasando y cómo solucionarlo. Un mal ejemplo de cómo hacer esto es el clásico “se ha producido un error con el usuario o la contraseña”: es lo mismo que no decir nada, porque ni siquiera permite al usuario ver en qué se está equivocando.</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1164081" y="4742469"/>
            <a:ext cx="6001598" cy="4238628"/>
          </a:xfrm>
          <a:custGeom>
            <a:avLst/>
            <a:gdLst/>
            <a:ahLst/>
            <a:cxnLst/>
            <a:rect r="r" b="b" t="t" l="l"/>
            <a:pathLst>
              <a:path h="4238628" w="6001598">
                <a:moveTo>
                  <a:pt x="0" y="0"/>
                </a:moveTo>
                <a:lnTo>
                  <a:pt x="6001597" y="0"/>
                </a:lnTo>
                <a:lnTo>
                  <a:pt x="6001597" y="4238628"/>
                </a:lnTo>
                <a:lnTo>
                  <a:pt x="0" y="4238628"/>
                </a:lnTo>
                <a:lnTo>
                  <a:pt x="0" y="0"/>
                </a:lnTo>
                <a:close/>
              </a:path>
            </a:pathLst>
          </a:custGeom>
          <a:blipFill>
            <a:blip r:embed="rId4"/>
            <a:stretch>
              <a:fillRect l="0" t="0" r="0" b="0"/>
            </a:stretch>
          </a:blipFill>
        </p:spPr>
      </p:sp>
      <p:sp>
        <p:nvSpPr>
          <p:cNvPr name="TextBox 8" id="8"/>
          <p:cNvSpPr txBox="true"/>
          <p:nvPr/>
        </p:nvSpPr>
        <p:spPr>
          <a:xfrm rot="0">
            <a:off x="4010530" y="1878351"/>
            <a:ext cx="9618910" cy="683037"/>
          </a:xfrm>
          <a:prstGeom prst="rect">
            <a:avLst/>
          </a:prstGeom>
        </p:spPr>
        <p:txBody>
          <a:bodyPr anchor="t" rtlCol="false" tIns="0" lIns="0" bIns="0" rIns="0">
            <a:spAutoFit/>
          </a:bodyPr>
          <a:lstStyle/>
          <a:p>
            <a:pPr algn="ctr">
              <a:lnSpc>
                <a:spcPts val="5611"/>
              </a:lnSpc>
              <a:spcBef>
                <a:spcPct val="0"/>
              </a:spcBef>
            </a:pPr>
            <a:r>
              <a:rPr lang="en-US" sz="4008">
                <a:solidFill>
                  <a:srgbClr val="38B6FF"/>
                </a:solidFill>
                <a:latin typeface="HK Modular"/>
                <a:ea typeface="HK Modular"/>
                <a:cs typeface="HK Modular"/>
                <a:sym typeface="HK Modular"/>
              </a:rPr>
              <a:t>AYUDA Y DOCUMENTACION</a:t>
            </a:r>
          </a:p>
        </p:txBody>
      </p:sp>
      <p:sp>
        <p:nvSpPr>
          <p:cNvPr name="TextBox 9" id="9"/>
          <p:cNvSpPr txBox="true"/>
          <p:nvPr/>
        </p:nvSpPr>
        <p:spPr>
          <a:xfrm rot="0">
            <a:off x="1852484" y="3776601"/>
            <a:ext cx="7825316" cy="46760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Lo ideal es que un sistema no necesite ninguna explicación adicional. Pero en algunos casos, se debe proporcionar una documentación para ayudar a los usuarios a entender cómo completar sus tareas.</a:t>
            </a:r>
          </a:p>
          <a:p>
            <a:pPr algn="ctr">
              <a:lnSpc>
                <a:spcPts val="3715"/>
              </a:lnSpc>
            </a:pPr>
            <a:r>
              <a:rPr lang="en-US" sz="2653">
                <a:solidFill>
                  <a:srgbClr val="FFFFFF"/>
                </a:solidFill>
                <a:latin typeface="Poppins"/>
                <a:ea typeface="Poppins"/>
                <a:cs typeface="Poppins"/>
                <a:sym typeface="Poppins"/>
              </a:rPr>
              <a:t>El contenido de ayuda y documentación deben ser fáciles de encontrar y tener pasos definidos de manera concisa (es decir, corto no extenso).</a:t>
            </a:r>
          </a:p>
          <a:p>
            <a:pPr algn="ctr">
              <a:lnSpc>
                <a:spcPts val="3715"/>
              </a:lnSpc>
            </a:pPr>
          </a:p>
        </p:txBody>
      </p:sp>
      <p:sp>
        <p:nvSpPr>
          <p:cNvPr name="TextBox 10" id="10"/>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5D10EA"/>
                </a:solidFill>
                <a:latin typeface="HK Modular"/>
                <a:ea typeface="HK Modular"/>
                <a:cs typeface="HK Modular"/>
                <a:sym typeface="HK Modular"/>
              </a:rPr>
              <a:t>EJEMPLO</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7086600" y="2991004"/>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3703868" y="7800237"/>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3A069C"/>
                </a:solidFill>
                <a:latin typeface="HK Modular"/>
                <a:ea typeface="HK Modular"/>
                <a:cs typeface="HK Modular"/>
                <a:sym typeface="HK Modular"/>
              </a:rPr>
              <a:t>LEYES DE UX</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TextBox 7" id="7"/>
          <p:cNvSpPr txBox="true"/>
          <p:nvPr/>
        </p:nvSpPr>
        <p:spPr>
          <a:xfrm rot="0">
            <a:off x="3483542" y="6609003"/>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LEYES DE UX</a:t>
            </a:r>
          </a:p>
        </p:txBody>
      </p:sp>
      <p:sp>
        <p:nvSpPr>
          <p:cNvPr name="TextBox 8" id="8"/>
          <p:cNvSpPr txBox="true"/>
          <p:nvPr/>
        </p:nvSpPr>
        <p:spPr>
          <a:xfrm rot="0">
            <a:off x="3877234" y="7820076"/>
            <a:ext cx="10092880" cy="1823747"/>
          </a:xfrm>
          <a:prstGeom prst="rect">
            <a:avLst/>
          </a:prstGeom>
        </p:spPr>
        <p:txBody>
          <a:bodyPr anchor="t" rtlCol="false" tIns="0" lIns="0" bIns="0" rIns="0">
            <a:spAutoFit/>
          </a:bodyPr>
          <a:lstStyle/>
          <a:p>
            <a:pPr algn="ctr">
              <a:lnSpc>
                <a:spcPts val="4791"/>
              </a:lnSpc>
            </a:pPr>
            <a:r>
              <a:rPr lang="en-US" sz="3422">
                <a:solidFill>
                  <a:srgbClr val="FFFFFF"/>
                </a:solidFill>
                <a:latin typeface="Poppins"/>
                <a:ea typeface="Poppins"/>
                <a:cs typeface="Poppins"/>
                <a:sym typeface="Poppins"/>
              </a:rPr>
              <a:t>Son una coleccion de mejores practicas que los diseñadores pueden considerar al crear interfaces de usuario</a:t>
            </a:r>
          </a:p>
        </p:txBody>
      </p:sp>
      <p:sp>
        <p:nvSpPr>
          <p:cNvPr name="TextBox 9" id="9"/>
          <p:cNvSpPr txBox="true"/>
          <p:nvPr/>
        </p:nvSpPr>
        <p:spPr>
          <a:xfrm rot="0">
            <a:off x="3703868" y="2117757"/>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QUE ES UX ?</a:t>
            </a:r>
          </a:p>
        </p:txBody>
      </p:sp>
      <p:sp>
        <p:nvSpPr>
          <p:cNvPr name="TextBox 10" id="10"/>
          <p:cNvSpPr txBox="true"/>
          <p:nvPr/>
        </p:nvSpPr>
        <p:spPr>
          <a:xfrm rot="0">
            <a:off x="1971107" y="3299466"/>
            <a:ext cx="14837774" cy="3027685"/>
          </a:xfrm>
          <a:prstGeom prst="rect">
            <a:avLst/>
          </a:prstGeom>
        </p:spPr>
        <p:txBody>
          <a:bodyPr anchor="t" rtlCol="false" tIns="0" lIns="0" bIns="0" rIns="0">
            <a:spAutoFit/>
          </a:bodyPr>
          <a:lstStyle/>
          <a:p>
            <a:pPr algn="ctr">
              <a:lnSpc>
                <a:spcPts val="4791"/>
              </a:lnSpc>
            </a:pPr>
            <a:r>
              <a:rPr lang="en-US" sz="3422">
                <a:solidFill>
                  <a:srgbClr val="FFFFFF"/>
                </a:solidFill>
                <a:latin typeface="Poppins"/>
                <a:ea typeface="Poppins"/>
                <a:cs typeface="Poppins"/>
                <a:sym typeface="Poppins"/>
              </a:rPr>
              <a:t>User Experience o Experiencia de usuario, se refiere a la experiencia general que tiene una persona al interactuar con un producto, sistema o servicio, su objetivo es diseñar interacciones intuitivas, eficientes, accesibles y satisfactorias centrandose en la funcionalidad</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853635" y="3683333"/>
            <a:ext cx="4113907" cy="5158503"/>
          </a:xfrm>
          <a:custGeom>
            <a:avLst/>
            <a:gdLst/>
            <a:ahLst/>
            <a:cxnLst/>
            <a:rect r="r" b="b" t="t" l="l"/>
            <a:pathLst>
              <a:path h="5158503" w="4113907">
                <a:moveTo>
                  <a:pt x="0" y="0"/>
                </a:moveTo>
                <a:lnTo>
                  <a:pt x="4113907" y="0"/>
                </a:lnTo>
                <a:lnTo>
                  <a:pt x="4113907" y="5158503"/>
                </a:lnTo>
                <a:lnTo>
                  <a:pt x="0" y="5158503"/>
                </a:lnTo>
                <a:lnTo>
                  <a:pt x="0" y="0"/>
                </a:lnTo>
                <a:close/>
              </a:path>
            </a:pathLst>
          </a:custGeom>
          <a:blipFill>
            <a:blip r:embed="rId4"/>
            <a:stretch>
              <a:fillRect l="0" t="0" r="0" b="0"/>
            </a:stretch>
          </a:blipFill>
        </p:spPr>
      </p:sp>
      <p:sp>
        <p:nvSpPr>
          <p:cNvPr name="Freeform 8" id="8"/>
          <p:cNvSpPr/>
          <p:nvPr/>
        </p:nvSpPr>
        <p:spPr>
          <a:xfrm flipH="false" flipV="false" rot="0">
            <a:off x="7490356" y="3683333"/>
            <a:ext cx="3941200" cy="5389675"/>
          </a:xfrm>
          <a:custGeom>
            <a:avLst/>
            <a:gdLst/>
            <a:ahLst/>
            <a:cxnLst/>
            <a:rect r="r" b="b" t="t" l="l"/>
            <a:pathLst>
              <a:path h="5389675" w="3941200">
                <a:moveTo>
                  <a:pt x="0" y="0"/>
                </a:moveTo>
                <a:lnTo>
                  <a:pt x="3941200" y="0"/>
                </a:lnTo>
                <a:lnTo>
                  <a:pt x="3941200" y="5389675"/>
                </a:lnTo>
                <a:lnTo>
                  <a:pt x="0" y="5389675"/>
                </a:lnTo>
                <a:lnTo>
                  <a:pt x="0" y="0"/>
                </a:lnTo>
                <a:close/>
              </a:path>
            </a:pathLst>
          </a:custGeom>
          <a:blipFill>
            <a:blip r:embed="rId5"/>
            <a:stretch>
              <a:fillRect l="0" t="0" r="0" b="0"/>
            </a:stretch>
          </a:blipFill>
        </p:spPr>
      </p:sp>
      <p:sp>
        <p:nvSpPr>
          <p:cNvPr name="Freeform 9" id="9"/>
          <p:cNvSpPr/>
          <p:nvPr/>
        </p:nvSpPr>
        <p:spPr>
          <a:xfrm flipH="false" flipV="false" rot="0">
            <a:off x="12955556" y="3683333"/>
            <a:ext cx="4190472" cy="5389675"/>
          </a:xfrm>
          <a:custGeom>
            <a:avLst/>
            <a:gdLst/>
            <a:ahLst/>
            <a:cxnLst/>
            <a:rect r="r" b="b" t="t" l="l"/>
            <a:pathLst>
              <a:path h="5389675" w="4190472">
                <a:moveTo>
                  <a:pt x="0" y="0"/>
                </a:moveTo>
                <a:lnTo>
                  <a:pt x="4190472" y="0"/>
                </a:lnTo>
                <a:lnTo>
                  <a:pt x="4190472" y="5389675"/>
                </a:lnTo>
                <a:lnTo>
                  <a:pt x="0" y="5389675"/>
                </a:lnTo>
                <a:lnTo>
                  <a:pt x="0" y="0"/>
                </a:lnTo>
                <a:close/>
              </a:path>
            </a:pathLst>
          </a:custGeom>
          <a:blipFill>
            <a:blip r:embed="rId6"/>
            <a:stretch>
              <a:fillRect l="0" t="0" r="0" b="0"/>
            </a:stretch>
          </a:blipFill>
        </p:spPr>
      </p:sp>
      <p:sp>
        <p:nvSpPr>
          <p:cNvPr name="TextBox 10" id="10"/>
          <p:cNvSpPr txBox="true"/>
          <p:nvPr/>
        </p:nvSpPr>
        <p:spPr>
          <a:xfrm rot="0">
            <a:off x="3453886" y="2087021"/>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LEYES DE UX</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379687" y="3536767"/>
            <a:ext cx="4148398" cy="5458418"/>
          </a:xfrm>
          <a:custGeom>
            <a:avLst/>
            <a:gdLst/>
            <a:ahLst/>
            <a:cxnLst/>
            <a:rect r="r" b="b" t="t" l="l"/>
            <a:pathLst>
              <a:path h="5458418" w="4148398">
                <a:moveTo>
                  <a:pt x="0" y="0"/>
                </a:moveTo>
                <a:lnTo>
                  <a:pt x="4148398" y="0"/>
                </a:lnTo>
                <a:lnTo>
                  <a:pt x="4148398" y="5458418"/>
                </a:lnTo>
                <a:lnTo>
                  <a:pt x="0" y="5458418"/>
                </a:lnTo>
                <a:lnTo>
                  <a:pt x="0" y="0"/>
                </a:lnTo>
                <a:close/>
              </a:path>
            </a:pathLst>
          </a:custGeom>
          <a:blipFill>
            <a:blip r:embed="rId4"/>
            <a:stretch>
              <a:fillRect l="0" t="0" r="0" b="0"/>
            </a:stretch>
          </a:blipFill>
        </p:spPr>
      </p:sp>
      <p:sp>
        <p:nvSpPr>
          <p:cNvPr name="Freeform 8" id="8"/>
          <p:cNvSpPr/>
          <p:nvPr/>
        </p:nvSpPr>
        <p:spPr>
          <a:xfrm flipH="false" flipV="false" rot="0">
            <a:off x="6845241" y="3536767"/>
            <a:ext cx="4816251" cy="5458418"/>
          </a:xfrm>
          <a:custGeom>
            <a:avLst/>
            <a:gdLst/>
            <a:ahLst/>
            <a:cxnLst/>
            <a:rect r="r" b="b" t="t" l="l"/>
            <a:pathLst>
              <a:path h="5458418" w="4816251">
                <a:moveTo>
                  <a:pt x="0" y="0"/>
                </a:moveTo>
                <a:lnTo>
                  <a:pt x="4816251" y="0"/>
                </a:lnTo>
                <a:lnTo>
                  <a:pt x="4816251" y="5458418"/>
                </a:lnTo>
                <a:lnTo>
                  <a:pt x="0" y="5458418"/>
                </a:lnTo>
                <a:lnTo>
                  <a:pt x="0" y="0"/>
                </a:lnTo>
                <a:close/>
              </a:path>
            </a:pathLst>
          </a:custGeom>
          <a:blipFill>
            <a:blip r:embed="rId5"/>
            <a:stretch>
              <a:fillRect l="0" t="0" r="0" b="0"/>
            </a:stretch>
          </a:blipFill>
        </p:spPr>
      </p:sp>
      <p:sp>
        <p:nvSpPr>
          <p:cNvPr name="Freeform 9" id="9"/>
          <p:cNvSpPr/>
          <p:nvPr/>
        </p:nvSpPr>
        <p:spPr>
          <a:xfrm flipH="false" flipV="false" rot="0">
            <a:off x="12975942" y="3536767"/>
            <a:ext cx="4505707" cy="5721533"/>
          </a:xfrm>
          <a:custGeom>
            <a:avLst/>
            <a:gdLst/>
            <a:ahLst/>
            <a:cxnLst/>
            <a:rect r="r" b="b" t="t" l="l"/>
            <a:pathLst>
              <a:path h="5721533" w="4505707">
                <a:moveTo>
                  <a:pt x="0" y="0"/>
                </a:moveTo>
                <a:lnTo>
                  <a:pt x="4505708" y="0"/>
                </a:lnTo>
                <a:lnTo>
                  <a:pt x="4505708" y="5721533"/>
                </a:lnTo>
                <a:lnTo>
                  <a:pt x="0" y="5721533"/>
                </a:lnTo>
                <a:lnTo>
                  <a:pt x="0" y="0"/>
                </a:lnTo>
                <a:close/>
              </a:path>
            </a:pathLst>
          </a:custGeom>
          <a:blipFill>
            <a:blip r:embed="rId6"/>
            <a:stretch>
              <a:fillRect l="0" t="0" r="0" b="0"/>
            </a:stretch>
          </a:blipFill>
        </p:spPr>
      </p:sp>
      <p:sp>
        <p:nvSpPr>
          <p:cNvPr name="TextBox 10" id="10"/>
          <p:cNvSpPr txBox="true"/>
          <p:nvPr/>
        </p:nvSpPr>
        <p:spPr>
          <a:xfrm rot="0">
            <a:off x="3453886" y="2087021"/>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LEYES DE UX</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085470"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284739" y="3701668"/>
            <a:ext cx="3966307" cy="4454651"/>
          </a:xfrm>
          <a:custGeom>
            <a:avLst/>
            <a:gdLst/>
            <a:ahLst/>
            <a:cxnLst/>
            <a:rect r="r" b="b" t="t" l="l"/>
            <a:pathLst>
              <a:path h="4454651" w="3966307">
                <a:moveTo>
                  <a:pt x="0" y="0"/>
                </a:moveTo>
                <a:lnTo>
                  <a:pt x="3966307" y="0"/>
                </a:lnTo>
                <a:lnTo>
                  <a:pt x="3966307" y="4454651"/>
                </a:lnTo>
                <a:lnTo>
                  <a:pt x="0" y="4454651"/>
                </a:lnTo>
                <a:lnTo>
                  <a:pt x="0" y="0"/>
                </a:lnTo>
                <a:close/>
              </a:path>
            </a:pathLst>
          </a:custGeom>
          <a:blipFill>
            <a:blip r:embed="rId4"/>
            <a:stretch>
              <a:fillRect l="0" t="0" r="0" b="0"/>
            </a:stretch>
          </a:blipFill>
        </p:spPr>
      </p:sp>
      <p:sp>
        <p:nvSpPr>
          <p:cNvPr name="Freeform 8" id="8"/>
          <p:cNvSpPr/>
          <p:nvPr/>
        </p:nvSpPr>
        <p:spPr>
          <a:xfrm flipH="false" flipV="false" rot="0">
            <a:off x="7118619" y="3701668"/>
            <a:ext cx="3550798" cy="5045539"/>
          </a:xfrm>
          <a:custGeom>
            <a:avLst/>
            <a:gdLst/>
            <a:ahLst/>
            <a:cxnLst/>
            <a:rect r="r" b="b" t="t" l="l"/>
            <a:pathLst>
              <a:path h="5045539" w="3550798">
                <a:moveTo>
                  <a:pt x="0" y="0"/>
                </a:moveTo>
                <a:lnTo>
                  <a:pt x="3550798" y="0"/>
                </a:lnTo>
                <a:lnTo>
                  <a:pt x="3550798" y="5045539"/>
                </a:lnTo>
                <a:lnTo>
                  <a:pt x="0" y="5045539"/>
                </a:lnTo>
                <a:lnTo>
                  <a:pt x="0" y="0"/>
                </a:lnTo>
                <a:close/>
              </a:path>
            </a:pathLst>
          </a:custGeom>
          <a:blipFill>
            <a:blip r:embed="rId5"/>
            <a:stretch>
              <a:fillRect l="0" t="0" r="0" b="0"/>
            </a:stretch>
          </a:blipFill>
        </p:spPr>
      </p:sp>
      <p:sp>
        <p:nvSpPr>
          <p:cNvPr name="Freeform 9" id="9"/>
          <p:cNvSpPr/>
          <p:nvPr/>
        </p:nvSpPr>
        <p:spPr>
          <a:xfrm flipH="false" flipV="false" rot="0">
            <a:off x="12302709" y="3701668"/>
            <a:ext cx="4062881" cy="5015903"/>
          </a:xfrm>
          <a:custGeom>
            <a:avLst/>
            <a:gdLst/>
            <a:ahLst/>
            <a:cxnLst/>
            <a:rect r="r" b="b" t="t" l="l"/>
            <a:pathLst>
              <a:path h="5015903" w="4062881">
                <a:moveTo>
                  <a:pt x="0" y="0"/>
                </a:moveTo>
                <a:lnTo>
                  <a:pt x="4062882" y="0"/>
                </a:lnTo>
                <a:lnTo>
                  <a:pt x="4062882" y="5015903"/>
                </a:lnTo>
                <a:lnTo>
                  <a:pt x="0" y="5015903"/>
                </a:lnTo>
                <a:lnTo>
                  <a:pt x="0" y="0"/>
                </a:lnTo>
                <a:close/>
              </a:path>
            </a:pathLst>
          </a:custGeom>
          <a:blipFill>
            <a:blip r:embed="rId6"/>
            <a:stretch>
              <a:fillRect l="0" t="0" r="0" b="0"/>
            </a:stretch>
          </a:blipFill>
        </p:spPr>
      </p:sp>
      <p:sp>
        <p:nvSpPr>
          <p:cNvPr name="TextBox 10" id="10"/>
          <p:cNvSpPr txBox="true"/>
          <p:nvPr/>
        </p:nvSpPr>
        <p:spPr>
          <a:xfrm rot="0">
            <a:off x="3453886" y="2087021"/>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LEYES DE UX</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811339" y="3589535"/>
            <a:ext cx="4091359" cy="4663132"/>
          </a:xfrm>
          <a:custGeom>
            <a:avLst/>
            <a:gdLst/>
            <a:ahLst/>
            <a:cxnLst/>
            <a:rect r="r" b="b" t="t" l="l"/>
            <a:pathLst>
              <a:path h="4663132" w="4091359">
                <a:moveTo>
                  <a:pt x="0" y="0"/>
                </a:moveTo>
                <a:lnTo>
                  <a:pt x="4091359" y="0"/>
                </a:lnTo>
                <a:lnTo>
                  <a:pt x="4091359" y="4663132"/>
                </a:lnTo>
                <a:lnTo>
                  <a:pt x="0" y="4663132"/>
                </a:lnTo>
                <a:lnTo>
                  <a:pt x="0" y="0"/>
                </a:lnTo>
                <a:close/>
              </a:path>
            </a:pathLst>
          </a:custGeom>
          <a:blipFill>
            <a:blip r:embed="rId4"/>
            <a:stretch>
              <a:fillRect l="0" t="0" r="0" b="0"/>
            </a:stretch>
          </a:blipFill>
        </p:spPr>
      </p:sp>
      <p:sp>
        <p:nvSpPr>
          <p:cNvPr name="Freeform 8" id="8"/>
          <p:cNvSpPr/>
          <p:nvPr/>
        </p:nvSpPr>
        <p:spPr>
          <a:xfrm flipH="false" flipV="false" rot="0">
            <a:off x="7352815" y="3492281"/>
            <a:ext cx="3801103" cy="4857640"/>
          </a:xfrm>
          <a:custGeom>
            <a:avLst/>
            <a:gdLst/>
            <a:ahLst/>
            <a:cxnLst/>
            <a:rect r="r" b="b" t="t" l="l"/>
            <a:pathLst>
              <a:path h="4857640" w="3801103">
                <a:moveTo>
                  <a:pt x="0" y="0"/>
                </a:moveTo>
                <a:lnTo>
                  <a:pt x="3801104" y="0"/>
                </a:lnTo>
                <a:lnTo>
                  <a:pt x="3801104" y="4857640"/>
                </a:lnTo>
                <a:lnTo>
                  <a:pt x="0" y="4857640"/>
                </a:lnTo>
                <a:lnTo>
                  <a:pt x="0" y="0"/>
                </a:lnTo>
                <a:close/>
              </a:path>
            </a:pathLst>
          </a:custGeom>
          <a:blipFill>
            <a:blip r:embed="rId5"/>
            <a:stretch>
              <a:fillRect l="0" t="0" r="0" b="0"/>
            </a:stretch>
          </a:blipFill>
        </p:spPr>
      </p:sp>
      <p:sp>
        <p:nvSpPr>
          <p:cNvPr name="Freeform 9" id="9"/>
          <p:cNvSpPr/>
          <p:nvPr/>
        </p:nvSpPr>
        <p:spPr>
          <a:xfrm flipH="false" flipV="false" rot="0">
            <a:off x="13133892" y="3652920"/>
            <a:ext cx="4125408" cy="4697001"/>
          </a:xfrm>
          <a:custGeom>
            <a:avLst/>
            <a:gdLst/>
            <a:ahLst/>
            <a:cxnLst/>
            <a:rect r="r" b="b" t="t" l="l"/>
            <a:pathLst>
              <a:path h="4697001" w="4125408">
                <a:moveTo>
                  <a:pt x="0" y="0"/>
                </a:moveTo>
                <a:lnTo>
                  <a:pt x="4125408" y="0"/>
                </a:lnTo>
                <a:lnTo>
                  <a:pt x="4125408" y="4697001"/>
                </a:lnTo>
                <a:lnTo>
                  <a:pt x="0" y="4697001"/>
                </a:lnTo>
                <a:lnTo>
                  <a:pt x="0" y="0"/>
                </a:lnTo>
                <a:close/>
              </a:path>
            </a:pathLst>
          </a:custGeom>
          <a:blipFill>
            <a:blip r:embed="rId6"/>
            <a:stretch>
              <a:fillRect l="0" t="0" r="0" b="0"/>
            </a:stretch>
          </a:blipFill>
        </p:spPr>
      </p:sp>
      <p:sp>
        <p:nvSpPr>
          <p:cNvPr name="TextBox 10" id="10"/>
          <p:cNvSpPr txBox="true"/>
          <p:nvPr/>
        </p:nvSpPr>
        <p:spPr>
          <a:xfrm rot="0">
            <a:off x="3453886" y="2087021"/>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LEYES DE UX</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028700" y="3531529"/>
            <a:ext cx="4127768" cy="4669922"/>
          </a:xfrm>
          <a:custGeom>
            <a:avLst/>
            <a:gdLst/>
            <a:ahLst/>
            <a:cxnLst/>
            <a:rect r="r" b="b" t="t" l="l"/>
            <a:pathLst>
              <a:path h="4669922" w="4127768">
                <a:moveTo>
                  <a:pt x="0" y="0"/>
                </a:moveTo>
                <a:lnTo>
                  <a:pt x="4127768" y="0"/>
                </a:lnTo>
                <a:lnTo>
                  <a:pt x="4127768" y="4669923"/>
                </a:lnTo>
                <a:lnTo>
                  <a:pt x="0" y="4669923"/>
                </a:lnTo>
                <a:lnTo>
                  <a:pt x="0" y="0"/>
                </a:lnTo>
                <a:close/>
              </a:path>
            </a:pathLst>
          </a:custGeom>
          <a:blipFill>
            <a:blip r:embed="rId4"/>
            <a:stretch>
              <a:fillRect l="0" t="0" r="0" b="0"/>
            </a:stretch>
          </a:blipFill>
        </p:spPr>
      </p:sp>
      <p:sp>
        <p:nvSpPr>
          <p:cNvPr name="Freeform 8" id="8"/>
          <p:cNvSpPr/>
          <p:nvPr/>
        </p:nvSpPr>
        <p:spPr>
          <a:xfrm flipH="false" flipV="false" rot="0">
            <a:off x="6990783" y="3531529"/>
            <a:ext cx="3806470" cy="5050043"/>
          </a:xfrm>
          <a:custGeom>
            <a:avLst/>
            <a:gdLst/>
            <a:ahLst/>
            <a:cxnLst/>
            <a:rect r="r" b="b" t="t" l="l"/>
            <a:pathLst>
              <a:path h="5050043" w="3806470">
                <a:moveTo>
                  <a:pt x="0" y="0"/>
                </a:moveTo>
                <a:lnTo>
                  <a:pt x="3806470" y="0"/>
                </a:lnTo>
                <a:lnTo>
                  <a:pt x="3806470" y="5050043"/>
                </a:lnTo>
                <a:lnTo>
                  <a:pt x="0" y="5050043"/>
                </a:lnTo>
                <a:lnTo>
                  <a:pt x="0" y="0"/>
                </a:lnTo>
                <a:close/>
              </a:path>
            </a:pathLst>
          </a:custGeom>
          <a:blipFill>
            <a:blip r:embed="rId5"/>
            <a:stretch>
              <a:fillRect l="0" t="0" r="0" b="0"/>
            </a:stretch>
          </a:blipFill>
        </p:spPr>
      </p:sp>
      <p:sp>
        <p:nvSpPr>
          <p:cNvPr name="Freeform 9" id="9"/>
          <p:cNvSpPr/>
          <p:nvPr/>
        </p:nvSpPr>
        <p:spPr>
          <a:xfrm flipH="false" flipV="false" rot="0">
            <a:off x="13000109" y="3531529"/>
            <a:ext cx="3863283" cy="5050043"/>
          </a:xfrm>
          <a:custGeom>
            <a:avLst/>
            <a:gdLst/>
            <a:ahLst/>
            <a:cxnLst/>
            <a:rect r="r" b="b" t="t" l="l"/>
            <a:pathLst>
              <a:path h="5050043" w="3863283">
                <a:moveTo>
                  <a:pt x="0" y="0"/>
                </a:moveTo>
                <a:lnTo>
                  <a:pt x="3863283" y="0"/>
                </a:lnTo>
                <a:lnTo>
                  <a:pt x="3863283" y="5050043"/>
                </a:lnTo>
                <a:lnTo>
                  <a:pt x="0" y="5050043"/>
                </a:lnTo>
                <a:lnTo>
                  <a:pt x="0" y="0"/>
                </a:lnTo>
                <a:close/>
              </a:path>
            </a:pathLst>
          </a:custGeom>
          <a:blipFill>
            <a:blip r:embed="rId6"/>
            <a:stretch>
              <a:fillRect l="0" t="0" r="0" b="0"/>
            </a:stretch>
          </a:blipFill>
        </p:spPr>
      </p:sp>
      <p:sp>
        <p:nvSpPr>
          <p:cNvPr name="TextBox 10" id="10"/>
          <p:cNvSpPr txBox="true"/>
          <p:nvPr/>
        </p:nvSpPr>
        <p:spPr>
          <a:xfrm rot="0">
            <a:off x="3453886" y="2087021"/>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LEYES DE UX</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028700" y="3535114"/>
            <a:ext cx="4021555" cy="5518429"/>
          </a:xfrm>
          <a:custGeom>
            <a:avLst/>
            <a:gdLst/>
            <a:ahLst/>
            <a:cxnLst/>
            <a:rect r="r" b="b" t="t" l="l"/>
            <a:pathLst>
              <a:path h="5518429" w="4021555">
                <a:moveTo>
                  <a:pt x="0" y="0"/>
                </a:moveTo>
                <a:lnTo>
                  <a:pt x="4021555" y="0"/>
                </a:lnTo>
                <a:lnTo>
                  <a:pt x="4021555" y="5518429"/>
                </a:lnTo>
                <a:lnTo>
                  <a:pt x="0" y="5518429"/>
                </a:lnTo>
                <a:lnTo>
                  <a:pt x="0" y="0"/>
                </a:lnTo>
                <a:close/>
              </a:path>
            </a:pathLst>
          </a:custGeom>
          <a:blipFill>
            <a:blip r:embed="rId4"/>
            <a:stretch>
              <a:fillRect l="0" t="0" r="0" b="0"/>
            </a:stretch>
          </a:blipFill>
        </p:spPr>
      </p:sp>
      <p:sp>
        <p:nvSpPr>
          <p:cNvPr name="Freeform 8" id="8"/>
          <p:cNvSpPr/>
          <p:nvPr/>
        </p:nvSpPr>
        <p:spPr>
          <a:xfrm flipH="false" flipV="false" rot="0">
            <a:off x="6880162" y="3535114"/>
            <a:ext cx="4527676" cy="5071541"/>
          </a:xfrm>
          <a:custGeom>
            <a:avLst/>
            <a:gdLst/>
            <a:ahLst/>
            <a:cxnLst/>
            <a:rect r="r" b="b" t="t" l="l"/>
            <a:pathLst>
              <a:path h="5071541" w="4527676">
                <a:moveTo>
                  <a:pt x="0" y="0"/>
                </a:moveTo>
                <a:lnTo>
                  <a:pt x="4527676" y="0"/>
                </a:lnTo>
                <a:lnTo>
                  <a:pt x="4527676" y="5071541"/>
                </a:lnTo>
                <a:lnTo>
                  <a:pt x="0" y="5071541"/>
                </a:lnTo>
                <a:lnTo>
                  <a:pt x="0" y="0"/>
                </a:lnTo>
                <a:close/>
              </a:path>
            </a:pathLst>
          </a:custGeom>
          <a:blipFill>
            <a:blip r:embed="rId5"/>
            <a:stretch>
              <a:fillRect l="0" t="0" r="0" b="0"/>
            </a:stretch>
          </a:blipFill>
        </p:spPr>
      </p:sp>
      <p:sp>
        <p:nvSpPr>
          <p:cNvPr name="Freeform 9" id="9"/>
          <p:cNvSpPr/>
          <p:nvPr/>
        </p:nvSpPr>
        <p:spPr>
          <a:xfrm flipH="false" flipV="false" rot="0">
            <a:off x="12956322" y="3713841"/>
            <a:ext cx="4302978" cy="5160974"/>
          </a:xfrm>
          <a:custGeom>
            <a:avLst/>
            <a:gdLst/>
            <a:ahLst/>
            <a:cxnLst/>
            <a:rect r="r" b="b" t="t" l="l"/>
            <a:pathLst>
              <a:path h="5160974" w="4302978">
                <a:moveTo>
                  <a:pt x="0" y="0"/>
                </a:moveTo>
                <a:lnTo>
                  <a:pt x="4302978" y="0"/>
                </a:lnTo>
                <a:lnTo>
                  <a:pt x="4302978" y="5160974"/>
                </a:lnTo>
                <a:lnTo>
                  <a:pt x="0" y="5160974"/>
                </a:lnTo>
                <a:lnTo>
                  <a:pt x="0" y="0"/>
                </a:lnTo>
                <a:close/>
              </a:path>
            </a:pathLst>
          </a:custGeom>
          <a:blipFill>
            <a:blip r:embed="rId6"/>
            <a:stretch>
              <a:fillRect l="0" t="0" r="0" b="0"/>
            </a:stretch>
          </a:blipFill>
        </p:spPr>
      </p:sp>
      <p:sp>
        <p:nvSpPr>
          <p:cNvPr name="TextBox 10" id="10"/>
          <p:cNvSpPr txBox="true"/>
          <p:nvPr/>
        </p:nvSpPr>
        <p:spPr>
          <a:xfrm rot="0">
            <a:off x="3453886" y="2087021"/>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LEYES DE UX</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413881" y="3723293"/>
            <a:ext cx="4080011" cy="4864394"/>
          </a:xfrm>
          <a:custGeom>
            <a:avLst/>
            <a:gdLst/>
            <a:ahLst/>
            <a:cxnLst/>
            <a:rect r="r" b="b" t="t" l="l"/>
            <a:pathLst>
              <a:path h="4864394" w="4080011">
                <a:moveTo>
                  <a:pt x="0" y="0"/>
                </a:moveTo>
                <a:lnTo>
                  <a:pt x="4080011" y="0"/>
                </a:lnTo>
                <a:lnTo>
                  <a:pt x="4080011" y="4864394"/>
                </a:lnTo>
                <a:lnTo>
                  <a:pt x="0" y="4864394"/>
                </a:lnTo>
                <a:lnTo>
                  <a:pt x="0" y="0"/>
                </a:lnTo>
                <a:close/>
              </a:path>
            </a:pathLst>
          </a:custGeom>
          <a:blipFill>
            <a:blip r:embed="rId4"/>
            <a:stretch>
              <a:fillRect l="0" t="0" r="0" b="0"/>
            </a:stretch>
          </a:blipFill>
        </p:spPr>
      </p:sp>
      <p:sp>
        <p:nvSpPr>
          <p:cNvPr name="Freeform 8" id="8"/>
          <p:cNvSpPr/>
          <p:nvPr/>
        </p:nvSpPr>
        <p:spPr>
          <a:xfrm flipH="false" flipV="false" rot="0">
            <a:off x="7154832" y="3847035"/>
            <a:ext cx="3978337" cy="4740653"/>
          </a:xfrm>
          <a:custGeom>
            <a:avLst/>
            <a:gdLst/>
            <a:ahLst/>
            <a:cxnLst/>
            <a:rect r="r" b="b" t="t" l="l"/>
            <a:pathLst>
              <a:path h="4740653" w="3978337">
                <a:moveTo>
                  <a:pt x="0" y="0"/>
                </a:moveTo>
                <a:lnTo>
                  <a:pt x="3978336" y="0"/>
                </a:lnTo>
                <a:lnTo>
                  <a:pt x="3978336" y="4740652"/>
                </a:lnTo>
                <a:lnTo>
                  <a:pt x="0" y="4740652"/>
                </a:lnTo>
                <a:lnTo>
                  <a:pt x="0" y="0"/>
                </a:lnTo>
                <a:close/>
              </a:path>
            </a:pathLst>
          </a:custGeom>
          <a:blipFill>
            <a:blip r:embed="rId5"/>
            <a:stretch>
              <a:fillRect l="0" t="0" r="0" b="0"/>
            </a:stretch>
          </a:blipFill>
        </p:spPr>
      </p:sp>
      <p:sp>
        <p:nvSpPr>
          <p:cNvPr name="Freeform 9" id="9"/>
          <p:cNvSpPr/>
          <p:nvPr/>
        </p:nvSpPr>
        <p:spPr>
          <a:xfrm flipH="false" flipV="false" rot="0">
            <a:off x="13223420" y="3847035"/>
            <a:ext cx="3751041" cy="4740653"/>
          </a:xfrm>
          <a:custGeom>
            <a:avLst/>
            <a:gdLst/>
            <a:ahLst/>
            <a:cxnLst/>
            <a:rect r="r" b="b" t="t" l="l"/>
            <a:pathLst>
              <a:path h="4740653" w="3751041">
                <a:moveTo>
                  <a:pt x="0" y="0"/>
                </a:moveTo>
                <a:lnTo>
                  <a:pt x="3751041" y="0"/>
                </a:lnTo>
                <a:lnTo>
                  <a:pt x="3751041" y="4740652"/>
                </a:lnTo>
                <a:lnTo>
                  <a:pt x="0" y="4740652"/>
                </a:lnTo>
                <a:lnTo>
                  <a:pt x="0" y="0"/>
                </a:lnTo>
                <a:close/>
              </a:path>
            </a:pathLst>
          </a:custGeom>
          <a:blipFill>
            <a:blip r:embed="rId6"/>
            <a:stretch>
              <a:fillRect l="0" t="0" r="0" b="0"/>
            </a:stretch>
          </a:blipFill>
        </p:spPr>
      </p:sp>
      <p:sp>
        <p:nvSpPr>
          <p:cNvPr name="TextBox 10" id="10"/>
          <p:cNvSpPr txBox="true"/>
          <p:nvPr/>
        </p:nvSpPr>
        <p:spPr>
          <a:xfrm rot="0">
            <a:off x="3453886" y="2087021"/>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LEYES DE UX</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101371" y="3773725"/>
            <a:ext cx="4395616" cy="4622057"/>
          </a:xfrm>
          <a:custGeom>
            <a:avLst/>
            <a:gdLst/>
            <a:ahLst/>
            <a:cxnLst/>
            <a:rect r="r" b="b" t="t" l="l"/>
            <a:pathLst>
              <a:path h="4622057" w="4395616">
                <a:moveTo>
                  <a:pt x="0" y="0"/>
                </a:moveTo>
                <a:lnTo>
                  <a:pt x="4395616" y="0"/>
                </a:lnTo>
                <a:lnTo>
                  <a:pt x="4395616" y="4622057"/>
                </a:lnTo>
                <a:lnTo>
                  <a:pt x="0" y="4622057"/>
                </a:lnTo>
                <a:lnTo>
                  <a:pt x="0" y="0"/>
                </a:lnTo>
                <a:close/>
              </a:path>
            </a:pathLst>
          </a:custGeom>
          <a:blipFill>
            <a:blip r:embed="rId4"/>
            <a:stretch>
              <a:fillRect l="0" t="0" r="0" b="0"/>
            </a:stretch>
          </a:blipFill>
        </p:spPr>
      </p:sp>
      <p:sp>
        <p:nvSpPr>
          <p:cNvPr name="Freeform 8" id="8"/>
          <p:cNvSpPr/>
          <p:nvPr/>
        </p:nvSpPr>
        <p:spPr>
          <a:xfrm flipH="false" flipV="false" rot="0">
            <a:off x="7516287" y="3810662"/>
            <a:ext cx="3474159" cy="4910473"/>
          </a:xfrm>
          <a:custGeom>
            <a:avLst/>
            <a:gdLst/>
            <a:ahLst/>
            <a:cxnLst/>
            <a:rect r="r" b="b" t="t" l="l"/>
            <a:pathLst>
              <a:path h="4910473" w="3474159">
                <a:moveTo>
                  <a:pt x="0" y="0"/>
                </a:moveTo>
                <a:lnTo>
                  <a:pt x="3474160" y="0"/>
                </a:lnTo>
                <a:lnTo>
                  <a:pt x="3474160" y="4910473"/>
                </a:lnTo>
                <a:lnTo>
                  <a:pt x="0" y="4910473"/>
                </a:lnTo>
                <a:lnTo>
                  <a:pt x="0" y="0"/>
                </a:lnTo>
                <a:close/>
              </a:path>
            </a:pathLst>
          </a:custGeom>
          <a:blipFill>
            <a:blip r:embed="rId5"/>
            <a:stretch>
              <a:fillRect l="0" t="0" r="0" b="0"/>
            </a:stretch>
          </a:blipFill>
        </p:spPr>
      </p:sp>
      <p:sp>
        <p:nvSpPr>
          <p:cNvPr name="Freeform 9" id="9"/>
          <p:cNvSpPr/>
          <p:nvPr/>
        </p:nvSpPr>
        <p:spPr>
          <a:xfrm flipH="false" flipV="false" rot="0">
            <a:off x="13006111" y="3773725"/>
            <a:ext cx="4253189" cy="4368140"/>
          </a:xfrm>
          <a:custGeom>
            <a:avLst/>
            <a:gdLst/>
            <a:ahLst/>
            <a:cxnLst/>
            <a:rect r="r" b="b" t="t" l="l"/>
            <a:pathLst>
              <a:path h="4368140" w="4253189">
                <a:moveTo>
                  <a:pt x="0" y="0"/>
                </a:moveTo>
                <a:lnTo>
                  <a:pt x="4253189" y="0"/>
                </a:lnTo>
                <a:lnTo>
                  <a:pt x="4253189" y="4368139"/>
                </a:lnTo>
                <a:lnTo>
                  <a:pt x="0" y="4368139"/>
                </a:lnTo>
                <a:lnTo>
                  <a:pt x="0" y="0"/>
                </a:lnTo>
                <a:close/>
              </a:path>
            </a:pathLst>
          </a:custGeom>
          <a:blipFill>
            <a:blip r:embed="rId6"/>
            <a:stretch>
              <a:fillRect l="0" t="0" r="0" b="0"/>
            </a:stretch>
          </a:blipFill>
        </p:spPr>
      </p:sp>
      <p:sp>
        <p:nvSpPr>
          <p:cNvPr name="TextBox 10" id="10"/>
          <p:cNvSpPr txBox="true"/>
          <p:nvPr/>
        </p:nvSpPr>
        <p:spPr>
          <a:xfrm rot="0">
            <a:off x="3453886" y="2087021"/>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LEYES DE UX</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655820" y="3607580"/>
            <a:ext cx="3596133" cy="5211787"/>
          </a:xfrm>
          <a:custGeom>
            <a:avLst/>
            <a:gdLst/>
            <a:ahLst/>
            <a:cxnLst/>
            <a:rect r="r" b="b" t="t" l="l"/>
            <a:pathLst>
              <a:path h="5211787" w="3596133">
                <a:moveTo>
                  <a:pt x="0" y="0"/>
                </a:moveTo>
                <a:lnTo>
                  <a:pt x="3596133" y="0"/>
                </a:lnTo>
                <a:lnTo>
                  <a:pt x="3596133" y="5211787"/>
                </a:lnTo>
                <a:lnTo>
                  <a:pt x="0" y="5211787"/>
                </a:lnTo>
                <a:lnTo>
                  <a:pt x="0" y="0"/>
                </a:lnTo>
                <a:close/>
              </a:path>
            </a:pathLst>
          </a:custGeom>
          <a:blipFill>
            <a:blip r:embed="rId4"/>
            <a:stretch>
              <a:fillRect l="0" t="0" r="0" b="0"/>
            </a:stretch>
          </a:blipFill>
        </p:spPr>
      </p:sp>
      <p:sp>
        <p:nvSpPr>
          <p:cNvPr name="Freeform 8" id="8"/>
          <p:cNvSpPr/>
          <p:nvPr/>
        </p:nvSpPr>
        <p:spPr>
          <a:xfrm flipH="false" flipV="false" rot="0">
            <a:off x="7195395" y="3607580"/>
            <a:ext cx="3897211" cy="5527958"/>
          </a:xfrm>
          <a:custGeom>
            <a:avLst/>
            <a:gdLst/>
            <a:ahLst/>
            <a:cxnLst/>
            <a:rect r="r" b="b" t="t" l="l"/>
            <a:pathLst>
              <a:path h="5527958" w="3897211">
                <a:moveTo>
                  <a:pt x="0" y="0"/>
                </a:moveTo>
                <a:lnTo>
                  <a:pt x="3897210" y="0"/>
                </a:lnTo>
                <a:lnTo>
                  <a:pt x="3897210" y="5527958"/>
                </a:lnTo>
                <a:lnTo>
                  <a:pt x="0" y="5527958"/>
                </a:lnTo>
                <a:lnTo>
                  <a:pt x="0" y="0"/>
                </a:lnTo>
                <a:close/>
              </a:path>
            </a:pathLst>
          </a:custGeom>
          <a:blipFill>
            <a:blip r:embed="rId5"/>
            <a:stretch>
              <a:fillRect l="0" t="0" r="0" b="0"/>
            </a:stretch>
          </a:blipFill>
        </p:spPr>
      </p:sp>
      <p:sp>
        <p:nvSpPr>
          <p:cNvPr name="Freeform 9" id="9"/>
          <p:cNvSpPr/>
          <p:nvPr/>
        </p:nvSpPr>
        <p:spPr>
          <a:xfrm flipH="false" flipV="false" rot="0">
            <a:off x="13035705" y="3607580"/>
            <a:ext cx="3906060" cy="5650720"/>
          </a:xfrm>
          <a:custGeom>
            <a:avLst/>
            <a:gdLst/>
            <a:ahLst/>
            <a:cxnLst/>
            <a:rect r="r" b="b" t="t" l="l"/>
            <a:pathLst>
              <a:path h="5650720" w="3906060">
                <a:moveTo>
                  <a:pt x="0" y="0"/>
                </a:moveTo>
                <a:lnTo>
                  <a:pt x="3906061" y="0"/>
                </a:lnTo>
                <a:lnTo>
                  <a:pt x="3906061" y="5650720"/>
                </a:lnTo>
                <a:lnTo>
                  <a:pt x="0" y="5650720"/>
                </a:lnTo>
                <a:lnTo>
                  <a:pt x="0" y="0"/>
                </a:lnTo>
                <a:close/>
              </a:path>
            </a:pathLst>
          </a:custGeom>
          <a:blipFill>
            <a:blip r:embed="rId6"/>
            <a:stretch>
              <a:fillRect l="0" t="0" r="0" b="0"/>
            </a:stretch>
          </a:blipFill>
        </p:spPr>
      </p:sp>
      <p:sp>
        <p:nvSpPr>
          <p:cNvPr name="TextBox 10" id="10"/>
          <p:cNvSpPr txBox="true"/>
          <p:nvPr/>
        </p:nvSpPr>
        <p:spPr>
          <a:xfrm rot="0">
            <a:off x="3453886" y="2087021"/>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LEYES DE UX</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781914" y="3711475"/>
            <a:ext cx="4097717" cy="5546825"/>
          </a:xfrm>
          <a:custGeom>
            <a:avLst/>
            <a:gdLst/>
            <a:ahLst/>
            <a:cxnLst/>
            <a:rect r="r" b="b" t="t" l="l"/>
            <a:pathLst>
              <a:path h="5546825" w="4097717">
                <a:moveTo>
                  <a:pt x="0" y="0"/>
                </a:moveTo>
                <a:lnTo>
                  <a:pt x="4097718" y="0"/>
                </a:lnTo>
                <a:lnTo>
                  <a:pt x="4097718" y="5546825"/>
                </a:lnTo>
                <a:lnTo>
                  <a:pt x="0" y="5546825"/>
                </a:lnTo>
                <a:lnTo>
                  <a:pt x="0" y="0"/>
                </a:lnTo>
                <a:close/>
              </a:path>
            </a:pathLst>
          </a:custGeom>
          <a:blipFill>
            <a:blip r:embed="rId4"/>
            <a:stretch>
              <a:fillRect l="0" t="0" r="0" b="0"/>
            </a:stretch>
          </a:blipFill>
        </p:spPr>
      </p:sp>
      <p:sp>
        <p:nvSpPr>
          <p:cNvPr name="Freeform 8" id="8"/>
          <p:cNvSpPr/>
          <p:nvPr/>
        </p:nvSpPr>
        <p:spPr>
          <a:xfrm flipH="false" flipV="false" rot="0">
            <a:off x="7459235" y="3711475"/>
            <a:ext cx="4307854" cy="5549570"/>
          </a:xfrm>
          <a:custGeom>
            <a:avLst/>
            <a:gdLst/>
            <a:ahLst/>
            <a:cxnLst/>
            <a:rect r="r" b="b" t="t" l="l"/>
            <a:pathLst>
              <a:path h="5549570" w="4307854">
                <a:moveTo>
                  <a:pt x="0" y="0"/>
                </a:moveTo>
                <a:lnTo>
                  <a:pt x="4307854" y="0"/>
                </a:lnTo>
                <a:lnTo>
                  <a:pt x="4307854" y="5549570"/>
                </a:lnTo>
                <a:lnTo>
                  <a:pt x="0" y="5549570"/>
                </a:lnTo>
                <a:lnTo>
                  <a:pt x="0" y="0"/>
                </a:lnTo>
                <a:close/>
              </a:path>
            </a:pathLst>
          </a:custGeom>
          <a:blipFill>
            <a:blip r:embed="rId5"/>
            <a:stretch>
              <a:fillRect l="0" t="0" r="0" b="0"/>
            </a:stretch>
          </a:blipFill>
        </p:spPr>
      </p:sp>
      <p:sp>
        <p:nvSpPr>
          <p:cNvPr name="Freeform 9" id="9"/>
          <p:cNvSpPr/>
          <p:nvPr/>
        </p:nvSpPr>
        <p:spPr>
          <a:xfrm flipH="false" flipV="false" rot="0">
            <a:off x="12905042" y="3711475"/>
            <a:ext cx="4354258" cy="5546825"/>
          </a:xfrm>
          <a:custGeom>
            <a:avLst/>
            <a:gdLst/>
            <a:ahLst/>
            <a:cxnLst/>
            <a:rect r="r" b="b" t="t" l="l"/>
            <a:pathLst>
              <a:path h="5546825" w="4354258">
                <a:moveTo>
                  <a:pt x="0" y="0"/>
                </a:moveTo>
                <a:lnTo>
                  <a:pt x="4354258" y="0"/>
                </a:lnTo>
                <a:lnTo>
                  <a:pt x="4354258" y="5546825"/>
                </a:lnTo>
                <a:lnTo>
                  <a:pt x="0" y="5546825"/>
                </a:lnTo>
                <a:lnTo>
                  <a:pt x="0" y="0"/>
                </a:lnTo>
                <a:close/>
              </a:path>
            </a:pathLst>
          </a:custGeom>
          <a:blipFill>
            <a:blip r:embed="rId6"/>
            <a:stretch>
              <a:fillRect l="0" t="0" r="0" b="0"/>
            </a:stretch>
          </a:blipFill>
        </p:spPr>
      </p:sp>
      <p:sp>
        <p:nvSpPr>
          <p:cNvPr name="TextBox 10" id="10"/>
          <p:cNvSpPr txBox="true"/>
          <p:nvPr/>
        </p:nvSpPr>
        <p:spPr>
          <a:xfrm rot="0">
            <a:off x="3453886" y="2087021"/>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LEYES DE UX</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TextBox 7" id="7"/>
          <p:cNvSpPr txBox="true"/>
          <p:nvPr/>
        </p:nvSpPr>
        <p:spPr>
          <a:xfrm rot="0">
            <a:off x="2982879" y="2087021"/>
            <a:ext cx="12540977" cy="1819884"/>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BUENAS PRACTICAS DE UX READING</a:t>
            </a:r>
          </a:p>
        </p:txBody>
      </p:sp>
      <p:sp>
        <p:nvSpPr>
          <p:cNvPr name="TextBox 8" id="8"/>
          <p:cNvSpPr txBox="true"/>
          <p:nvPr/>
        </p:nvSpPr>
        <p:spPr>
          <a:xfrm rot="0">
            <a:off x="2494356" y="4557702"/>
            <a:ext cx="14115119" cy="3896039"/>
          </a:xfrm>
          <a:prstGeom prst="rect">
            <a:avLst/>
          </a:prstGeom>
        </p:spPr>
        <p:txBody>
          <a:bodyPr anchor="t" rtlCol="false" tIns="0" lIns="0" bIns="0" rIns="0">
            <a:spAutoFit/>
          </a:bodyPr>
          <a:lstStyle/>
          <a:p>
            <a:pPr algn="l">
              <a:lnSpc>
                <a:spcPts val="2607"/>
              </a:lnSpc>
              <a:spcBef>
                <a:spcPct val="0"/>
              </a:spcBef>
            </a:pPr>
            <a:r>
              <a:rPr lang="en-US" sz="1862">
                <a:solidFill>
                  <a:srgbClr val="FFFFFF"/>
                </a:solidFill>
                <a:latin typeface="Poppins"/>
                <a:ea typeface="Poppins"/>
                <a:cs typeface="Poppins"/>
                <a:sym typeface="Poppins"/>
              </a:rPr>
              <a:t>La redacción UX consiste en seleccionar las palabras más adecuadas para un producto digital. Su objetivo principal es elaborar un texto, también conocido como copy, que ayude a los usuarios a navegar por software, sitios web y aplicaciones.</a:t>
            </a:r>
          </a:p>
          <a:p>
            <a:pPr algn="l">
              <a:lnSpc>
                <a:spcPts val="2607"/>
              </a:lnSpc>
              <a:spcBef>
                <a:spcPct val="0"/>
              </a:spcBef>
            </a:pPr>
            <a:r>
              <a:rPr lang="en-US" sz="1862">
                <a:solidFill>
                  <a:srgbClr val="FFFFFF"/>
                </a:solidFill>
                <a:latin typeface="Poppins"/>
                <a:ea typeface="Poppins"/>
                <a:cs typeface="Poppins"/>
                <a:sym typeface="Poppins"/>
              </a:rPr>
              <a:t>Consta de muchos componentes, como</a:t>
            </a:r>
          </a:p>
          <a:p>
            <a:pPr algn="l" marL="402147" indent="-201074" lvl="1">
              <a:lnSpc>
                <a:spcPts val="2607"/>
              </a:lnSpc>
              <a:buFont typeface="Arial"/>
              <a:buChar char="•"/>
            </a:pPr>
            <a:r>
              <a:rPr lang="en-US" sz="1862">
                <a:solidFill>
                  <a:srgbClr val="FFFFFF"/>
                </a:solidFill>
                <a:latin typeface="Poppins"/>
                <a:ea typeface="Poppins"/>
                <a:cs typeface="Poppins"/>
                <a:sym typeface="Poppins"/>
              </a:rPr>
              <a:t>Llamadas a la acción</a:t>
            </a:r>
          </a:p>
          <a:p>
            <a:pPr algn="l" marL="402147" indent="-201074" lvl="1">
              <a:lnSpc>
                <a:spcPts val="2607"/>
              </a:lnSpc>
              <a:buFont typeface="Arial"/>
              <a:buChar char="•"/>
            </a:pPr>
            <a:r>
              <a:rPr lang="en-US" sz="1862">
                <a:solidFill>
                  <a:srgbClr val="FFFFFF"/>
                </a:solidFill>
                <a:latin typeface="Poppins"/>
                <a:ea typeface="Poppins"/>
                <a:cs typeface="Poppins"/>
                <a:sym typeface="Poppins"/>
              </a:rPr>
              <a:t>Alertas de error</a:t>
            </a:r>
          </a:p>
          <a:p>
            <a:pPr algn="l" marL="402147" indent="-201074" lvl="1">
              <a:lnSpc>
                <a:spcPts val="2607"/>
              </a:lnSpc>
              <a:buFont typeface="Arial"/>
              <a:buChar char="•"/>
            </a:pPr>
            <a:r>
              <a:rPr lang="en-US" sz="1862">
                <a:solidFill>
                  <a:srgbClr val="FFFFFF"/>
                </a:solidFill>
                <a:latin typeface="Poppins"/>
                <a:ea typeface="Poppins"/>
                <a:cs typeface="Poppins"/>
                <a:sym typeface="Poppins"/>
              </a:rPr>
              <a:t>Avisos de confirmación</a:t>
            </a:r>
          </a:p>
          <a:p>
            <a:pPr algn="l" marL="402147" indent="-201074" lvl="1">
              <a:lnSpc>
                <a:spcPts val="2607"/>
              </a:lnSpc>
              <a:buFont typeface="Arial"/>
              <a:buChar char="•"/>
            </a:pPr>
            <a:r>
              <a:rPr lang="en-US" sz="1862">
                <a:solidFill>
                  <a:srgbClr val="FFFFFF"/>
                </a:solidFill>
                <a:latin typeface="Poppins"/>
                <a:ea typeface="Poppins"/>
                <a:cs typeface="Poppins"/>
                <a:sym typeface="Poppins"/>
              </a:rPr>
              <a:t>Mensajes de saludo</a:t>
            </a:r>
          </a:p>
          <a:p>
            <a:pPr algn="l" marL="402147" indent="-201074" lvl="1">
              <a:lnSpc>
                <a:spcPts val="2607"/>
              </a:lnSpc>
              <a:buFont typeface="Arial"/>
              <a:buChar char="•"/>
            </a:pPr>
            <a:r>
              <a:rPr lang="en-US" sz="1862">
                <a:solidFill>
                  <a:srgbClr val="FFFFFF"/>
                </a:solidFill>
                <a:latin typeface="Poppins"/>
                <a:ea typeface="Poppins"/>
                <a:cs typeface="Poppins"/>
                <a:sym typeface="Poppins"/>
              </a:rPr>
              <a:t>Etiquetas del menú</a:t>
            </a:r>
          </a:p>
          <a:p>
            <a:pPr algn="l" marL="402147" indent="-201074" lvl="1">
              <a:lnSpc>
                <a:spcPts val="2607"/>
              </a:lnSpc>
              <a:buFont typeface="Arial"/>
              <a:buChar char="•"/>
            </a:pPr>
            <a:r>
              <a:rPr lang="en-US" sz="1862">
                <a:solidFill>
                  <a:srgbClr val="FFFFFF"/>
                </a:solidFill>
                <a:latin typeface="Poppins"/>
                <a:ea typeface="Poppins"/>
                <a:cs typeface="Poppins"/>
                <a:sym typeface="Poppins"/>
              </a:rPr>
              <a:t>Texto del botón.</a:t>
            </a:r>
          </a:p>
          <a:p>
            <a:pPr algn="l">
              <a:lnSpc>
                <a:spcPts val="2607"/>
              </a:lnSpc>
              <a:spcBef>
                <a:spcPct val="0"/>
              </a:spcBef>
            </a:pPr>
            <a:r>
              <a:rPr lang="en-US" sz="1862">
                <a:solidFill>
                  <a:srgbClr val="FFFFFF"/>
                </a:solidFill>
                <a:latin typeface="Poppins"/>
                <a:ea typeface="Poppins"/>
                <a:cs typeface="Poppins"/>
                <a:sym typeface="Poppins"/>
              </a:rPr>
              <a:t>La calidad de la redacción de UX influye mucho en cómo perciben los usuarios tu producto.</a:t>
            </a:r>
          </a:p>
          <a:p>
            <a:pPr algn="l">
              <a:lnSpc>
                <a:spcPts val="2607"/>
              </a:lnSpc>
              <a:spcBef>
                <a:spcPct val="0"/>
              </a:spcBef>
            </a:pPr>
            <a:r>
              <a:rPr lang="en-US" sz="1862">
                <a:solidFill>
                  <a:srgbClr val="FFFFFF"/>
                </a:solidFill>
                <a:latin typeface="Poppins"/>
                <a:ea typeface="Poppins"/>
                <a:cs typeface="Poppins"/>
                <a:sym typeface="Poppins"/>
              </a:rPr>
              <a:t>Por tanto, cada palabra cuenta, independientemente de su brevedad y sencillez</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8596045" y="4614852"/>
            <a:ext cx="8663255" cy="3649396"/>
          </a:xfrm>
          <a:custGeom>
            <a:avLst/>
            <a:gdLst/>
            <a:ahLst/>
            <a:cxnLst/>
            <a:rect r="r" b="b" t="t" l="l"/>
            <a:pathLst>
              <a:path h="3649396" w="8663255">
                <a:moveTo>
                  <a:pt x="0" y="0"/>
                </a:moveTo>
                <a:lnTo>
                  <a:pt x="8663255" y="0"/>
                </a:lnTo>
                <a:lnTo>
                  <a:pt x="8663255" y="3649396"/>
                </a:lnTo>
                <a:lnTo>
                  <a:pt x="0" y="3649396"/>
                </a:lnTo>
                <a:lnTo>
                  <a:pt x="0" y="0"/>
                </a:lnTo>
                <a:close/>
              </a:path>
            </a:pathLst>
          </a:custGeom>
          <a:blipFill>
            <a:blip r:embed="rId4"/>
            <a:stretch>
              <a:fillRect l="0" t="0" r="0" b="0"/>
            </a:stretch>
          </a:blipFill>
        </p:spPr>
      </p:sp>
      <p:sp>
        <p:nvSpPr>
          <p:cNvPr name="TextBox 8" id="8"/>
          <p:cNvSpPr txBox="true"/>
          <p:nvPr/>
        </p:nvSpPr>
        <p:spPr>
          <a:xfrm rot="0">
            <a:off x="2982879" y="2087021"/>
            <a:ext cx="12540977" cy="1819884"/>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BUENAS PRACTICAS DE UX READING</a:t>
            </a:r>
          </a:p>
        </p:txBody>
      </p:sp>
      <p:sp>
        <p:nvSpPr>
          <p:cNvPr name="TextBox 9" id="9"/>
          <p:cNvSpPr txBox="true"/>
          <p:nvPr/>
        </p:nvSpPr>
        <p:spPr>
          <a:xfrm rot="0">
            <a:off x="540220" y="4557702"/>
            <a:ext cx="7655617" cy="4219889"/>
          </a:xfrm>
          <a:prstGeom prst="rect">
            <a:avLst/>
          </a:prstGeom>
        </p:spPr>
        <p:txBody>
          <a:bodyPr anchor="t" rtlCol="false" tIns="0" lIns="0" bIns="0" rIns="0">
            <a:spAutoFit/>
          </a:bodyPr>
          <a:lstStyle/>
          <a:p>
            <a:pPr algn="ctr">
              <a:lnSpc>
                <a:spcPts val="2607"/>
              </a:lnSpc>
            </a:pPr>
            <a:r>
              <a:rPr lang="en-US" sz="1862">
                <a:solidFill>
                  <a:srgbClr val="FFFFFF"/>
                </a:solidFill>
                <a:latin typeface="Poppins"/>
                <a:ea typeface="Poppins"/>
                <a:cs typeface="Poppins"/>
                <a:sym typeface="Poppins"/>
              </a:rPr>
              <a:t>Se Directo</a:t>
            </a:r>
          </a:p>
          <a:p>
            <a:pPr algn="ctr">
              <a:lnSpc>
                <a:spcPts val="2607"/>
              </a:lnSpc>
            </a:pPr>
            <a:r>
              <a:rPr lang="en-US" sz="1862">
                <a:solidFill>
                  <a:srgbClr val="FFFFFF"/>
                </a:solidFill>
                <a:latin typeface="Poppins"/>
                <a:ea typeface="Poppins"/>
                <a:cs typeface="Poppins"/>
                <a:sym typeface="Poppins"/>
              </a:rPr>
              <a:t>Hazlo Corto</a:t>
            </a:r>
          </a:p>
          <a:p>
            <a:pPr algn="ctr">
              <a:lnSpc>
                <a:spcPts val="2607"/>
              </a:lnSpc>
            </a:pPr>
            <a:r>
              <a:rPr lang="en-US" sz="1862">
                <a:solidFill>
                  <a:srgbClr val="FFFFFF"/>
                </a:solidFill>
                <a:latin typeface="Poppins"/>
                <a:ea typeface="Poppins"/>
                <a:cs typeface="Poppins"/>
                <a:sym typeface="Poppins"/>
              </a:rPr>
              <a:t>Escribe en presente</a:t>
            </a:r>
          </a:p>
          <a:p>
            <a:pPr algn="ctr">
              <a:lnSpc>
                <a:spcPts val="2607"/>
              </a:lnSpc>
            </a:pPr>
            <a:r>
              <a:rPr lang="en-US" sz="1862">
                <a:solidFill>
                  <a:srgbClr val="FFFFFF"/>
                </a:solidFill>
                <a:latin typeface="Poppins"/>
                <a:ea typeface="Poppins"/>
                <a:cs typeface="Poppins"/>
                <a:sym typeface="Poppins"/>
              </a:rPr>
              <a:t>Utiliza la voz activa</a:t>
            </a:r>
          </a:p>
          <a:p>
            <a:pPr algn="ctr">
              <a:lnSpc>
                <a:spcPts val="2607"/>
              </a:lnSpc>
            </a:pPr>
            <a:r>
              <a:rPr lang="en-US" sz="1862">
                <a:solidFill>
                  <a:srgbClr val="FFFFFF"/>
                </a:solidFill>
                <a:latin typeface="Poppins"/>
                <a:ea typeface="Poppins"/>
                <a:cs typeface="Poppins"/>
                <a:sym typeface="Poppins"/>
              </a:rPr>
              <a:t>Utiliza el lenguaje adecuado</a:t>
            </a:r>
          </a:p>
          <a:p>
            <a:pPr algn="ctr">
              <a:lnSpc>
                <a:spcPts val="2607"/>
              </a:lnSpc>
            </a:pPr>
            <a:r>
              <a:rPr lang="en-US" sz="1862">
                <a:solidFill>
                  <a:srgbClr val="FFFFFF"/>
                </a:solidFill>
                <a:latin typeface="Poppins"/>
                <a:ea typeface="Poppins"/>
                <a:cs typeface="Poppins"/>
                <a:sym typeface="Poppins"/>
              </a:rPr>
              <a:t>Utiliza una terminologia coherente</a:t>
            </a:r>
          </a:p>
          <a:p>
            <a:pPr algn="ctr">
              <a:lnSpc>
                <a:spcPts val="2607"/>
              </a:lnSpc>
            </a:pPr>
            <a:r>
              <a:rPr lang="en-US" sz="1862">
                <a:solidFill>
                  <a:srgbClr val="FFFFFF"/>
                </a:solidFill>
                <a:latin typeface="Poppins"/>
                <a:ea typeface="Poppins"/>
                <a:cs typeface="Poppins"/>
                <a:sym typeface="Poppins"/>
              </a:rPr>
              <a:t>Se positivo</a:t>
            </a:r>
          </a:p>
          <a:p>
            <a:pPr algn="ctr">
              <a:lnSpc>
                <a:spcPts val="2607"/>
              </a:lnSpc>
            </a:pPr>
            <a:r>
              <a:rPr lang="en-US" sz="1862">
                <a:solidFill>
                  <a:srgbClr val="FFFFFF"/>
                </a:solidFill>
                <a:latin typeface="Poppins"/>
                <a:ea typeface="Poppins"/>
                <a:cs typeface="Poppins"/>
                <a:sym typeface="Poppins"/>
              </a:rPr>
              <a:t>Evita la jerga</a:t>
            </a:r>
          </a:p>
          <a:p>
            <a:pPr algn="ctr">
              <a:lnSpc>
                <a:spcPts val="2607"/>
              </a:lnSpc>
            </a:pPr>
            <a:r>
              <a:rPr lang="en-US" sz="1862">
                <a:solidFill>
                  <a:srgbClr val="FFFFFF"/>
                </a:solidFill>
                <a:latin typeface="Poppins"/>
                <a:ea typeface="Poppins"/>
                <a:cs typeface="Poppins"/>
                <a:sym typeface="Poppins"/>
              </a:rPr>
              <a:t>Evita los dobles negativos como "No olvides no ignorar este mensaje de advertencia"</a:t>
            </a:r>
          </a:p>
          <a:p>
            <a:pPr algn="ctr">
              <a:lnSpc>
                <a:spcPts val="2607"/>
              </a:lnSpc>
            </a:pPr>
            <a:r>
              <a:rPr lang="en-US" sz="1862">
                <a:solidFill>
                  <a:srgbClr val="FFFFFF"/>
                </a:solidFill>
                <a:latin typeface="Poppins"/>
                <a:ea typeface="Poppins"/>
                <a:cs typeface="Poppins"/>
                <a:sym typeface="Poppins"/>
              </a:rPr>
              <a:t>Elabora una llamada a la accion convincente (CTA)</a:t>
            </a:r>
          </a:p>
          <a:p>
            <a:pPr algn="ctr">
              <a:lnSpc>
                <a:spcPts val="2607"/>
              </a:lnSpc>
            </a:pPr>
            <a:r>
              <a:rPr lang="en-US" sz="1862">
                <a:solidFill>
                  <a:srgbClr val="FFFFFF"/>
                </a:solidFill>
                <a:latin typeface="Poppins"/>
                <a:ea typeface="Poppins"/>
                <a:cs typeface="Poppins"/>
                <a:sym typeface="Poppins"/>
              </a:rPr>
              <a:t>Aborda las preguntas de forma proactiva</a:t>
            </a:r>
          </a:p>
          <a:p>
            <a:pPr algn="ctr">
              <a:lnSpc>
                <a:spcPts val="2607"/>
              </a:lnSpc>
            </a:pPr>
            <a:r>
              <a:rPr lang="en-US" sz="1862">
                <a:solidFill>
                  <a:srgbClr val="FFFFFF"/>
                </a:solidFill>
                <a:latin typeface="Poppins"/>
                <a:ea typeface="Poppins"/>
                <a:cs typeface="Poppins"/>
                <a:sym typeface="Poppins"/>
              </a:rPr>
              <a:t>Utiliza un lenguaje conversacional</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939423" y="0"/>
            <a:ext cx="2627887" cy="2627887"/>
          </a:xfrm>
          <a:custGeom>
            <a:avLst/>
            <a:gdLst/>
            <a:ahLst/>
            <a:cxnLst/>
            <a:rect r="r" b="b" t="t" l="l"/>
            <a:pathLst>
              <a:path h="2627887" w="2627887">
                <a:moveTo>
                  <a:pt x="0" y="0"/>
                </a:moveTo>
                <a:lnTo>
                  <a:pt x="2627887" y="0"/>
                </a:lnTo>
                <a:lnTo>
                  <a:pt x="2627887" y="2627887"/>
                </a:lnTo>
                <a:lnTo>
                  <a:pt x="0" y="2627887"/>
                </a:lnTo>
                <a:lnTo>
                  <a:pt x="0" y="0"/>
                </a:lnTo>
                <a:close/>
              </a:path>
            </a:pathLst>
          </a:custGeom>
          <a:blipFill>
            <a:blip r:embed="rId3"/>
            <a:stretch>
              <a:fillRect l="0" t="0" r="0" b="0"/>
            </a:stretch>
          </a:blipFill>
        </p:spPr>
      </p:sp>
      <p:sp>
        <p:nvSpPr>
          <p:cNvPr name="TextBox 7" id="7"/>
          <p:cNvSpPr txBox="true"/>
          <p:nvPr/>
        </p:nvSpPr>
        <p:spPr>
          <a:xfrm rot="0">
            <a:off x="4334545" y="4770744"/>
            <a:ext cx="9618910" cy="2100335"/>
          </a:xfrm>
          <a:prstGeom prst="rect">
            <a:avLst/>
          </a:prstGeom>
        </p:spPr>
        <p:txBody>
          <a:bodyPr anchor="t" rtlCol="false" tIns="0" lIns="0" bIns="0" rIns="0">
            <a:spAutoFit/>
          </a:bodyPr>
          <a:lstStyle/>
          <a:p>
            <a:pPr algn="ctr">
              <a:lnSpc>
                <a:spcPts val="5611"/>
              </a:lnSpc>
              <a:spcBef>
                <a:spcPct val="0"/>
              </a:spcBef>
            </a:pPr>
            <a:r>
              <a:rPr lang="en-US" sz="4008">
                <a:solidFill>
                  <a:srgbClr val="38B6FF"/>
                </a:solidFill>
                <a:latin typeface="HK Modular"/>
                <a:ea typeface="HK Modular"/>
                <a:cs typeface="HK Modular"/>
                <a:sym typeface="HK Modular"/>
              </a:rPr>
              <a:t>COMO LO APLICARIAN AL EJERCICIO DE LA POKEDEX?</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915724" y="4453084"/>
            <a:ext cx="6619992" cy="4145770"/>
          </a:xfrm>
          <a:custGeom>
            <a:avLst/>
            <a:gdLst/>
            <a:ahLst/>
            <a:cxnLst/>
            <a:rect r="r" b="b" t="t" l="l"/>
            <a:pathLst>
              <a:path h="4145770" w="6619992">
                <a:moveTo>
                  <a:pt x="0" y="0"/>
                </a:moveTo>
                <a:lnTo>
                  <a:pt x="6619992" y="0"/>
                </a:lnTo>
                <a:lnTo>
                  <a:pt x="6619992" y="4145771"/>
                </a:lnTo>
                <a:lnTo>
                  <a:pt x="0" y="4145771"/>
                </a:lnTo>
                <a:lnTo>
                  <a:pt x="0" y="0"/>
                </a:lnTo>
                <a:close/>
              </a:path>
            </a:pathLst>
          </a:custGeom>
          <a:blipFill>
            <a:blip r:embed="rId4"/>
            <a:stretch>
              <a:fillRect l="0" t="0" r="0" b="0"/>
            </a:stretch>
          </a:blipFill>
        </p:spPr>
      </p:sp>
      <p:sp>
        <p:nvSpPr>
          <p:cNvPr name="Freeform 8" id="8"/>
          <p:cNvSpPr/>
          <p:nvPr/>
        </p:nvSpPr>
        <p:spPr>
          <a:xfrm flipH="false" flipV="false" rot="0">
            <a:off x="9813807" y="4590141"/>
            <a:ext cx="7960791" cy="4139611"/>
          </a:xfrm>
          <a:custGeom>
            <a:avLst/>
            <a:gdLst/>
            <a:ahLst/>
            <a:cxnLst/>
            <a:rect r="r" b="b" t="t" l="l"/>
            <a:pathLst>
              <a:path h="4139611" w="7960791">
                <a:moveTo>
                  <a:pt x="0" y="0"/>
                </a:moveTo>
                <a:lnTo>
                  <a:pt x="7960792" y="0"/>
                </a:lnTo>
                <a:lnTo>
                  <a:pt x="7960792" y="4139612"/>
                </a:lnTo>
                <a:lnTo>
                  <a:pt x="0" y="4139612"/>
                </a:lnTo>
                <a:lnTo>
                  <a:pt x="0" y="0"/>
                </a:lnTo>
                <a:close/>
              </a:path>
            </a:pathLst>
          </a:custGeom>
          <a:blipFill>
            <a:blip r:embed="rId5"/>
            <a:stretch>
              <a:fillRect l="0" t="0" r="0" b="0"/>
            </a:stretch>
          </a:blipFill>
        </p:spPr>
      </p:sp>
      <p:sp>
        <p:nvSpPr>
          <p:cNvPr name="TextBox 9" id="9"/>
          <p:cNvSpPr txBox="true"/>
          <p:nvPr/>
        </p:nvSpPr>
        <p:spPr>
          <a:xfrm rot="0">
            <a:off x="2982879" y="2087021"/>
            <a:ext cx="12540977" cy="1819884"/>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PARTES DE UNA PAGINA WEB</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8414270" y="7067741"/>
            <a:ext cx="1459460" cy="2190559"/>
          </a:xfrm>
          <a:custGeom>
            <a:avLst/>
            <a:gdLst/>
            <a:ahLst/>
            <a:cxnLst/>
            <a:rect r="r" b="b" t="t" l="l"/>
            <a:pathLst>
              <a:path h="2190559" w="1459460">
                <a:moveTo>
                  <a:pt x="0" y="0"/>
                </a:moveTo>
                <a:lnTo>
                  <a:pt x="1459460" y="0"/>
                </a:lnTo>
                <a:lnTo>
                  <a:pt x="1459460" y="2190559"/>
                </a:lnTo>
                <a:lnTo>
                  <a:pt x="0" y="2190559"/>
                </a:lnTo>
                <a:lnTo>
                  <a:pt x="0" y="0"/>
                </a:lnTo>
                <a:close/>
              </a:path>
            </a:pathLst>
          </a:custGeom>
          <a:blipFill>
            <a:blip r:embed="rId4"/>
            <a:stretch>
              <a:fillRect l="0" t="0" r="0" b="0"/>
            </a:stretch>
          </a:blipFill>
        </p:spPr>
      </p:sp>
      <p:sp>
        <p:nvSpPr>
          <p:cNvPr name="TextBox 8" id="8"/>
          <p:cNvSpPr txBox="true"/>
          <p:nvPr/>
        </p:nvSpPr>
        <p:spPr>
          <a:xfrm rot="0">
            <a:off x="2982879" y="2087021"/>
            <a:ext cx="12540977" cy="1819884"/>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MOCKS Y DISEÑOS DE APLICACIONES CON FIGMA</a:t>
            </a:r>
          </a:p>
        </p:txBody>
      </p:sp>
      <p:sp>
        <p:nvSpPr>
          <p:cNvPr name="TextBox 9" id="9"/>
          <p:cNvSpPr txBox="true"/>
          <p:nvPr/>
        </p:nvSpPr>
        <p:spPr>
          <a:xfrm rot="0">
            <a:off x="2825241" y="4331078"/>
            <a:ext cx="12637519" cy="2183909"/>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Figma es una eficiente herramienta de diseño colaborativo para equipos. Explora ideas y recopila feedback, crea prototipos realistas y agiliza el desarrollo de productos con sistemas de diseño</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494552" y="3884068"/>
            <a:ext cx="839097" cy="1259432"/>
          </a:xfrm>
          <a:custGeom>
            <a:avLst/>
            <a:gdLst/>
            <a:ahLst/>
            <a:cxnLst/>
            <a:rect r="r" b="b" t="t" l="l"/>
            <a:pathLst>
              <a:path h="1259432" w="839097">
                <a:moveTo>
                  <a:pt x="0" y="0"/>
                </a:moveTo>
                <a:lnTo>
                  <a:pt x="839096" y="0"/>
                </a:lnTo>
                <a:lnTo>
                  <a:pt x="839096" y="1259432"/>
                </a:lnTo>
                <a:lnTo>
                  <a:pt x="0" y="1259432"/>
                </a:lnTo>
                <a:lnTo>
                  <a:pt x="0" y="0"/>
                </a:lnTo>
                <a:close/>
              </a:path>
            </a:pathLst>
          </a:custGeom>
          <a:blipFill>
            <a:blip r:embed="rId4"/>
            <a:stretch>
              <a:fillRect l="0" t="0" r="0" b="0"/>
            </a:stretch>
          </a:blipFill>
        </p:spPr>
      </p:sp>
      <p:sp>
        <p:nvSpPr>
          <p:cNvPr name="TextBox 8" id="8"/>
          <p:cNvSpPr txBox="true"/>
          <p:nvPr/>
        </p:nvSpPr>
        <p:spPr>
          <a:xfrm rot="0">
            <a:off x="2333648"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COMO USARLO?</a:t>
            </a:r>
          </a:p>
        </p:txBody>
      </p:sp>
      <p:sp>
        <p:nvSpPr>
          <p:cNvPr name="TextBox 9" id="9"/>
          <p:cNvSpPr txBox="true"/>
          <p:nvPr/>
        </p:nvSpPr>
        <p:spPr>
          <a:xfrm rot="0">
            <a:off x="2755648" y="4042977"/>
            <a:ext cx="14035219"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Crea un nuevo proyecto - A traves del boton Drafts y dale un nombre al proyecto</a:t>
            </a:r>
          </a:p>
        </p:txBody>
      </p:sp>
      <p:sp>
        <p:nvSpPr>
          <p:cNvPr name="Freeform 10" id="10"/>
          <p:cNvSpPr/>
          <p:nvPr/>
        </p:nvSpPr>
        <p:spPr>
          <a:xfrm flipH="false" flipV="false" rot="0">
            <a:off x="1494552" y="5951696"/>
            <a:ext cx="839097" cy="1259432"/>
          </a:xfrm>
          <a:custGeom>
            <a:avLst/>
            <a:gdLst/>
            <a:ahLst/>
            <a:cxnLst/>
            <a:rect r="r" b="b" t="t" l="l"/>
            <a:pathLst>
              <a:path h="1259432" w="839097">
                <a:moveTo>
                  <a:pt x="0" y="0"/>
                </a:moveTo>
                <a:lnTo>
                  <a:pt x="839096" y="0"/>
                </a:lnTo>
                <a:lnTo>
                  <a:pt x="839096" y="1259433"/>
                </a:lnTo>
                <a:lnTo>
                  <a:pt x="0" y="1259433"/>
                </a:lnTo>
                <a:lnTo>
                  <a:pt x="0" y="0"/>
                </a:lnTo>
                <a:close/>
              </a:path>
            </a:pathLst>
          </a:custGeom>
          <a:blipFill>
            <a:blip r:embed="rId4"/>
            <a:stretch>
              <a:fillRect l="0" t="0" r="0" b="0"/>
            </a:stretch>
          </a:blipFill>
        </p:spPr>
      </p:sp>
      <p:sp>
        <p:nvSpPr>
          <p:cNvPr name="TextBox 11" id="11"/>
          <p:cNvSpPr txBox="true"/>
          <p:nvPr/>
        </p:nvSpPr>
        <p:spPr>
          <a:xfrm rot="0">
            <a:off x="2755648" y="5856446"/>
            <a:ext cx="14035219" cy="272560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Prepara un frame sobre el cual trabajar, en los botones superiores encontraras un marco (#) y ahi podraas crear un frame, se podran elegir diferentes formatos adaptados a las pantallas y formas de visualizacion de una pagina web, desde telefonos moviles hasta el propio ordenador</a:t>
            </a:r>
          </a:p>
        </p:txBody>
      </p:sp>
      <p:sp>
        <p:nvSpPr>
          <p:cNvPr name="TextBox 12" id="12"/>
          <p:cNvSpPr txBox="true"/>
          <p:nvPr/>
        </p:nvSpPr>
        <p:spPr>
          <a:xfrm rot="0">
            <a:off x="2755648" y="8963332"/>
            <a:ext cx="14035219" cy="1074412"/>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HK Modular"/>
                <a:ea typeface="HK Modular"/>
                <a:cs typeface="HK Modular"/>
                <a:sym typeface="HK Modular"/>
              </a:rPr>
              <a:t>Puedes crear un marco a tu medida eligiendo las dimensiones de tu preferencia</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494552" y="3884068"/>
            <a:ext cx="839097" cy="1259432"/>
          </a:xfrm>
          <a:custGeom>
            <a:avLst/>
            <a:gdLst/>
            <a:ahLst/>
            <a:cxnLst/>
            <a:rect r="r" b="b" t="t" l="l"/>
            <a:pathLst>
              <a:path h="1259432" w="839097">
                <a:moveTo>
                  <a:pt x="0" y="0"/>
                </a:moveTo>
                <a:lnTo>
                  <a:pt x="839096" y="0"/>
                </a:lnTo>
                <a:lnTo>
                  <a:pt x="839096" y="1259432"/>
                </a:lnTo>
                <a:lnTo>
                  <a:pt x="0" y="1259432"/>
                </a:lnTo>
                <a:lnTo>
                  <a:pt x="0" y="0"/>
                </a:lnTo>
                <a:close/>
              </a:path>
            </a:pathLst>
          </a:custGeom>
          <a:blipFill>
            <a:blip r:embed="rId4"/>
            <a:stretch>
              <a:fillRect l="0" t="0" r="0" b="0"/>
            </a:stretch>
          </a:blipFill>
        </p:spPr>
      </p:sp>
      <p:sp>
        <p:nvSpPr>
          <p:cNvPr name="TextBox 8" id="8"/>
          <p:cNvSpPr txBox="true"/>
          <p:nvPr/>
        </p:nvSpPr>
        <p:spPr>
          <a:xfrm rot="0">
            <a:off x="2333648"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COMO USARLO?</a:t>
            </a:r>
          </a:p>
        </p:txBody>
      </p:sp>
      <p:sp>
        <p:nvSpPr>
          <p:cNvPr name="TextBox 9" id="9"/>
          <p:cNvSpPr txBox="true"/>
          <p:nvPr/>
        </p:nvSpPr>
        <p:spPr>
          <a:xfrm rot="0">
            <a:off x="2755648" y="5862745"/>
            <a:ext cx="14035219" cy="1642216"/>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Introduce diferentes elementos funcionales, la organizacion debe ser un must en el proyecto, manten todos los elementos bajo control y organiza correctamente entre capas</a:t>
            </a:r>
          </a:p>
        </p:txBody>
      </p:sp>
      <p:sp>
        <p:nvSpPr>
          <p:cNvPr name="Freeform 10" id="10"/>
          <p:cNvSpPr/>
          <p:nvPr/>
        </p:nvSpPr>
        <p:spPr>
          <a:xfrm flipH="false" flipV="false" rot="0">
            <a:off x="1494552" y="5951696"/>
            <a:ext cx="839097" cy="1259432"/>
          </a:xfrm>
          <a:custGeom>
            <a:avLst/>
            <a:gdLst/>
            <a:ahLst/>
            <a:cxnLst/>
            <a:rect r="r" b="b" t="t" l="l"/>
            <a:pathLst>
              <a:path h="1259432" w="839097">
                <a:moveTo>
                  <a:pt x="0" y="0"/>
                </a:moveTo>
                <a:lnTo>
                  <a:pt x="839096" y="0"/>
                </a:lnTo>
                <a:lnTo>
                  <a:pt x="839096" y="1259433"/>
                </a:lnTo>
                <a:lnTo>
                  <a:pt x="0" y="1259433"/>
                </a:lnTo>
                <a:lnTo>
                  <a:pt x="0" y="0"/>
                </a:lnTo>
                <a:close/>
              </a:path>
            </a:pathLst>
          </a:custGeom>
          <a:blipFill>
            <a:blip r:embed="rId4"/>
            <a:stretch>
              <a:fillRect l="0" t="0" r="0" b="0"/>
            </a:stretch>
          </a:blipFill>
        </p:spPr>
      </p:sp>
      <p:sp>
        <p:nvSpPr>
          <p:cNvPr name="TextBox 11" id="11"/>
          <p:cNvSpPr txBox="true"/>
          <p:nvPr/>
        </p:nvSpPr>
        <p:spPr>
          <a:xfrm rot="0">
            <a:off x="2528417" y="8505087"/>
            <a:ext cx="14035219" cy="1074412"/>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HK Modular"/>
                <a:ea typeface="HK Modular"/>
                <a:cs typeface="HK Modular"/>
                <a:sym typeface="HK Modular"/>
              </a:rPr>
              <a:t>Puedes usar rectangulos, texto, imagenes y componentes</a:t>
            </a:r>
          </a:p>
        </p:txBody>
      </p:sp>
      <p:sp>
        <p:nvSpPr>
          <p:cNvPr name="TextBox 12" id="12"/>
          <p:cNvSpPr txBox="true"/>
          <p:nvPr/>
        </p:nvSpPr>
        <p:spPr>
          <a:xfrm rot="0">
            <a:off x="2755648" y="3788818"/>
            <a:ext cx="14035219"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Crea las secciones basicas de una pagina web tipica: Header, Hero Section, Seccion de servicios o productos, Body y Footer</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494552" y="3884068"/>
            <a:ext cx="839097" cy="1259432"/>
          </a:xfrm>
          <a:custGeom>
            <a:avLst/>
            <a:gdLst/>
            <a:ahLst/>
            <a:cxnLst/>
            <a:rect r="r" b="b" t="t" l="l"/>
            <a:pathLst>
              <a:path h="1259432" w="839097">
                <a:moveTo>
                  <a:pt x="0" y="0"/>
                </a:moveTo>
                <a:lnTo>
                  <a:pt x="839096" y="0"/>
                </a:lnTo>
                <a:lnTo>
                  <a:pt x="839096" y="1259432"/>
                </a:lnTo>
                <a:lnTo>
                  <a:pt x="0" y="1259432"/>
                </a:lnTo>
                <a:lnTo>
                  <a:pt x="0" y="0"/>
                </a:lnTo>
                <a:close/>
              </a:path>
            </a:pathLst>
          </a:custGeom>
          <a:blipFill>
            <a:blip r:embed="rId4"/>
            <a:stretch>
              <a:fillRect l="0" t="0" r="0" b="0"/>
            </a:stretch>
          </a:blipFill>
        </p:spPr>
      </p:sp>
      <p:sp>
        <p:nvSpPr>
          <p:cNvPr name="TextBox 8" id="8"/>
          <p:cNvSpPr txBox="true"/>
          <p:nvPr/>
        </p:nvSpPr>
        <p:spPr>
          <a:xfrm rot="0">
            <a:off x="2333648"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COMO USARLO?</a:t>
            </a:r>
          </a:p>
        </p:txBody>
      </p:sp>
      <p:sp>
        <p:nvSpPr>
          <p:cNvPr name="TextBox 9" id="9"/>
          <p:cNvSpPr txBox="true"/>
          <p:nvPr/>
        </p:nvSpPr>
        <p:spPr>
          <a:xfrm rot="0">
            <a:off x="2755648" y="5862745"/>
            <a:ext cx="14035219"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Crea componentes reutilizables: Botones - Tarjetas de productos - Cabeceras - Pies de Pagina</a:t>
            </a:r>
          </a:p>
        </p:txBody>
      </p:sp>
      <p:sp>
        <p:nvSpPr>
          <p:cNvPr name="Freeform 10" id="10"/>
          <p:cNvSpPr/>
          <p:nvPr/>
        </p:nvSpPr>
        <p:spPr>
          <a:xfrm flipH="false" flipV="false" rot="0">
            <a:off x="1494552" y="5951696"/>
            <a:ext cx="839097" cy="1259432"/>
          </a:xfrm>
          <a:custGeom>
            <a:avLst/>
            <a:gdLst/>
            <a:ahLst/>
            <a:cxnLst/>
            <a:rect r="r" b="b" t="t" l="l"/>
            <a:pathLst>
              <a:path h="1259432" w="839097">
                <a:moveTo>
                  <a:pt x="0" y="0"/>
                </a:moveTo>
                <a:lnTo>
                  <a:pt x="839096" y="0"/>
                </a:lnTo>
                <a:lnTo>
                  <a:pt x="839096" y="1259433"/>
                </a:lnTo>
                <a:lnTo>
                  <a:pt x="0" y="1259433"/>
                </a:lnTo>
                <a:lnTo>
                  <a:pt x="0" y="0"/>
                </a:lnTo>
                <a:close/>
              </a:path>
            </a:pathLst>
          </a:custGeom>
          <a:blipFill>
            <a:blip r:embed="rId4"/>
            <a:stretch>
              <a:fillRect l="0" t="0" r="0" b="0"/>
            </a:stretch>
          </a:blipFill>
        </p:spPr>
      </p:sp>
      <p:sp>
        <p:nvSpPr>
          <p:cNvPr name="TextBox 11" id="11"/>
          <p:cNvSpPr txBox="true"/>
          <p:nvPr/>
        </p:nvSpPr>
        <p:spPr>
          <a:xfrm rot="0">
            <a:off x="2333648" y="7962162"/>
            <a:ext cx="14035219" cy="1617337"/>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HK Modular"/>
                <a:ea typeface="HK Modular"/>
                <a:cs typeface="HK Modular"/>
                <a:sym typeface="HK Modular"/>
              </a:rPr>
              <a:t>agrega interactividad con la pestaña prototype, agregando interacciones entre pantallas</a:t>
            </a:r>
          </a:p>
        </p:txBody>
      </p:sp>
      <p:sp>
        <p:nvSpPr>
          <p:cNvPr name="TextBox 12" id="12"/>
          <p:cNvSpPr txBox="true"/>
          <p:nvPr/>
        </p:nvSpPr>
        <p:spPr>
          <a:xfrm rot="0">
            <a:off x="2755648" y="3788818"/>
            <a:ext cx="14035219" cy="1642216"/>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Aplica estilos, define una paleta de colores, define tipografias web, define espaciado y margenes para mantener la contraseña y agrupa los elementos para mantener proporciones</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9029700" y="4753962"/>
            <a:ext cx="8229600" cy="4114800"/>
          </a:xfrm>
          <a:custGeom>
            <a:avLst/>
            <a:gdLst/>
            <a:ahLst/>
            <a:cxnLst/>
            <a:rect r="r" b="b" t="t" l="l"/>
            <a:pathLst>
              <a:path h="4114800" w="8229600">
                <a:moveTo>
                  <a:pt x="0" y="0"/>
                </a:moveTo>
                <a:lnTo>
                  <a:pt x="8229600" y="0"/>
                </a:lnTo>
                <a:lnTo>
                  <a:pt x="8229600" y="4114800"/>
                </a:lnTo>
                <a:lnTo>
                  <a:pt x="0" y="4114800"/>
                </a:lnTo>
                <a:lnTo>
                  <a:pt x="0" y="0"/>
                </a:lnTo>
                <a:close/>
              </a:path>
            </a:pathLst>
          </a:custGeom>
          <a:blipFill>
            <a:blip r:embed="rId4"/>
            <a:stretch>
              <a:fillRect l="0" t="0" r="0" b="0"/>
            </a:stretch>
          </a:blipFill>
        </p:spPr>
      </p:sp>
      <p:sp>
        <p:nvSpPr>
          <p:cNvPr name="TextBox 8" id="8"/>
          <p:cNvSpPr txBox="true"/>
          <p:nvPr/>
        </p:nvSpPr>
        <p:spPr>
          <a:xfrm rot="0">
            <a:off x="2982879" y="2087021"/>
            <a:ext cx="12540977" cy="1819884"/>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MOCKS Y DISEÑOS DE APLICACIONES CON FIGMA</a:t>
            </a:r>
          </a:p>
        </p:txBody>
      </p:sp>
      <p:sp>
        <p:nvSpPr>
          <p:cNvPr name="TextBox 9" id="9"/>
          <p:cNvSpPr txBox="true"/>
          <p:nvPr/>
        </p:nvSpPr>
        <p:spPr>
          <a:xfrm rot="0">
            <a:off x="812447" y="5426431"/>
            <a:ext cx="7536994" cy="2703187"/>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HK Modular"/>
                <a:ea typeface="HK Modular"/>
                <a:cs typeface="HK Modular"/>
                <a:sym typeface="HK Modular"/>
              </a:rPr>
              <a:t>puedes pasar tu diseño a codigo, con herramientas como anima, figma to html o firgma to react</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8515730" y="2912490"/>
            <a:ext cx="8743570" cy="5825403"/>
          </a:xfrm>
          <a:custGeom>
            <a:avLst/>
            <a:gdLst/>
            <a:ahLst/>
            <a:cxnLst/>
            <a:rect r="r" b="b" t="t" l="l"/>
            <a:pathLst>
              <a:path h="5825403" w="8743570">
                <a:moveTo>
                  <a:pt x="0" y="0"/>
                </a:moveTo>
                <a:lnTo>
                  <a:pt x="8743570" y="0"/>
                </a:lnTo>
                <a:lnTo>
                  <a:pt x="8743570" y="5825403"/>
                </a:lnTo>
                <a:lnTo>
                  <a:pt x="0" y="5825403"/>
                </a:lnTo>
                <a:lnTo>
                  <a:pt x="0" y="0"/>
                </a:lnTo>
                <a:close/>
              </a:path>
            </a:pathLst>
          </a:custGeom>
          <a:blipFill>
            <a:blip r:embed="rId4"/>
            <a:stretch>
              <a:fillRect l="0" t="0" r="0" b="0"/>
            </a:stretch>
          </a:blipFill>
        </p:spPr>
      </p:sp>
      <p:sp>
        <p:nvSpPr>
          <p:cNvPr name="TextBox 8" id="8"/>
          <p:cNvSpPr txBox="true"/>
          <p:nvPr/>
        </p:nvSpPr>
        <p:spPr>
          <a:xfrm rot="0">
            <a:off x="1028700" y="4225181"/>
            <a:ext cx="6801357" cy="3662443"/>
          </a:xfrm>
          <a:prstGeom prst="rect">
            <a:avLst/>
          </a:prstGeom>
        </p:spPr>
        <p:txBody>
          <a:bodyPr anchor="t" rtlCol="false" tIns="0" lIns="0" bIns="0" rIns="0">
            <a:spAutoFit/>
          </a:bodyPr>
          <a:lstStyle/>
          <a:p>
            <a:pPr algn="ctr">
              <a:lnSpc>
                <a:spcPts val="5832"/>
              </a:lnSpc>
              <a:spcBef>
                <a:spcPct val="0"/>
              </a:spcBef>
            </a:pPr>
            <a:r>
              <a:rPr lang="en-US" sz="4165">
                <a:solidFill>
                  <a:srgbClr val="38B6FF"/>
                </a:solidFill>
                <a:latin typeface="HK Modular"/>
                <a:ea typeface="HK Modular"/>
                <a:cs typeface="HK Modular"/>
                <a:sym typeface="HK Modular"/>
              </a:rPr>
              <a:t>MODULO DE DIAGRAMACION #7: FLUJO FUNCIONAL ENTRE PANTALLAS</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356873" y="5398110"/>
            <a:ext cx="2771963" cy="2494767"/>
          </a:xfrm>
          <a:custGeom>
            <a:avLst/>
            <a:gdLst/>
            <a:ahLst/>
            <a:cxnLst/>
            <a:rect r="r" b="b" t="t" l="l"/>
            <a:pathLst>
              <a:path h="2494767" w="2771963">
                <a:moveTo>
                  <a:pt x="0" y="0"/>
                </a:moveTo>
                <a:lnTo>
                  <a:pt x="2771963" y="0"/>
                </a:lnTo>
                <a:lnTo>
                  <a:pt x="2771963" y="2494767"/>
                </a:lnTo>
                <a:lnTo>
                  <a:pt x="0" y="2494767"/>
                </a:lnTo>
                <a:lnTo>
                  <a:pt x="0" y="0"/>
                </a:lnTo>
                <a:close/>
              </a:path>
            </a:pathLst>
          </a:custGeom>
          <a:blipFill>
            <a:blip r:embed="rId4"/>
            <a:stretch>
              <a:fillRect l="0" t="0" r="0" b="0"/>
            </a:stretch>
          </a:blipFill>
        </p:spPr>
      </p:sp>
      <p:sp>
        <p:nvSpPr>
          <p:cNvPr name="TextBox 8" id="8"/>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REACT</a:t>
            </a:r>
          </a:p>
        </p:txBody>
      </p:sp>
      <p:sp>
        <p:nvSpPr>
          <p:cNvPr name="TextBox 9" id="9"/>
          <p:cNvSpPr txBox="true"/>
          <p:nvPr/>
        </p:nvSpPr>
        <p:spPr>
          <a:xfrm rot="0">
            <a:off x="1356873" y="3275977"/>
            <a:ext cx="15902427" cy="1642216"/>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Es una biblioteca de Javascript para crear interfaces de usuario (UI) eficientes y declarativas, permitiendo el desarrollo de aplicaciones web y moviles mediante el uso de componentes modulares</a:t>
            </a:r>
          </a:p>
        </p:txBody>
      </p:sp>
      <p:sp>
        <p:nvSpPr>
          <p:cNvPr name="TextBox 10" id="10"/>
          <p:cNvSpPr txBox="true"/>
          <p:nvPr/>
        </p:nvSpPr>
        <p:spPr>
          <a:xfrm rot="0">
            <a:off x="4797793" y="5505914"/>
            <a:ext cx="12461507" cy="2183909"/>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Sus principales propositos son facilitar el diseño de interfaces dinamicas, mejorar el rendimiento de las aplicaciones a traves del DOM virtual, y simplificar el mantenimiento del codigo gracias a la modularidad y el flujo de datos unidireccional</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596897" y="3896117"/>
            <a:ext cx="2771963" cy="2494767"/>
          </a:xfrm>
          <a:custGeom>
            <a:avLst/>
            <a:gdLst/>
            <a:ahLst/>
            <a:cxnLst/>
            <a:rect r="r" b="b" t="t" l="l"/>
            <a:pathLst>
              <a:path h="2494767" w="2771963">
                <a:moveTo>
                  <a:pt x="0" y="0"/>
                </a:moveTo>
                <a:lnTo>
                  <a:pt x="2771963" y="0"/>
                </a:lnTo>
                <a:lnTo>
                  <a:pt x="2771963" y="2494766"/>
                </a:lnTo>
                <a:lnTo>
                  <a:pt x="0" y="2494766"/>
                </a:lnTo>
                <a:lnTo>
                  <a:pt x="0" y="0"/>
                </a:lnTo>
                <a:close/>
              </a:path>
            </a:pathLst>
          </a:custGeom>
          <a:blipFill>
            <a:blip r:embed="rId4"/>
            <a:stretch>
              <a:fillRect l="0" t="0" r="0" b="0"/>
            </a:stretch>
          </a:blipFill>
        </p:spPr>
      </p:sp>
      <p:sp>
        <p:nvSpPr>
          <p:cNvPr name="TextBox 8" id="8"/>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REACT</a:t>
            </a:r>
          </a:p>
        </p:txBody>
      </p:sp>
      <p:sp>
        <p:nvSpPr>
          <p:cNvPr name="TextBox 9" id="9"/>
          <p:cNvSpPr txBox="true"/>
          <p:nvPr/>
        </p:nvSpPr>
        <p:spPr>
          <a:xfrm rot="0">
            <a:off x="5057485" y="4110069"/>
            <a:ext cx="12461507"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Puedes usar varias formas de comenzar un proyecto en react utilizando Vite o con Create React App</a:t>
            </a:r>
          </a:p>
        </p:txBody>
      </p:sp>
      <p:sp>
        <p:nvSpPr>
          <p:cNvPr name="TextBox 10" id="10"/>
          <p:cNvSpPr txBox="true"/>
          <p:nvPr/>
        </p:nvSpPr>
        <p:spPr>
          <a:xfrm rot="0">
            <a:off x="5057485" y="5792997"/>
            <a:ext cx="12461507" cy="1642216"/>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Cuando abres un proyecto tiene una estructura basica, es necesario complementarla con una arquitectura adecuada para nuestro sistema</a:t>
            </a:r>
          </a:p>
        </p:txBody>
      </p:sp>
      <p:sp>
        <p:nvSpPr>
          <p:cNvPr name="TextBox 11" id="11"/>
          <p:cNvSpPr txBox="true"/>
          <p:nvPr/>
        </p:nvSpPr>
        <p:spPr>
          <a:xfrm rot="0">
            <a:off x="5057485" y="8085987"/>
            <a:ext cx="12461507"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React usa una sintaxis llamada JSX que permite escribir HTML dentro del codigo JavaScript</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6206430" y="2191796"/>
            <a:ext cx="1014379" cy="912941"/>
          </a:xfrm>
          <a:custGeom>
            <a:avLst/>
            <a:gdLst/>
            <a:ahLst/>
            <a:cxnLst/>
            <a:rect r="r" b="b" t="t" l="l"/>
            <a:pathLst>
              <a:path h="912941" w="1014379">
                <a:moveTo>
                  <a:pt x="0" y="0"/>
                </a:moveTo>
                <a:lnTo>
                  <a:pt x="1014380" y="0"/>
                </a:lnTo>
                <a:lnTo>
                  <a:pt x="1014380" y="912941"/>
                </a:lnTo>
                <a:lnTo>
                  <a:pt x="0" y="912941"/>
                </a:lnTo>
                <a:lnTo>
                  <a:pt x="0" y="0"/>
                </a:lnTo>
                <a:close/>
              </a:path>
            </a:pathLst>
          </a:custGeom>
          <a:blipFill>
            <a:blip r:embed="rId4"/>
            <a:stretch>
              <a:fillRect l="0" t="0" r="0" b="0"/>
            </a:stretch>
          </a:blipFill>
        </p:spPr>
      </p:sp>
      <p:sp>
        <p:nvSpPr>
          <p:cNvPr name="Freeform 8" id="8"/>
          <p:cNvSpPr/>
          <p:nvPr/>
        </p:nvSpPr>
        <p:spPr>
          <a:xfrm flipH="false" flipV="false" rot="0">
            <a:off x="1182155" y="3724529"/>
            <a:ext cx="7961845" cy="5137939"/>
          </a:xfrm>
          <a:custGeom>
            <a:avLst/>
            <a:gdLst/>
            <a:ahLst/>
            <a:cxnLst/>
            <a:rect r="r" b="b" t="t" l="l"/>
            <a:pathLst>
              <a:path h="5137939" w="7961845">
                <a:moveTo>
                  <a:pt x="0" y="0"/>
                </a:moveTo>
                <a:lnTo>
                  <a:pt x="7961845" y="0"/>
                </a:lnTo>
                <a:lnTo>
                  <a:pt x="7961845" y="5137940"/>
                </a:lnTo>
                <a:lnTo>
                  <a:pt x="0" y="5137940"/>
                </a:lnTo>
                <a:lnTo>
                  <a:pt x="0" y="0"/>
                </a:lnTo>
                <a:close/>
              </a:path>
            </a:pathLst>
          </a:custGeom>
          <a:blipFill>
            <a:blip r:embed="rId5"/>
            <a:stretch>
              <a:fillRect l="0" t="0" r="0" b="0"/>
            </a:stretch>
          </a:blipFill>
        </p:spPr>
      </p:sp>
      <p:sp>
        <p:nvSpPr>
          <p:cNvPr name="TextBox 9" id="9"/>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REACT</a:t>
            </a:r>
          </a:p>
        </p:txBody>
      </p:sp>
      <p:sp>
        <p:nvSpPr>
          <p:cNvPr name="TextBox 10" id="10"/>
          <p:cNvSpPr txBox="true"/>
          <p:nvPr/>
        </p:nvSpPr>
        <p:spPr>
          <a:xfrm rot="0">
            <a:off x="9634557" y="5048250"/>
            <a:ext cx="8338896" cy="2183909"/>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JSX no es HTML real, al compilarse React lo convierte en llamadas a funciones Javascript que crean elementos del DOM virtual</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6206430" y="2191796"/>
            <a:ext cx="1014379" cy="912941"/>
          </a:xfrm>
          <a:custGeom>
            <a:avLst/>
            <a:gdLst/>
            <a:ahLst/>
            <a:cxnLst/>
            <a:rect r="r" b="b" t="t" l="l"/>
            <a:pathLst>
              <a:path h="912941" w="1014379">
                <a:moveTo>
                  <a:pt x="0" y="0"/>
                </a:moveTo>
                <a:lnTo>
                  <a:pt x="1014380" y="0"/>
                </a:lnTo>
                <a:lnTo>
                  <a:pt x="1014380" y="912941"/>
                </a:lnTo>
                <a:lnTo>
                  <a:pt x="0" y="912941"/>
                </a:lnTo>
                <a:lnTo>
                  <a:pt x="0" y="0"/>
                </a:lnTo>
                <a:close/>
              </a:path>
            </a:pathLst>
          </a:custGeom>
          <a:blipFill>
            <a:blip r:embed="rId4"/>
            <a:stretch>
              <a:fillRect l="0" t="0" r="0" b="0"/>
            </a:stretch>
          </a:blipFill>
        </p:spPr>
      </p:sp>
      <p:sp>
        <p:nvSpPr>
          <p:cNvPr name="Freeform 8" id="8"/>
          <p:cNvSpPr/>
          <p:nvPr/>
        </p:nvSpPr>
        <p:spPr>
          <a:xfrm flipH="false" flipV="false" rot="0">
            <a:off x="1953326" y="3718428"/>
            <a:ext cx="6265972" cy="5539872"/>
          </a:xfrm>
          <a:custGeom>
            <a:avLst/>
            <a:gdLst/>
            <a:ahLst/>
            <a:cxnLst/>
            <a:rect r="r" b="b" t="t" l="l"/>
            <a:pathLst>
              <a:path h="5539872" w="6265972">
                <a:moveTo>
                  <a:pt x="0" y="0"/>
                </a:moveTo>
                <a:lnTo>
                  <a:pt x="6265972" y="0"/>
                </a:lnTo>
                <a:lnTo>
                  <a:pt x="6265972" y="5539872"/>
                </a:lnTo>
                <a:lnTo>
                  <a:pt x="0" y="5539872"/>
                </a:lnTo>
                <a:lnTo>
                  <a:pt x="0" y="0"/>
                </a:lnTo>
                <a:close/>
              </a:path>
            </a:pathLst>
          </a:custGeom>
          <a:blipFill>
            <a:blip r:embed="rId5"/>
            <a:stretch>
              <a:fillRect l="0" t="0" r="0" b="0"/>
            </a:stretch>
          </a:blipFill>
        </p:spPr>
      </p:sp>
      <p:sp>
        <p:nvSpPr>
          <p:cNvPr name="TextBox 9" id="9"/>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REACT</a:t>
            </a:r>
          </a:p>
        </p:txBody>
      </p:sp>
      <p:sp>
        <p:nvSpPr>
          <p:cNvPr name="TextBox 10" id="10"/>
          <p:cNvSpPr txBox="true"/>
          <p:nvPr/>
        </p:nvSpPr>
        <p:spPr>
          <a:xfrm rot="0">
            <a:off x="10010643" y="3642228"/>
            <a:ext cx="6824345" cy="1342199"/>
          </a:xfrm>
          <a:prstGeom prst="rect">
            <a:avLst/>
          </a:prstGeom>
        </p:spPr>
        <p:txBody>
          <a:bodyPr anchor="t" rtlCol="false" tIns="0" lIns="0" bIns="0" rIns="0">
            <a:spAutoFit/>
          </a:bodyPr>
          <a:lstStyle/>
          <a:p>
            <a:pPr algn="ctr">
              <a:lnSpc>
                <a:spcPts val="3523"/>
              </a:lnSpc>
              <a:spcBef>
                <a:spcPct val="0"/>
              </a:spcBef>
            </a:pPr>
            <a:r>
              <a:rPr lang="en-US" sz="2516">
                <a:solidFill>
                  <a:srgbClr val="FFFFFF"/>
                </a:solidFill>
                <a:latin typeface="Poppins"/>
                <a:ea typeface="Poppins"/>
                <a:cs typeface="Poppins"/>
                <a:sym typeface="Poppins"/>
              </a:rPr>
              <a:t>React se basa en componentes, un componente es una funcion o clase que devuelve JSX</a:t>
            </a:r>
          </a:p>
        </p:txBody>
      </p:sp>
      <p:sp>
        <p:nvSpPr>
          <p:cNvPr name="TextBox 11" id="11"/>
          <p:cNvSpPr txBox="true"/>
          <p:nvPr/>
        </p:nvSpPr>
        <p:spPr>
          <a:xfrm rot="0">
            <a:off x="10065868" y="5353276"/>
            <a:ext cx="6713895" cy="2193976"/>
          </a:xfrm>
          <a:prstGeom prst="rect">
            <a:avLst/>
          </a:prstGeom>
        </p:spPr>
        <p:txBody>
          <a:bodyPr anchor="t" rtlCol="false" tIns="0" lIns="0" bIns="0" rIns="0">
            <a:spAutoFit/>
          </a:bodyPr>
          <a:lstStyle/>
          <a:p>
            <a:pPr algn="ctr">
              <a:lnSpc>
                <a:spcPts val="3466"/>
              </a:lnSpc>
              <a:spcBef>
                <a:spcPct val="0"/>
              </a:spcBef>
            </a:pPr>
            <a:r>
              <a:rPr lang="en-US" sz="2476">
                <a:solidFill>
                  <a:srgbClr val="FFFFFF"/>
                </a:solidFill>
                <a:latin typeface="Poppins"/>
                <a:ea typeface="Poppins"/>
                <a:cs typeface="Poppins"/>
                <a:sym typeface="Poppins"/>
              </a:rPr>
              <a:t>Cada componente puede tener su propio comportamiento o estilo, puede reutilizarse en distintas partes del proyecto y recibir props (propiedades) para hacerlo dinamico</a:t>
            </a:r>
          </a:p>
        </p:txBody>
      </p:sp>
      <p:sp>
        <p:nvSpPr>
          <p:cNvPr name="TextBox 12" id="12"/>
          <p:cNvSpPr txBox="true"/>
          <p:nvPr/>
        </p:nvSpPr>
        <p:spPr>
          <a:xfrm rot="0">
            <a:off x="10147561" y="8214002"/>
            <a:ext cx="6550508" cy="856354"/>
          </a:xfrm>
          <a:prstGeom prst="rect">
            <a:avLst/>
          </a:prstGeom>
        </p:spPr>
        <p:txBody>
          <a:bodyPr anchor="t" rtlCol="false" tIns="0" lIns="0" bIns="0" rIns="0">
            <a:spAutoFit/>
          </a:bodyPr>
          <a:lstStyle/>
          <a:p>
            <a:pPr algn="ctr">
              <a:lnSpc>
                <a:spcPts val="3382"/>
              </a:lnSpc>
              <a:spcBef>
                <a:spcPct val="0"/>
              </a:spcBef>
            </a:pPr>
            <a:r>
              <a:rPr lang="en-US" sz="2415">
                <a:solidFill>
                  <a:srgbClr val="FFFFFF"/>
                </a:solidFill>
                <a:latin typeface="Poppins"/>
                <a:ea typeface="Poppins"/>
                <a:cs typeface="Poppins"/>
                <a:sym typeface="Poppins"/>
              </a:rPr>
              <a:t>Pueden ser usados componentes de la biblioteca de React o personalizados</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6206430" y="2191796"/>
            <a:ext cx="1014379" cy="912941"/>
          </a:xfrm>
          <a:custGeom>
            <a:avLst/>
            <a:gdLst/>
            <a:ahLst/>
            <a:cxnLst/>
            <a:rect r="r" b="b" t="t" l="l"/>
            <a:pathLst>
              <a:path h="912941" w="1014379">
                <a:moveTo>
                  <a:pt x="0" y="0"/>
                </a:moveTo>
                <a:lnTo>
                  <a:pt x="1014380" y="0"/>
                </a:lnTo>
                <a:lnTo>
                  <a:pt x="1014380" y="912941"/>
                </a:lnTo>
                <a:lnTo>
                  <a:pt x="0" y="912941"/>
                </a:lnTo>
                <a:lnTo>
                  <a:pt x="0" y="0"/>
                </a:lnTo>
                <a:close/>
              </a:path>
            </a:pathLst>
          </a:custGeom>
          <a:blipFill>
            <a:blip r:embed="rId4"/>
            <a:stretch>
              <a:fillRect l="0" t="0" r="0" b="0"/>
            </a:stretch>
          </a:blipFill>
        </p:spPr>
      </p:sp>
      <p:sp>
        <p:nvSpPr>
          <p:cNvPr name="Freeform 8" id="8"/>
          <p:cNvSpPr/>
          <p:nvPr/>
        </p:nvSpPr>
        <p:spPr>
          <a:xfrm flipH="false" flipV="false" rot="0">
            <a:off x="2157331" y="6010426"/>
            <a:ext cx="5672726" cy="1775139"/>
          </a:xfrm>
          <a:custGeom>
            <a:avLst/>
            <a:gdLst/>
            <a:ahLst/>
            <a:cxnLst/>
            <a:rect r="r" b="b" t="t" l="l"/>
            <a:pathLst>
              <a:path h="1775139" w="5672726">
                <a:moveTo>
                  <a:pt x="0" y="0"/>
                </a:moveTo>
                <a:lnTo>
                  <a:pt x="5672726" y="0"/>
                </a:lnTo>
                <a:lnTo>
                  <a:pt x="5672726" y="1775138"/>
                </a:lnTo>
                <a:lnTo>
                  <a:pt x="0" y="1775138"/>
                </a:lnTo>
                <a:lnTo>
                  <a:pt x="0" y="0"/>
                </a:lnTo>
                <a:close/>
              </a:path>
            </a:pathLst>
          </a:custGeom>
          <a:blipFill>
            <a:blip r:embed="rId5"/>
            <a:stretch>
              <a:fillRect l="0" t="0" r="0" b="0"/>
            </a:stretch>
          </a:blipFill>
        </p:spPr>
      </p:sp>
      <p:sp>
        <p:nvSpPr>
          <p:cNvPr name="Freeform 9" id="9"/>
          <p:cNvSpPr/>
          <p:nvPr/>
        </p:nvSpPr>
        <p:spPr>
          <a:xfrm flipH="false" flipV="false" rot="0">
            <a:off x="1954395" y="8038362"/>
            <a:ext cx="6078597" cy="1647104"/>
          </a:xfrm>
          <a:custGeom>
            <a:avLst/>
            <a:gdLst/>
            <a:ahLst/>
            <a:cxnLst/>
            <a:rect r="r" b="b" t="t" l="l"/>
            <a:pathLst>
              <a:path h="1647104" w="6078597">
                <a:moveTo>
                  <a:pt x="0" y="0"/>
                </a:moveTo>
                <a:lnTo>
                  <a:pt x="6078597" y="0"/>
                </a:lnTo>
                <a:lnTo>
                  <a:pt x="6078597" y="1647104"/>
                </a:lnTo>
                <a:lnTo>
                  <a:pt x="0" y="1647104"/>
                </a:lnTo>
                <a:lnTo>
                  <a:pt x="0" y="0"/>
                </a:lnTo>
                <a:close/>
              </a:path>
            </a:pathLst>
          </a:custGeom>
          <a:blipFill>
            <a:blip r:embed="rId6"/>
            <a:stretch>
              <a:fillRect l="0" t="0" r="0" b="0"/>
            </a:stretch>
          </a:blipFill>
        </p:spPr>
      </p:sp>
      <p:sp>
        <p:nvSpPr>
          <p:cNvPr name="Freeform 10" id="10"/>
          <p:cNvSpPr/>
          <p:nvPr/>
        </p:nvSpPr>
        <p:spPr>
          <a:xfrm flipH="false" flipV="false" rot="0">
            <a:off x="3418361" y="3517156"/>
            <a:ext cx="3150665" cy="2240473"/>
          </a:xfrm>
          <a:custGeom>
            <a:avLst/>
            <a:gdLst/>
            <a:ahLst/>
            <a:cxnLst/>
            <a:rect r="r" b="b" t="t" l="l"/>
            <a:pathLst>
              <a:path h="2240473" w="3150665">
                <a:moveTo>
                  <a:pt x="0" y="0"/>
                </a:moveTo>
                <a:lnTo>
                  <a:pt x="3150665" y="0"/>
                </a:lnTo>
                <a:lnTo>
                  <a:pt x="3150665" y="2240473"/>
                </a:lnTo>
                <a:lnTo>
                  <a:pt x="0" y="2240473"/>
                </a:lnTo>
                <a:lnTo>
                  <a:pt x="0" y="0"/>
                </a:lnTo>
                <a:close/>
              </a:path>
            </a:pathLst>
          </a:custGeom>
          <a:blipFill>
            <a:blip r:embed="rId7"/>
            <a:stretch>
              <a:fillRect l="0" t="0" r="0" b="0"/>
            </a:stretch>
          </a:blipFill>
        </p:spPr>
      </p:sp>
      <p:sp>
        <p:nvSpPr>
          <p:cNvPr name="TextBox 11" id="11"/>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REACT</a:t>
            </a:r>
          </a:p>
        </p:txBody>
      </p:sp>
      <p:sp>
        <p:nvSpPr>
          <p:cNvPr name="TextBox 12" id="12"/>
          <p:cNvSpPr txBox="true"/>
          <p:nvPr/>
        </p:nvSpPr>
        <p:spPr>
          <a:xfrm rot="0">
            <a:off x="9253367" y="3782251"/>
            <a:ext cx="8338896"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React permite encapsular los estilos dentro del mismo componente</a:t>
            </a:r>
          </a:p>
        </p:txBody>
      </p:sp>
      <p:sp>
        <p:nvSpPr>
          <p:cNvPr name="TextBox 13" id="13"/>
          <p:cNvSpPr txBox="true"/>
          <p:nvPr/>
        </p:nvSpPr>
        <p:spPr>
          <a:xfrm rot="0">
            <a:off x="9253367" y="5387841"/>
            <a:ext cx="8338896" cy="1642216"/>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Puede ser usado con css tradicional siendo llamado en los componentes de React</a:t>
            </a:r>
          </a:p>
        </p:txBody>
      </p:sp>
      <p:sp>
        <p:nvSpPr>
          <p:cNvPr name="TextBox 14" id="14"/>
          <p:cNvSpPr txBox="true"/>
          <p:nvPr/>
        </p:nvSpPr>
        <p:spPr>
          <a:xfrm rot="0">
            <a:off x="9253367" y="7409712"/>
            <a:ext cx="8338896"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Puede ser usado con css modules, osea aislados por componente</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4486504" y="2065018"/>
            <a:ext cx="1014379" cy="912941"/>
          </a:xfrm>
          <a:custGeom>
            <a:avLst/>
            <a:gdLst/>
            <a:ahLst/>
            <a:cxnLst/>
            <a:rect r="r" b="b" t="t" l="l"/>
            <a:pathLst>
              <a:path h="912941" w="1014379">
                <a:moveTo>
                  <a:pt x="0" y="0"/>
                </a:moveTo>
                <a:lnTo>
                  <a:pt x="1014379" y="0"/>
                </a:lnTo>
                <a:lnTo>
                  <a:pt x="1014379" y="912942"/>
                </a:lnTo>
                <a:lnTo>
                  <a:pt x="0" y="912942"/>
                </a:lnTo>
                <a:lnTo>
                  <a:pt x="0" y="0"/>
                </a:lnTo>
                <a:close/>
              </a:path>
            </a:pathLst>
          </a:custGeom>
          <a:blipFill>
            <a:blip r:embed="rId4"/>
            <a:stretch>
              <a:fillRect l="0" t="0" r="0" b="0"/>
            </a:stretch>
          </a:blipFill>
        </p:spPr>
      </p:sp>
      <p:sp>
        <p:nvSpPr>
          <p:cNvPr name="Freeform 8" id="8"/>
          <p:cNvSpPr/>
          <p:nvPr/>
        </p:nvSpPr>
        <p:spPr>
          <a:xfrm flipH="false" flipV="false" rot="0">
            <a:off x="11940379" y="6152528"/>
            <a:ext cx="5744206" cy="2704867"/>
          </a:xfrm>
          <a:custGeom>
            <a:avLst/>
            <a:gdLst/>
            <a:ahLst/>
            <a:cxnLst/>
            <a:rect r="r" b="b" t="t" l="l"/>
            <a:pathLst>
              <a:path h="2704867" w="5744206">
                <a:moveTo>
                  <a:pt x="0" y="0"/>
                </a:moveTo>
                <a:lnTo>
                  <a:pt x="5744207" y="0"/>
                </a:lnTo>
                <a:lnTo>
                  <a:pt x="5744207" y="2704867"/>
                </a:lnTo>
                <a:lnTo>
                  <a:pt x="0" y="2704867"/>
                </a:lnTo>
                <a:lnTo>
                  <a:pt x="0" y="0"/>
                </a:lnTo>
                <a:close/>
              </a:path>
            </a:pathLst>
          </a:custGeom>
          <a:blipFill>
            <a:blip r:embed="rId5"/>
            <a:stretch>
              <a:fillRect l="0" t="0" r="0" b="0"/>
            </a:stretch>
          </a:blipFill>
        </p:spPr>
      </p:sp>
      <p:sp>
        <p:nvSpPr>
          <p:cNvPr name="TextBox 9" id="9"/>
          <p:cNvSpPr txBox="true"/>
          <p:nvPr/>
        </p:nvSpPr>
        <p:spPr>
          <a:xfrm rot="0">
            <a:off x="2873512" y="2021122"/>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REACT - HOOKS</a:t>
            </a:r>
          </a:p>
        </p:txBody>
      </p:sp>
      <p:sp>
        <p:nvSpPr>
          <p:cNvPr name="TextBox 10" id="10"/>
          <p:cNvSpPr txBox="true"/>
          <p:nvPr/>
        </p:nvSpPr>
        <p:spPr>
          <a:xfrm rot="0">
            <a:off x="1683241" y="3239557"/>
            <a:ext cx="15140253"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Los hooks son funciones especiales que permiten usar caracteristicas de REACT como estados y ciclo de vida en componentes funcionales</a:t>
            </a:r>
          </a:p>
        </p:txBody>
      </p:sp>
      <p:sp>
        <p:nvSpPr>
          <p:cNvPr name="TextBox 11" id="11"/>
          <p:cNvSpPr txBox="true"/>
          <p:nvPr/>
        </p:nvSpPr>
        <p:spPr>
          <a:xfrm rot="0">
            <a:off x="5083919" y="4597255"/>
            <a:ext cx="8338896"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Algunos de los mas usados son</a:t>
            </a:r>
          </a:p>
        </p:txBody>
      </p:sp>
      <p:sp>
        <p:nvSpPr>
          <p:cNvPr name="TextBox 12" id="12"/>
          <p:cNvSpPr txBox="true"/>
          <p:nvPr/>
        </p:nvSpPr>
        <p:spPr>
          <a:xfrm rot="0">
            <a:off x="1683241" y="6946132"/>
            <a:ext cx="2967048"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useState()</a:t>
            </a:r>
          </a:p>
        </p:txBody>
      </p:sp>
      <p:sp>
        <p:nvSpPr>
          <p:cNvPr name="TextBox 13" id="13"/>
          <p:cNvSpPr txBox="true"/>
          <p:nvPr/>
        </p:nvSpPr>
        <p:spPr>
          <a:xfrm rot="0">
            <a:off x="5884663" y="6870585"/>
            <a:ext cx="5374025" cy="807192"/>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Permite manejar estado interno del componente</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4486504" y="2065018"/>
            <a:ext cx="1014379" cy="912941"/>
          </a:xfrm>
          <a:custGeom>
            <a:avLst/>
            <a:gdLst/>
            <a:ahLst/>
            <a:cxnLst/>
            <a:rect r="r" b="b" t="t" l="l"/>
            <a:pathLst>
              <a:path h="912941" w="1014379">
                <a:moveTo>
                  <a:pt x="0" y="0"/>
                </a:moveTo>
                <a:lnTo>
                  <a:pt x="1014379" y="0"/>
                </a:lnTo>
                <a:lnTo>
                  <a:pt x="1014379" y="912942"/>
                </a:lnTo>
                <a:lnTo>
                  <a:pt x="0" y="912942"/>
                </a:lnTo>
                <a:lnTo>
                  <a:pt x="0" y="0"/>
                </a:lnTo>
                <a:close/>
              </a:path>
            </a:pathLst>
          </a:custGeom>
          <a:blipFill>
            <a:blip r:embed="rId4"/>
            <a:stretch>
              <a:fillRect l="0" t="0" r="0" b="0"/>
            </a:stretch>
          </a:blipFill>
        </p:spPr>
      </p:sp>
      <p:sp>
        <p:nvSpPr>
          <p:cNvPr name="Freeform 8" id="8"/>
          <p:cNvSpPr/>
          <p:nvPr/>
        </p:nvSpPr>
        <p:spPr>
          <a:xfrm flipH="false" flipV="false" rot="0">
            <a:off x="11884558" y="3501736"/>
            <a:ext cx="5374742" cy="1773842"/>
          </a:xfrm>
          <a:custGeom>
            <a:avLst/>
            <a:gdLst/>
            <a:ahLst/>
            <a:cxnLst/>
            <a:rect r="r" b="b" t="t" l="l"/>
            <a:pathLst>
              <a:path h="1773842" w="5374742">
                <a:moveTo>
                  <a:pt x="0" y="0"/>
                </a:moveTo>
                <a:lnTo>
                  <a:pt x="5374742" y="0"/>
                </a:lnTo>
                <a:lnTo>
                  <a:pt x="5374742" y="1773842"/>
                </a:lnTo>
                <a:lnTo>
                  <a:pt x="0" y="1773842"/>
                </a:lnTo>
                <a:lnTo>
                  <a:pt x="0" y="0"/>
                </a:lnTo>
                <a:close/>
              </a:path>
            </a:pathLst>
          </a:custGeom>
          <a:blipFill>
            <a:blip r:embed="rId5"/>
            <a:stretch>
              <a:fillRect l="0" t="0" r="0" b="0"/>
            </a:stretch>
          </a:blipFill>
        </p:spPr>
      </p:sp>
      <p:sp>
        <p:nvSpPr>
          <p:cNvPr name="Freeform 9" id="9"/>
          <p:cNvSpPr/>
          <p:nvPr/>
        </p:nvSpPr>
        <p:spPr>
          <a:xfrm flipH="false" flipV="false" rot="0">
            <a:off x="11719502" y="5723264"/>
            <a:ext cx="5704854" cy="3850383"/>
          </a:xfrm>
          <a:custGeom>
            <a:avLst/>
            <a:gdLst/>
            <a:ahLst/>
            <a:cxnLst/>
            <a:rect r="r" b="b" t="t" l="l"/>
            <a:pathLst>
              <a:path h="3850383" w="5704854">
                <a:moveTo>
                  <a:pt x="0" y="0"/>
                </a:moveTo>
                <a:lnTo>
                  <a:pt x="5704854" y="0"/>
                </a:lnTo>
                <a:lnTo>
                  <a:pt x="5704854" y="3850384"/>
                </a:lnTo>
                <a:lnTo>
                  <a:pt x="0" y="3850384"/>
                </a:lnTo>
                <a:lnTo>
                  <a:pt x="0" y="0"/>
                </a:lnTo>
                <a:close/>
              </a:path>
            </a:pathLst>
          </a:custGeom>
          <a:blipFill>
            <a:blip r:embed="rId6"/>
            <a:stretch>
              <a:fillRect l="0" t="0" r="0" b="0"/>
            </a:stretch>
          </a:blipFill>
        </p:spPr>
      </p:sp>
      <p:sp>
        <p:nvSpPr>
          <p:cNvPr name="TextBox 10" id="10"/>
          <p:cNvSpPr txBox="true"/>
          <p:nvPr/>
        </p:nvSpPr>
        <p:spPr>
          <a:xfrm rot="0">
            <a:off x="2873512" y="2021122"/>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REACT - HOOKS</a:t>
            </a:r>
          </a:p>
        </p:txBody>
      </p:sp>
      <p:sp>
        <p:nvSpPr>
          <p:cNvPr name="TextBox 11" id="11"/>
          <p:cNvSpPr txBox="true"/>
          <p:nvPr/>
        </p:nvSpPr>
        <p:spPr>
          <a:xfrm rot="0">
            <a:off x="1519456" y="3829827"/>
            <a:ext cx="2967048"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useEffect()</a:t>
            </a:r>
          </a:p>
        </p:txBody>
      </p:sp>
      <p:sp>
        <p:nvSpPr>
          <p:cNvPr name="TextBox 12" id="12"/>
          <p:cNvSpPr txBox="true"/>
          <p:nvPr/>
        </p:nvSpPr>
        <p:spPr>
          <a:xfrm rot="0">
            <a:off x="5500883" y="3522615"/>
            <a:ext cx="5374025" cy="1211354"/>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Permite ejecutar efectos secundarios (como llamadas a APIs, temporizadores o logs).</a:t>
            </a:r>
          </a:p>
        </p:txBody>
      </p:sp>
      <p:sp>
        <p:nvSpPr>
          <p:cNvPr name="TextBox 13" id="13"/>
          <p:cNvSpPr txBox="true"/>
          <p:nvPr/>
        </p:nvSpPr>
        <p:spPr>
          <a:xfrm rot="0">
            <a:off x="1519456" y="5994841"/>
            <a:ext cx="2967048"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useContext()</a:t>
            </a:r>
          </a:p>
        </p:txBody>
      </p:sp>
      <p:sp>
        <p:nvSpPr>
          <p:cNvPr name="TextBox 14" id="14"/>
          <p:cNvSpPr txBox="true"/>
          <p:nvPr/>
        </p:nvSpPr>
        <p:spPr>
          <a:xfrm rot="0">
            <a:off x="5500883" y="6032941"/>
            <a:ext cx="5666178" cy="1615516"/>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Sirve para compartir fatos globales como un tema o sesion de usuario sin tener que pasarlos por props manualmente</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4486504" y="2065018"/>
            <a:ext cx="1014379" cy="912941"/>
          </a:xfrm>
          <a:custGeom>
            <a:avLst/>
            <a:gdLst/>
            <a:ahLst/>
            <a:cxnLst/>
            <a:rect r="r" b="b" t="t" l="l"/>
            <a:pathLst>
              <a:path h="912941" w="1014379">
                <a:moveTo>
                  <a:pt x="0" y="0"/>
                </a:moveTo>
                <a:lnTo>
                  <a:pt x="1014379" y="0"/>
                </a:lnTo>
                <a:lnTo>
                  <a:pt x="1014379" y="912942"/>
                </a:lnTo>
                <a:lnTo>
                  <a:pt x="0" y="912942"/>
                </a:lnTo>
                <a:lnTo>
                  <a:pt x="0" y="0"/>
                </a:lnTo>
                <a:close/>
              </a:path>
            </a:pathLst>
          </a:custGeom>
          <a:blipFill>
            <a:blip r:embed="rId4"/>
            <a:stretch>
              <a:fillRect l="0" t="0" r="0" b="0"/>
            </a:stretch>
          </a:blipFill>
        </p:spPr>
      </p:sp>
      <p:sp>
        <p:nvSpPr>
          <p:cNvPr name="Freeform 8" id="8"/>
          <p:cNvSpPr/>
          <p:nvPr/>
        </p:nvSpPr>
        <p:spPr>
          <a:xfrm flipH="false" flipV="false" rot="0">
            <a:off x="14423898" y="2977960"/>
            <a:ext cx="2541387" cy="1979349"/>
          </a:xfrm>
          <a:custGeom>
            <a:avLst/>
            <a:gdLst/>
            <a:ahLst/>
            <a:cxnLst/>
            <a:rect r="r" b="b" t="t" l="l"/>
            <a:pathLst>
              <a:path h="1979349" w="2541387">
                <a:moveTo>
                  <a:pt x="0" y="0"/>
                </a:moveTo>
                <a:lnTo>
                  <a:pt x="2541387" y="0"/>
                </a:lnTo>
                <a:lnTo>
                  <a:pt x="2541387" y="1979349"/>
                </a:lnTo>
                <a:lnTo>
                  <a:pt x="0" y="1979349"/>
                </a:lnTo>
                <a:lnTo>
                  <a:pt x="0" y="0"/>
                </a:lnTo>
                <a:close/>
              </a:path>
            </a:pathLst>
          </a:custGeom>
          <a:blipFill>
            <a:blip r:embed="rId5"/>
            <a:stretch>
              <a:fillRect l="0" t="0" r="0" b="0"/>
            </a:stretch>
          </a:blipFill>
        </p:spPr>
      </p:sp>
      <p:sp>
        <p:nvSpPr>
          <p:cNvPr name="Freeform 9" id="9"/>
          <p:cNvSpPr/>
          <p:nvPr/>
        </p:nvSpPr>
        <p:spPr>
          <a:xfrm flipH="false" flipV="false" rot="0">
            <a:off x="14129883" y="5402264"/>
            <a:ext cx="3129417" cy="2027735"/>
          </a:xfrm>
          <a:custGeom>
            <a:avLst/>
            <a:gdLst/>
            <a:ahLst/>
            <a:cxnLst/>
            <a:rect r="r" b="b" t="t" l="l"/>
            <a:pathLst>
              <a:path h="2027735" w="3129417">
                <a:moveTo>
                  <a:pt x="0" y="0"/>
                </a:moveTo>
                <a:lnTo>
                  <a:pt x="3129417" y="0"/>
                </a:lnTo>
                <a:lnTo>
                  <a:pt x="3129417" y="2027735"/>
                </a:lnTo>
                <a:lnTo>
                  <a:pt x="0" y="2027735"/>
                </a:lnTo>
                <a:lnTo>
                  <a:pt x="0" y="0"/>
                </a:lnTo>
                <a:close/>
              </a:path>
            </a:pathLst>
          </a:custGeom>
          <a:blipFill>
            <a:blip r:embed="rId6"/>
            <a:stretch>
              <a:fillRect l="0" t="0" r="0" b="0"/>
            </a:stretch>
          </a:blipFill>
        </p:spPr>
      </p:sp>
      <p:sp>
        <p:nvSpPr>
          <p:cNvPr name="Freeform 10" id="10"/>
          <p:cNvSpPr/>
          <p:nvPr/>
        </p:nvSpPr>
        <p:spPr>
          <a:xfrm flipH="false" flipV="false" rot="0">
            <a:off x="14650106" y="7541929"/>
            <a:ext cx="2088971" cy="2327504"/>
          </a:xfrm>
          <a:custGeom>
            <a:avLst/>
            <a:gdLst/>
            <a:ahLst/>
            <a:cxnLst/>
            <a:rect r="r" b="b" t="t" l="l"/>
            <a:pathLst>
              <a:path h="2327504" w="2088971">
                <a:moveTo>
                  <a:pt x="0" y="0"/>
                </a:moveTo>
                <a:lnTo>
                  <a:pt x="2088971" y="0"/>
                </a:lnTo>
                <a:lnTo>
                  <a:pt x="2088971" y="2327504"/>
                </a:lnTo>
                <a:lnTo>
                  <a:pt x="0" y="2327504"/>
                </a:lnTo>
                <a:lnTo>
                  <a:pt x="0" y="0"/>
                </a:lnTo>
                <a:close/>
              </a:path>
            </a:pathLst>
          </a:custGeom>
          <a:blipFill>
            <a:blip r:embed="rId7"/>
            <a:stretch>
              <a:fillRect l="0" t="0" r="0" b="0"/>
            </a:stretch>
          </a:blipFill>
        </p:spPr>
      </p:sp>
      <p:sp>
        <p:nvSpPr>
          <p:cNvPr name="TextBox 11" id="11"/>
          <p:cNvSpPr txBox="true"/>
          <p:nvPr/>
        </p:nvSpPr>
        <p:spPr>
          <a:xfrm rot="0">
            <a:off x="2873512" y="2021122"/>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REACT - HOOKS</a:t>
            </a:r>
          </a:p>
        </p:txBody>
      </p:sp>
      <p:sp>
        <p:nvSpPr>
          <p:cNvPr name="TextBox 12" id="12"/>
          <p:cNvSpPr txBox="true"/>
          <p:nvPr/>
        </p:nvSpPr>
        <p:spPr>
          <a:xfrm rot="0">
            <a:off x="1519456" y="3884843"/>
            <a:ext cx="2967048"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useRef()</a:t>
            </a:r>
          </a:p>
        </p:txBody>
      </p:sp>
      <p:sp>
        <p:nvSpPr>
          <p:cNvPr name="TextBox 13" id="13"/>
          <p:cNvSpPr txBox="true"/>
          <p:nvPr/>
        </p:nvSpPr>
        <p:spPr>
          <a:xfrm rot="0">
            <a:off x="5500883" y="3779712"/>
            <a:ext cx="7848941" cy="1211354"/>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Sirve para acceder directamente a elementos del DOM o mantener valores que persisten entre renders sin causar re-renderizados</a:t>
            </a:r>
          </a:p>
        </p:txBody>
      </p:sp>
      <p:sp>
        <p:nvSpPr>
          <p:cNvPr name="TextBox 14" id="14"/>
          <p:cNvSpPr txBox="true"/>
          <p:nvPr/>
        </p:nvSpPr>
        <p:spPr>
          <a:xfrm rot="0">
            <a:off x="1519456" y="5906282"/>
            <a:ext cx="2967048"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useMemo()</a:t>
            </a:r>
          </a:p>
        </p:txBody>
      </p:sp>
      <p:sp>
        <p:nvSpPr>
          <p:cNvPr name="TextBox 15" id="15"/>
          <p:cNvSpPr txBox="true"/>
          <p:nvPr/>
        </p:nvSpPr>
        <p:spPr>
          <a:xfrm rot="0">
            <a:off x="1519456" y="7973911"/>
            <a:ext cx="2967048"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useCallback()</a:t>
            </a:r>
          </a:p>
        </p:txBody>
      </p:sp>
      <p:sp>
        <p:nvSpPr>
          <p:cNvPr name="TextBox 16" id="16"/>
          <p:cNvSpPr txBox="true"/>
          <p:nvPr/>
        </p:nvSpPr>
        <p:spPr>
          <a:xfrm rot="0">
            <a:off x="5500883" y="5857841"/>
            <a:ext cx="7848941" cy="1211354"/>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Sirve para memorizar valores costosos de calcular, de modo que solo se recalculen cuando cambian sus dependencias</a:t>
            </a:r>
          </a:p>
        </p:txBody>
      </p:sp>
      <p:sp>
        <p:nvSpPr>
          <p:cNvPr name="TextBox 17" id="17"/>
          <p:cNvSpPr txBox="true"/>
          <p:nvPr/>
        </p:nvSpPr>
        <p:spPr>
          <a:xfrm rot="0">
            <a:off x="5500883" y="7898489"/>
            <a:ext cx="7848941" cy="807192"/>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Sirve para memorizar funciones, evitando que se creen de nuevo en cada renderizado</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4486504" y="2065018"/>
            <a:ext cx="1014379" cy="912941"/>
          </a:xfrm>
          <a:custGeom>
            <a:avLst/>
            <a:gdLst/>
            <a:ahLst/>
            <a:cxnLst/>
            <a:rect r="r" b="b" t="t" l="l"/>
            <a:pathLst>
              <a:path h="912941" w="1014379">
                <a:moveTo>
                  <a:pt x="0" y="0"/>
                </a:moveTo>
                <a:lnTo>
                  <a:pt x="1014379" y="0"/>
                </a:lnTo>
                <a:lnTo>
                  <a:pt x="1014379" y="912942"/>
                </a:lnTo>
                <a:lnTo>
                  <a:pt x="0" y="912942"/>
                </a:lnTo>
                <a:lnTo>
                  <a:pt x="0" y="0"/>
                </a:lnTo>
                <a:close/>
              </a:path>
            </a:pathLst>
          </a:custGeom>
          <a:blipFill>
            <a:blip r:embed="rId4"/>
            <a:stretch>
              <a:fillRect l="0" t="0" r="0" b="0"/>
            </a:stretch>
          </a:blipFill>
        </p:spPr>
      </p:sp>
      <p:sp>
        <p:nvSpPr>
          <p:cNvPr name="Freeform 8" id="8"/>
          <p:cNvSpPr/>
          <p:nvPr/>
        </p:nvSpPr>
        <p:spPr>
          <a:xfrm flipH="false" flipV="false" rot="0">
            <a:off x="13695427" y="3113225"/>
            <a:ext cx="3438124" cy="3120097"/>
          </a:xfrm>
          <a:custGeom>
            <a:avLst/>
            <a:gdLst/>
            <a:ahLst/>
            <a:cxnLst/>
            <a:rect r="r" b="b" t="t" l="l"/>
            <a:pathLst>
              <a:path h="3120097" w="3438124">
                <a:moveTo>
                  <a:pt x="0" y="0"/>
                </a:moveTo>
                <a:lnTo>
                  <a:pt x="3438123" y="0"/>
                </a:lnTo>
                <a:lnTo>
                  <a:pt x="3438123" y="3120097"/>
                </a:lnTo>
                <a:lnTo>
                  <a:pt x="0" y="3120097"/>
                </a:lnTo>
                <a:lnTo>
                  <a:pt x="0" y="0"/>
                </a:lnTo>
                <a:close/>
              </a:path>
            </a:pathLst>
          </a:custGeom>
          <a:blipFill>
            <a:blip r:embed="rId5"/>
            <a:stretch>
              <a:fillRect l="0" t="0" r="0" b="0"/>
            </a:stretch>
          </a:blipFill>
        </p:spPr>
      </p:sp>
      <p:sp>
        <p:nvSpPr>
          <p:cNvPr name="Freeform 9" id="9"/>
          <p:cNvSpPr/>
          <p:nvPr/>
        </p:nvSpPr>
        <p:spPr>
          <a:xfrm flipH="false" flipV="false" rot="0">
            <a:off x="13695427" y="6708625"/>
            <a:ext cx="3581556" cy="3124129"/>
          </a:xfrm>
          <a:custGeom>
            <a:avLst/>
            <a:gdLst/>
            <a:ahLst/>
            <a:cxnLst/>
            <a:rect r="r" b="b" t="t" l="l"/>
            <a:pathLst>
              <a:path h="3124129" w="3581556">
                <a:moveTo>
                  <a:pt x="0" y="0"/>
                </a:moveTo>
                <a:lnTo>
                  <a:pt x="3581556" y="0"/>
                </a:lnTo>
                <a:lnTo>
                  <a:pt x="3581556" y="3124129"/>
                </a:lnTo>
                <a:lnTo>
                  <a:pt x="0" y="3124129"/>
                </a:lnTo>
                <a:lnTo>
                  <a:pt x="0" y="0"/>
                </a:lnTo>
                <a:close/>
              </a:path>
            </a:pathLst>
          </a:custGeom>
          <a:blipFill>
            <a:blip r:embed="rId6"/>
            <a:stretch>
              <a:fillRect l="0" t="0" r="0" b="0"/>
            </a:stretch>
          </a:blipFill>
        </p:spPr>
      </p:sp>
      <p:sp>
        <p:nvSpPr>
          <p:cNvPr name="TextBox 10" id="10"/>
          <p:cNvSpPr txBox="true"/>
          <p:nvPr/>
        </p:nvSpPr>
        <p:spPr>
          <a:xfrm rot="0">
            <a:off x="2873512" y="2021122"/>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REACT - HOOKS</a:t>
            </a:r>
          </a:p>
        </p:txBody>
      </p:sp>
      <p:sp>
        <p:nvSpPr>
          <p:cNvPr name="TextBox 11" id="11"/>
          <p:cNvSpPr txBox="true"/>
          <p:nvPr/>
        </p:nvSpPr>
        <p:spPr>
          <a:xfrm rot="0">
            <a:off x="1519456" y="3884843"/>
            <a:ext cx="2967048"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useReducer()</a:t>
            </a:r>
          </a:p>
        </p:txBody>
      </p:sp>
      <p:sp>
        <p:nvSpPr>
          <p:cNvPr name="TextBox 12" id="12"/>
          <p:cNvSpPr txBox="true"/>
          <p:nvPr/>
        </p:nvSpPr>
        <p:spPr>
          <a:xfrm rot="0">
            <a:off x="1519456" y="6726897"/>
            <a:ext cx="2967048"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Custom Hooks</a:t>
            </a:r>
          </a:p>
        </p:txBody>
      </p:sp>
      <p:sp>
        <p:nvSpPr>
          <p:cNvPr name="TextBox 13" id="13"/>
          <p:cNvSpPr txBox="true"/>
          <p:nvPr/>
        </p:nvSpPr>
        <p:spPr>
          <a:xfrm rot="0">
            <a:off x="5717589" y="3922943"/>
            <a:ext cx="6354249" cy="1211354"/>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Sirve para memorizar funciones, evitando que se creen de nuevo en casa renderizado</a:t>
            </a:r>
          </a:p>
        </p:txBody>
      </p:sp>
      <p:sp>
        <p:nvSpPr>
          <p:cNvPr name="TextBox 14" id="14"/>
          <p:cNvSpPr txBox="true"/>
          <p:nvPr/>
        </p:nvSpPr>
        <p:spPr>
          <a:xfrm rot="0">
            <a:off x="5717589" y="6651475"/>
            <a:ext cx="6354249" cy="1211354"/>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Puedes crear tus propios hooks para reutilizar logica de estado o efectos entre componentes</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2181517" y="2191796"/>
            <a:ext cx="1014379" cy="912941"/>
          </a:xfrm>
          <a:custGeom>
            <a:avLst/>
            <a:gdLst/>
            <a:ahLst/>
            <a:cxnLst/>
            <a:rect r="r" b="b" t="t" l="l"/>
            <a:pathLst>
              <a:path h="912941" w="1014379">
                <a:moveTo>
                  <a:pt x="0" y="0"/>
                </a:moveTo>
                <a:lnTo>
                  <a:pt x="1014379" y="0"/>
                </a:lnTo>
                <a:lnTo>
                  <a:pt x="1014379" y="912941"/>
                </a:lnTo>
                <a:lnTo>
                  <a:pt x="0" y="912941"/>
                </a:lnTo>
                <a:lnTo>
                  <a:pt x="0" y="0"/>
                </a:lnTo>
                <a:close/>
              </a:path>
            </a:pathLst>
          </a:custGeom>
          <a:blipFill>
            <a:blip r:embed="rId4"/>
            <a:stretch>
              <a:fillRect l="0" t="0" r="0" b="0"/>
            </a:stretch>
          </a:blipFill>
        </p:spPr>
      </p:sp>
      <p:sp>
        <p:nvSpPr>
          <p:cNvPr name="Freeform 8" id="8"/>
          <p:cNvSpPr/>
          <p:nvPr/>
        </p:nvSpPr>
        <p:spPr>
          <a:xfrm flipH="false" flipV="false" rot="0">
            <a:off x="10525876" y="3956732"/>
            <a:ext cx="5210997" cy="1736999"/>
          </a:xfrm>
          <a:custGeom>
            <a:avLst/>
            <a:gdLst/>
            <a:ahLst/>
            <a:cxnLst/>
            <a:rect r="r" b="b" t="t" l="l"/>
            <a:pathLst>
              <a:path h="1736999" w="5210997">
                <a:moveTo>
                  <a:pt x="0" y="0"/>
                </a:moveTo>
                <a:lnTo>
                  <a:pt x="5210997" y="0"/>
                </a:lnTo>
                <a:lnTo>
                  <a:pt x="5210997" y="1736999"/>
                </a:lnTo>
                <a:lnTo>
                  <a:pt x="0" y="1736999"/>
                </a:lnTo>
                <a:lnTo>
                  <a:pt x="0" y="0"/>
                </a:lnTo>
                <a:close/>
              </a:path>
            </a:pathLst>
          </a:custGeom>
          <a:blipFill>
            <a:blip r:embed="rId5"/>
            <a:stretch>
              <a:fillRect l="0" t="0" r="0" b="0"/>
            </a:stretch>
          </a:blipFill>
        </p:spPr>
      </p:sp>
      <p:sp>
        <p:nvSpPr>
          <p:cNvPr name="Freeform 9" id="9"/>
          <p:cNvSpPr/>
          <p:nvPr/>
        </p:nvSpPr>
        <p:spPr>
          <a:xfrm flipH="false" flipV="false" rot="0">
            <a:off x="10260970" y="6696816"/>
            <a:ext cx="5274215" cy="1616292"/>
          </a:xfrm>
          <a:custGeom>
            <a:avLst/>
            <a:gdLst/>
            <a:ahLst/>
            <a:cxnLst/>
            <a:rect r="r" b="b" t="t" l="l"/>
            <a:pathLst>
              <a:path h="1616292" w="5274215">
                <a:moveTo>
                  <a:pt x="0" y="0"/>
                </a:moveTo>
                <a:lnTo>
                  <a:pt x="5274215" y="0"/>
                </a:lnTo>
                <a:lnTo>
                  <a:pt x="5274215" y="1616292"/>
                </a:lnTo>
                <a:lnTo>
                  <a:pt x="0" y="1616292"/>
                </a:lnTo>
                <a:lnTo>
                  <a:pt x="0" y="0"/>
                </a:lnTo>
                <a:close/>
              </a:path>
            </a:pathLst>
          </a:custGeom>
          <a:blipFill>
            <a:blip r:embed="rId6"/>
            <a:stretch>
              <a:fillRect l="0" t="0" r="0" b="0"/>
            </a:stretch>
          </a:blipFill>
        </p:spPr>
      </p:sp>
      <p:sp>
        <p:nvSpPr>
          <p:cNvPr name="TextBox 10" id="10"/>
          <p:cNvSpPr txBox="true"/>
          <p:nvPr/>
        </p:nvSpPr>
        <p:spPr>
          <a:xfrm rot="0">
            <a:off x="3195896"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REGLAS DE LOS HOOKS</a:t>
            </a:r>
          </a:p>
        </p:txBody>
      </p:sp>
      <p:sp>
        <p:nvSpPr>
          <p:cNvPr name="TextBox 11" id="11"/>
          <p:cNvSpPr txBox="true"/>
          <p:nvPr/>
        </p:nvSpPr>
        <p:spPr>
          <a:xfrm rot="0">
            <a:off x="2181517" y="4018039"/>
            <a:ext cx="6354249" cy="807192"/>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Solo se utilizan dentro de  componentes funcionales o Hooks personalizados</a:t>
            </a:r>
          </a:p>
        </p:txBody>
      </p:sp>
      <p:sp>
        <p:nvSpPr>
          <p:cNvPr name="TextBox 12" id="12"/>
          <p:cNvSpPr txBox="true"/>
          <p:nvPr/>
        </p:nvSpPr>
        <p:spPr>
          <a:xfrm rot="0">
            <a:off x="2181517" y="6123937"/>
            <a:ext cx="6354249" cy="1615516"/>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No se usan dentro de condiciones, loops o funciones normales, ya que react necesita saber el orden exacto de los hooks para manejar correctamente los estados</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2181517" y="2191796"/>
            <a:ext cx="1014379" cy="912941"/>
          </a:xfrm>
          <a:custGeom>
            <a:avLst/>
            <a:gdLst/>
            <a:ahLst/>
            <a:cxnLst/>
            <a:rect r="r" b="b" t="t" l="l"/>
            <a:pathLst>
              <a:path h="912941" w="1014379">
                <a:moveTo>
                  <a:pt x="0" y="0"/>
                </a:moveTo>
                <a:lnTo>
                  <a:pt x="1014379" y="0"/>
                </a:lnTo>
                <a:lnTo>
                  <a:pt x="1014379" y="912941"/>
                </a:lnTo>
                <a:lnTo>
                  <a:pt x="0" y="912941"/>
                </a:lnTo>
                <a:lnTo>
                  <a:pt x="0" y="0"/>
                </a:lnTo>
                <a:close/>
              </a:path>
            </a:pathLst>
          </a:custGeom>
          <a:blipFill>
            <a:blip r:embed="rId4"/>
            <a:stretch>
              <a:fillRect l="0" t="0" r="0" b="0"/>
            </a:stretch>
          </a:blipFill>
        </p:spPr>
      </p:sp>
      <p:sp>
        <p:nvSpPr>
          <p:cNvPr name="Freeform 8" id="8"/>
          <p:cNvSpPr/>
          <p:nvPr/>
        </p:nvSpPr>
        <p:spPr>
          <a:xfrm flipH="false" flipV="false" rot="0">
            <a:off x="10104105" y="6186116"/>
            <a:ext cx="4167383" cy="3736275"/>
          </a:xfrm>
          <a:custGeom>
            <a:avLst/>
            <a:gdLst/>
            <a:ahLst/>
            <a:cxnLst/>
            <a:rect r="r" b="b" t="t" l="l"/>
            <a:pathLst>
              <a:path h="3736275" w="4167383">
                <a:moveTo>
                  <a:pt x="0" y="0"/>
                </a:moveTo>
                <a:lnTo>
                  <a:pt x="4167383" y="0"/>
                </a:lnTo>
                <a:lnTo>
                  <a:pt x="4167383" y="3736274"/>
                </a:lnTo>
                <a:lnTo>
                  <a:pt x="0" y="3736274"/>
                </a:lnTo>
                <a:lnTo>
                  <a:pt x="0" y="0"/>
                </a:lnTo>
                <a:close/>
              </a:path>
            </a:pathLst>
          </a:custGeom>
          <a:blipFill>
            <a:blip r:embed="rId5"/>
            <a:stretch>
              <a:fillRect l="0" t="0" r="0" b="0"/>
            </a:stretch>
          </a:blipFill>
        </p:spPr>
      </p:sp>
      <p:sp>
        <p:nvSpPr>
          <p:cNvPr name="Freeform 9" id="9"/>
          <p:cNvSpPr/>
          <p:nvPr/>
        </p:nvSpPr>
        <p:spPr>
          <a:xfrm flipH="false" flipV="false" rot="0">
            <a:off x="4598718" y="6186116"/>
            <a:ext cx="3840060" cy="3736275"/>
          </a:xfrm>
          <a:custGeom>
            <a:avLst/>
            <a:gdLst/>
            <a:ahLst/>
            <a:cxnLst/>
            <a:rect r="r" b="b" t="t" l="l"/>
            <a:pathLst>
              <a:path h="3736275" w="3840060">
                <a:moveTo>
                  <a:pt x="0" y="0"/>
                </a:moveTo>
                <a:lnTo>
                  <a:pt x="3840060" y="0"/>
                </a:lnTo>
                <a:lnTo>
                  <a:pt x="3840060" y="3736274"/>
                </a:lnTo>
                <a:lnTo>
                  <a:pt x="0" y="3736274"/>
                </a:lnTo>
                <a:lnTo>
                  <a:pt x="0" y="0"/>
                </a:lnTo>
                <a:close/>
              </a:path>
            </a:pathLst>
          </a:custGeom>
          <a:blipFill>
            <a:blip r:embed="rId6"/>
            <a:stretch>
              <a:fillRect l="0" t="0" r="0" b="0"/>
            </a:stretch>
          </a:blipFill>
        </p:spPr>
      </p:sp>
      <p:sp>
        <p:nvSpPr>
          <p:cNvPr name="TextBox 10" id="10"/>
          <p:cNvSpPr txBox="true"/>
          <p:nvPr/>
        </p:nvSpPr>
        <p:spPr>
          <a:xfrm rot="0">
            <a:off x="3195896" y="2087021"/>
            <a:ext cx="12540977" cy="1819884"/>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NAVEGACION ENTRE PANTALLAS</a:t>
            </a:r>
          </a:p>
        </p:txBody>
      </p:sp>
      <p:sp>
        <p:nvSpPr>
          <p:cNvPr name="TextBox 11" id="11"/>
          <p:cNvSpPr txBox="true"/>
          <p:nvPr/>
        </p:nvSpPr>
        <p:spPr>
          <a:xfrm rot="0">
            <a:off x="1028700" y="4412787"/>
            <a:ext cx="3570018" cy="403031"/>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REACT ROUTER</a:t>
            </a:r>
          </a:p>
        </p:txBody>
      </p:sp>
      <p:sp>
        <p:nvSpPr>
          <p:cNvPr name="TextBox 12" id="12"/>
          <p:cNvSpPr txBox="true"/>
          <p:nvPr/>
        </p:nvSpPr>
        <p:spPr>
          <a:xfrm rot="0">
            <a:off x="5497952" y="4412787"/>
            <a:ext cx="11761348" cy="1211354"/>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Es una libreria que permite crear rutas dentro de la aplicacion React, gracias a ella puedes tener varias pantallas (HOME, CONTACTO, DETALLE, ETC) sin recargar toda la pagina, eso convierte la app en una SPA (Single Page Application)</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TextBox 7" id="7"/>
          <p:cNvSpPr txBox="true"/>
          <p:nvPr/>
        </p:nvSpPr>
        <p:spPr>
          <a:xfrm rot="0">
            <a:off x="2294699" y="2115596"/>
            <a:ext cx="14513544" cy="628596"/>
          </a:xfrm>
          <a:prstGeom prst="rect">
            <a:avLst/>
          </a:prstGeom>
        </p:spPr>
        <p:txBody>
          <a:bodyPr anchor="t" rtlCol="false" tIns="0" lIns="0" bIns="0" rIns="0">
            <a:spAutoFit/>
          </a:bodyPr>
          <a:lstStyle/>
          <a:p>
            <a:pPr algn="ctr">
              <a:lnSpc>
                <a:spcPts val="5108"/>
              </a:lnSpc>
              <a:spcBef>
                <a:spcPct val="0"/>
              </a:spcBef>
            </a:pPr>
            <a:r>
              <a:rPr lang="en-US" sz="3648">
                <a:solidFill>
                  <a:srgbClr val="38B6FF"/>
                </a:solidFill>
                <a:latin typeface="HK Modular"/>
                <a:ea typeface="HK Modular"/>
                <a:cs typeface="HK Modular"/>
                <a:sym typeface="HK Modular"/>
              </a:rPr>
              <a:t>ARQUITECTURA DE UN PROYECTO EN FRONT</a:t>
            </a:r>
          </a:p>
        </p:txBody>
      </p:sp>
      <p:sp>
        <p:nvSpPr>
          <p:cNvPr name="TextBox 8" id="8"/>
          <p:cNvSpPr txBox="true"/>
          <p:nvPr/>
        </p:nvSpPr>
        <p:spPr>
          <a:xfrm rot="0">
            <a:off x="1356873" y="3275977"/>
            <a:ext cx="15902427" cy="1642216"/>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Organizar los archivos y directorios en un proyecto es crucial para temas de mantenibilidad, escalabilidad y para manejar una navegacion en el proyecto mas facil</a:t>
            </a:r>
          </a:p>
        </p:txBody>
      </p:sp>
      <p:sp>
        <p:nvSpPr>
          <p:cNvPr name="TextBox 9" id="9"/>
          <p:cNvSpPr txBox="true"/>
          <p:nvPr/>
        </p:nvSpPr>
        <p:spPr>
          <a:xfrm rot="0">
            <a:off x="1356873" y="5451594"/>
            <a:ext cx="15902427"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Existen 3 niveles para el manejo y agrupacion de la paqueteria</a:t>
            </a:r>
          </a:p>
        </p:txBody>
      </p:sp>
      <p:sp>
        <p:nvSpPr>
          <p:cNvPr name="TextBox 10" id="10"/>
          <p:cNvSpPr txBox="true"/>
          <p:nvPr/>
        </p:nvSpPr>
        <p:spPr>
          <a:xfrm rot="0">
            <a:off x="1779514" y="6581924"/>
            <a:ext cx="15479786" cy="1929838"/>
          </a:xfrm>
          <a:prstGeom prst="rect">
            <a:avLst/>
          </a:prstGeom>
        </p:spPr>
        <p:txBody>
          <a:bodyPr anchor="t" rtlCol="false" tIns="0" lIns="0" bIns="0" rIns="0">
            <a:spAutoFit/>
          </a:bodyPr>
          <a:lstStyle/>
          <a:p>
            <a:pPr algn="ctr">
              <a:lnSpc>
                <a:spcPts val="3880"/>
              </a:lnSpc>
            </a:pPr>
            <a:r>
              <a:rPr lang="en-US" sz="2772">
                <a:solidFill>
                  <a:srgbClr val="FFFFFF"/>
                </a:solidFill>
                <a:latin typeface="HK Modular"/>
                <a:ea typeface="HK Modular"/>
                <a:cs typeface="HK Modular"/>
                <a:sym typeface="HK Modular"/>
              </a:rPr>
              <a:t>NIVEL 1: AGRUPACION POR TIPOS DE ARCHIVOS</a:t>
            </a:r>
          </a:p>
          <a:p>
            <a:pPr algn="ctr">
              <a:lnSpc>
                <a:spcPts val="3880"/>
              </a:lnSpc>
            </a:pPr>
            <a:r>
              <a:rPr lang="en-US" sz="2772">
                <a:solidFill>
                  <a:srgbClr val="FFFFFF"/>
                </a:solidFill>
                <a:latin typeface="HK Modular"/>
                <a:ea typeface="HK Modular"/>
                <a:cs typeface="HK Modular"/>
                <a:sym typeface="HK Modular"/>
              </a:rPr>
              <a:t>NIVEL 2: AGRUPACION POR TIPOS DE ARCHIVOS Y FUNCIONALIDADES</a:t>
            </a:r>
          </a:p>
          <a:p>
            <a:pPr algn="ctr">
              <a:lnSpc>
                <a:spcPts val="3880"/>
              </a:lnSpc>
            </a:pPr>
            <a:r>
              <a:rPr lang="en-US" sz="2772">
                <a:solidFill>
                  <a:srgbClr val="FFFFFF"/>
                </a:solidFill>
                <a:latin typeface="HK Modular"/>
                <a:ea typeface="HK Modular"/>
                <a:cs typeface="HK Modular"/>
                <a:sym typeface="HK Modular"/>
              </a:rPr>
              <a:t>NIVEL 3: AGRUPACION POR FUNCIONALIDADES/MODULOS</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996595" y="4048371"/>
            <a:ext cx="4040712" cy="5621861"/>
          </a:xfrm>
          <a:custGeom>
            <a:avLst/>
            <a:gdLst/>
            <a:ahLst/>
            <a:cxnLst/>
            <a:rect r="r" b="b" t="t" l="l"/>
            <a:pathLst>
              <a:path h="5621861" w="4040712">
                <a:moveTo>
                  <a:pt x="0" y="0"/>
                </a:moveTo>
                <a:lnTo>
                  <a:pt x="4040712" y="0"/>
                </a:lnTo>
                <a:lnTo>
                  <a:pt x="4040712" y="5621860"/>
                </a:lnTo>
                <a:lnTo>
                  <a:pt x="0" y="5621860"/>
                </a:lnTo>
                <a:lnTo>
                  <a:pt x="0" y="0"/>
                </a:lnTo>
                <a:close/>
              </a:path>
            </a:pathLst>
          </a:custGeom>
          <a:blipFill>
            <a:blip r:embed="rId4"/>
            <a:stretch>
              <a:fillRect l="0" t="0" r="0" b="0"/>
            </a:stretch>
          </a:blipFill>
        </p:spPr>
      </p:sp>
      <p:sp>
        <p:nvSpPr>
          <p:cNvPr name="TextBox 8" id="8"/>
          <p:cNvSpPr txBox="true"/>
          <p:nvPr/>
        </p:nvSpPr>
        <p:spPr>
          <a:xfrm rot="0">
            <a:off x="1996595" y="2342827"/>
            <a:ext cx="14513544" cy="1273670"/>
          </a:xfrm>
          <a:prstGeom prst="rect">
            <a:avLst/>
          </a:prstGeom>
        </p:spPr>
        <p:txBody>
          <a:bodyPr anchor="t" rtlCol="false" tIns="0" lIns="0" bIns="0" rIns="0">
            <a:spAutoFit/>
          </a:bodyPr>
          <a:lstStyle/>
          <a:p>
            <a:pPr algn="ctr">
              <a:lnSpc>
                <a:spcPts val="5108"/>
              </a:lnSpc>
              <a:spcBef>
                <a:spcPct val="0"/>
              </a:spcBef>
            </a:pPr>
            <a:r>
              <a:rPr lang="en-US" sz="3648">
                <a:solidFill>
                  <a:srgbClr val="38B6FF"/>
                </a:solidFill>
                <a:latin typeface="HK Modular"/>
                <a:ea typeface="HK Modular"/>
                <a:cs typeface="HK Modular"/>
                <a:sym typeface="HK Modular"/>
              </a:rPr>
              <a:t>NIVEL 1: AGRUPACION POR TIPOS DE ARCHIVOS</a:t>
            </a:r>
          </a:p>
        </p:txBody>
      </p:sp>
      <p:sp>
        <p:nvSpPr>
          <p:cNvPr name="TextBox 9" id="9"/>
          <p:cNvSpPr txBox="true"/>
          <p:nvPr/>
        </p:nvSpPr>
        <p:spPr>
          <a:xfrm rot="0">
            <a:off x="6671051" y="4373086"/>
            <a:ext cx="10805971"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Estructura caracterizada por su simplicidad, agrupado archivos por su tipo</a:t>
            </a:r>
          </a:p>
        </p:txBody>
      </p:sp>
      <p:sp>
        <p:nvSpPr>
          <p:cNvPr name="TextBox 10" id="10"/>
          <p:cNvSpPr txBox="true"/>
          <p:nvPr/>
        </p:nvSpPr>
        <p:spPr>
          <a:xfrm rot="0">
            <a:off x="6671051" y="6226084"/>
            <a:ext cx="10805971" cy="2725603"/>
          </a:xfrm>
          <a:prstGeom prst="rect">
            <a:avLst/>
          </a:prstGeom>
        </p:spPr>
        <p:txBody>
          <a:bodyPr anchor="t" rtlCol="false" tIns="0" lIns="0" bIns="0" rIns="0">
            <a:spAutoFit/>
          </a:bodyPr>
          <a:lstStyle/>
          <a:p>
            <a:pPr algn="ctr">
              <a:lnSpc>
                <a:spcPts val="4305"/>
              </a:lnSpc>
            </a:pPr>
            <a:r>
              <a:rPr lang="en-US" sz="3075">
                <a:solidFill>
                  <a:srgbClr val="FFFFFF"/>
                </a:solidFill>
                <a:latin typeface="Poppins"/>
                <a:ea typeface="Poppins"/>
                <a:cs typeface="Poppins"/>
                <a:sym typeface="Poppins"/>
              </a:rPr>
              <a:t>Es utilizado para proyectos pequeños o medianos</a:t>
            </a:r>
          </a:p>
          <a:p>
            <a:pPr algn="ctr">
              <a:lnSpc>
                <a:spcPts val="4305"/>
              </a:lnSpc>
            </a:pPr>
            <a:r>
              <a:rPr lang="en-US" sz="3075">
                <a:solidFill>
                  <a:srgbClr val="FFFFFF"/>
                </a:solidFill>
                <a:latin typeface="Poppins"/>
                <a:ea typeface="Poppins"/>
                <a:cs typeface="Poppins"/>
                <a:sym typeface="Poppins"/>
              </a:rPr>
              <a:t>Tiene como ventaja su simplicidad y directo</a:t>
            </a:r>
          </a:p>
          <a:p>
            <a:pPr algn="ctr">
              <a:lnSpc>
                <a:spcPts val="4305"/>
              </a:lnSpc>
              <a:spcBef>
                <a:spcPct val="0"/>
              </a:spcBef>
            </a:pPr>
            <a:r>
              <a:rPr lang="en-US" sz="3075">
                <a:solidFill>
                  <a:srgbClr val="FFFFFF"/>
                </a:solidFill>
                <a:latin typeface="Poppins"/>
                <a:ea typeface="Poppins"/>
                <a:cs typeface="Poppins"/>
                <a:sym typeface="Poppins"/>
              </a:rPr>
              <a:t>Tiene como desventajas que puede crecer rapidamente y sera dificil de mantener, ademas de no tener preocupaciones del comercio</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2294699" y="4027426"/>
            <a:ext cx="3217408" cy="5583354"/>
          </a:xfrm>
          <a:custGeom>
            <a:avLst/>
            <a:gdLst/>
            <a:ahLst/>
            <a:cxnLst/>
            <a:rect r="r" b="b" t="t" l="l"/>
            <a:pathLst>
              <a:path h="5583354" w="3217408">
                <a:moveTo>
                  <a:pt x="0" y="0"/>
                </a:moveTo>
                <a:lnTo>
                  <a:pt x="3217407" y="0"/>
                </a:lnTo>
                <a:lnTo>
                  <a:pt x="3217407" y="5583354"/>
                </a:lnTo>
                <a:lnTo>
                  <a:pt x="0" y="5583354"/>
                </a:lnTo>
                <a:lnTo>
                  <a:pt x="0" y="0"/>
                </a:lnTo>
                <a:close/>
              </a:path>
            </a:pathLst>
          </a:custGeom>
          <a:blipFill>
            <a:blip r:embed="rId4"/>
            <a:stretch>
              <a:fillRect l="0" t="0" r="0" b="0"/>
            </a:stretch>
          </a:blipFill>
        </p:spPr>
      </p:sp>
      <p:sp>
        <p:nvSpPr>
          <p:cNvPr name="TextBox 8" id="8"/>
          <p:cNvSpPr txBox="true"/>
          <p:nvPr/>
        </p:nvSpPr>
        <p:spPr>
          <a:xfrm rot="0">
            <a:off x="2294699" y="2115596"/>
            <a:ext cx="14513544" cy="1273670"/>
          </a:xfrm>
          <a:prstGeom prst="rect">
            <a:avLst/>
          </a:prstGeom>
        </p:spPr>
        <p:txBody>
          <a:bodyPr anchor="t" rtlCol="false" tIns="0" lIns="0" bIns="0" rIns="0">
            <a:spAutoFit/>
          </a:bodyPr>
          <a:lstStyle/>
          <a:p>
            <a:pPr algn="ctr">
              <a:lnSpc>
                <a:spcPts val="5108"/>
              </a:lnSpc>
              <a:spcBef>
                <a:spcPct val="0"/>
              </a:spcBef>
            </a:pPr>
            <a:r>
              <a:rPr lang="en-US" sz="3648">
                <a:solidFill>
                  <a:srgbClr val="38B6FF"/>
                </a:solidFill>
                <a:latin typeface="HK Modular"/>
                <a:ea typeface="HK Modular"/>
                <a:cs typeface="HK Modular"/>
                <a:sym typeface="HK Modular"/>
              </a:rPr>
              <a:t>NIVEL 2: AGRUPACION POR TIPOS DE ARCHIVOS Y FUNCIONALIDADES</a:t>
            </a:r>
          </a:p>
        </p:txBody>
      </p:sp>
      <p:sp>
        <p:nvSpPr>
          <p:cNvPr name="TextBox 9" id="9"/>
          <p:cNvSpPr txBox="true"/>
          <p:nvPr/>
        </p:nvSpPr>
        <p:spPr>
          <a:xfrm rot="0">
            <a:off x="6671051" y="4373086"/>
            <a:ext cx="10805971"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Introduce la agrupacion por tiepos de archivos pero tambien por features </a:t>
            </a:r>
          </a:p>
        </p:txBody>
      </p:sp>
      <p:sp>
        <p:nvSpPr>
          <p:cNvPr name="TextBox 10" id="10"/>
          <p:cNvSpPr txBox="true"/>
          <p:nvPr/>
        </p:nvSpPr>
        <p:spPr>
          <a:xfrm rot="0">
            <a:off x="6671051" y="6221217"/>
            <a:ext cx="10805971" cy="3808989"/>
          </a:xfrm>
          <a:prstGeom prst="rect">
            <a:avLst/>
          </a:prstGeom>
        </p:spPr>
        <p:txBody>
          <a:bodyPr anchor="t" rtlCol="false" tIns="0" lIns="0" bIns="0" rIns="0">
            <a:spAutoFit/>
          </a:bodyPr>
          <a:lstStyle/>
          <a:p>
            <a:pPr algn="ctr">
              <a:lnSpc>
                <a:spcPts val="4305"/>
              </a:lnSpc>
            </a:pPr>
            <a:r>
              <a:rPr lang="en-US" sz="3075">
                <a:solidFill>
                  <a:srgbClr val="FFFFFF"/>
                </a:solidFill>
                <a:latin typeface="Poppins"/>
                <a:ea typeface="Poppins"/>
                <a:cs typeface="Poppins"/>
                <a:sym typeface="Poppins"/>
              </a:rPr>
              <a:t>Adecuado para proyectos Medianos o grandes</a:t>
            </a:r>
          </a:p>
          <a:p>
            <a:pPr algn="ctr">
              <a:lnSpc>
                <a:spcPts val="4305"/>
              </a:lnSpc>
            </a:pPr>
            <a:r>
              <a:rPr lang="en-US" sz="3075">
                <a:solidFill>
                  <a:srgbClr val="FFFFFF"/>
                </a:solidFill>
                <a:latin typeface="Poppins"/>
                <a:ea typeface="Poppins"/>
                <a:cs typeface="Poppins"/>
                <a:sym typeface="Poppins"/>
              </a:rPr>
              <a:t>Tiene como ventajas que es simple y directo pero tambien el contenido se agrupa por funciones.</a:t>
            </a:r>
          </a:p>
          <a:p>
            <a:pPr algn="ctr">
              <a:lnSpc>
                <a:spcPts val="4305"/>
              </a:lnSpc>
            </a:pPr>
            <a:r>
              <a:rPr lang="en-US" sz="3075">
                <a:solidFill>
                  <a:srgbClr val="FFFFFF"/>
                </a:solidFill>
                <a:latin typeface="Poppins"/>
                <a:ea typeface="Poppins"/>
                <a:cs typeface="Poppins"/>
                <a:sym typeface="Poppins"/>
              </a:rPr>
              <a:t>Sus Desventajas:</a:t>
            </a:r>
          </a:p>
          <a:p>
            <a:pPr algn="ctr">
              <a:lnSpc>
                <a:spcPts val="4305"/>
              </a:lnSpc>
            </a:pPr>
            <a:r>
              <a:rPr lang="en-US" sz="3075">
                <a:solidFill>
                  <a:srgbClr val="FFFFFF"/>
                </a:solidFill>
                <a:latin typeface="Poppins"/>
                <a:ea typeface="Poppins"/>
                <a:cs typeface="Poppins"/>
                <a:sym typeface="Poppins"/>
              </a:rPr>
              <a:t>La lógica relacionada con una función aún se distribuye en varios tipos de carpetas.</a:t>
            </a:r>
          </a:p>
          <a:p>
            <a:pPr algn="ctr">
              <a:lnSpc>
                <a:spcPts val="4305"/>
              </a:lnSpc>
              <a:spcBef>
                <a:spcPct val="0"/>
              </a:spcBef>
            </a:pP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2294699" y="3952829"/>
            <a:ext cx="2851691" cy="5305471"/>
          </a:xfrm>
          <a:custGeom>
            <a:avLst/>
            <a:gdLst/>
            <a:ahLst/>
            <a:cxnLst/>
            <a:rect r="r" b="b" t="t" l="l"/>
            <a:pathLst>
              <a:path h="5305471" w="2851691">
                <a:moveTo>
                  <a:pt x="0" y="0"/>
                </a:moveTo>
                <a:lnTo>
                  <a:pt x="2851691" y="0"/>
                </a:lnTo>
                <a:lnTo>
                  <a:pt x="2851691" y="5305471"/>
                </a:lnTo>
                <a:lnTo>
                  <a:pt x="0" y="5305471"/>
                </a:lnTo>
                <a:lnTo>
                  <a:pt x="0" y="0"/>
                </a:lnTo>
                <a:close/>
              </a:path>
            </a:pathLst>
          </a:custGeom>
          <a:blipFill>
            <a:blip r:embed="rId4"/>
            <a:stretch>
              <a:fillRect l="0" t="0" r="0" b="0"/>
            </a:stretch>
          </a:blipFill>
        </p:spPr>
      </p:sp>
      <p:sp>
        <p:nvSpPr>
          <p:cNvPr name="TextBox 8" id="8"/>
          <p:cNvSpPr txBox="true"/>
          <p:nvPr/>
        </p:nvSpPr>
        <p:spPr>
          <a:xfrm rot="0">
            <a:off x="2294699" y="2115596"/>
            <a:ext cx="14513544" cy="1273670"/>
          </a:xfrm>
          <a:prstGeom prst="rect">
            <a:avLst/>
          </a:prstGeom>
        </p:spPr>
        <p:txBody>
          <a:bodyPr anchor="t" rtlCol="false" tIns="0" lIns="0" bIns="0" rIns="0">
            <a:spAutoFit/>
          </a:bodyPr>
          <a:lstStyle/>
          <a:p>
            <a:pPr algn="ctr">
              <a:lnSpc>
                <a:spcPts val="5108"/>
              </a:lnSpc>
              <a:spcBef>
                <a:spcPct val="0"/>
              </a:spcBef>
            </a:pPr>
            <a:r>
              <a:rPr lang="en-US" sz="3648">
                <a:solidFill>
                  <a:srgbClr val="38B6FF"/>
                </a:solidFill>
                <a:latin typeface="HK Modular"/>
                <a:ea typeface="HK Modular"/>
                <a:cs typeface="HK Modular"/>
                <a:sym typeface="HK Modular"/>
              </a:rPr>
              <a:t>NIVEL 3: AGRUPACION POR FUNCIONALIDADES/MODULOS</a:t>
            </a:r>
          </a:p>
        </p:txBody>
      </p:sp>
      <p:sp>
        <p:nvSpPr>
          <p:cNvPr name="TextBox 9" id="9"/>
          <p:cNvSpPr txBox="true"/>
          <p:nvPr/>
        </p:nvSpPr>
        <p:spPr>
          <a:xfrm rot="0">
            <a:off x="6703513" y="4022970"/>
            <a:ext cx="11027377" cy="1269150"/>
          </a:xfrm>
          <a:prstGeom prst="rect">
            <a:avLst/>
          </a:prstGeom>
        </p:spPr>
        <p:txBody>
          <a:bodyPr anchor="t" rtlCol="false" tIns="0" lIns="0" bIns="0" rIns="0">
            <a:spAutoFit/>
          </a:bodyPr>
          <a:lstStyle/>
          <a:p>
            <a:pPr algn="ctr">
              <a:lnSpc>
                <a:spcPts val="3320"/>
              </a:lnSpc>
              <a:spcBef>
                <a:spcPct val="0"/>
              </a:spcBef>
            </a:pPr>
            <a:r>
              <a:rPr lang="en-US" sz="2371">
                <a:solidFill>
                  <a:srgbClr val="FFFFFF"/>
                </a:solidFill>
                <a:latin typeface="Poppins"/>
                <a:ea typeface="Poppins"/>
                <a:cs typeface="Poppins"/>
                <a:sym typeface="Poppins"/>
              </a:rPr>
              <a:t>Para proyectos más grandes, la estructura de "Nivel 3" ofrece un enfoque altamente modular, definiendo límites claros para diferentes aspectos de la aplicación dentro de cada módulo:</a:t>
            </a:r>
          </a:p>
        </p:txBody>
      </p:sp>
      <p:sp>
        <p:nvSpPr>
          <p:cNvPr name="TextBox 10" id="10"/>
          <p:cNvSpPr txBox="true"/>
          <p:nvPr/>
        </p:nvSpPr>
        <p:spPr>
          <a:xfrm rot="0">
            <a:off x="6703513" y="5717827"/>
            <a:ext cx="11027377" cy="4040706"/>
          </a:xfrm>
          <a:prstGeom prst="rect">
            <a:avLst/>
          </a:prstGeom>
        </p:spPr>
        <p:txBody>
          <a:bodyPr anchor="t" rtlCol="false" tIns="0" lIns="0" bIns="0" rIns="0">
            <a:spAutoFit/>
          </a:bodyPr>
          <a:lstStyle/>
          <a:p>
            <a:pPr algn="l">
              <a:lnSpc>
                <a:spcPts val="3558"/>
              </a:lnSpc>
              <a:spcBef>
                <a:spcPct val="0"/>
              </a:spcBef>
            </a:pPr>
            <a:r>
              <a:rPr lang="en-US" sz="2542">
                <a:solidFill>
                  <a:srgbClr val="FFFFFF"/>
                </a:solidFill>
                <a:latin typeface="Poppins"/>
                <a:ea typeface="Poppins"/>
                <a:cs typeface="Poppins"/>
                <a:sym typeface="Poppins"/>
              </a:rPr>
              <a:t>Tamaño del proyecto: Grande y complejo</a:t>
            </a:r>
          </a:p>
          <a:p>
            <a:pPr algn="l">
              <a:lnSpc>
                <a:spcPts val="3558"/>
              </a:lnSpc>
              <a:spcBef>
                <a:spcPct val="0"/>
              </a:spcBef>
            </a:pPr>
            <a:r>
              <a:rPr lang="en-US" sz="2542">
                <a:solidFill>
                  <a:srgbClr val="FFFFFF"/>
                </a:solidFill>
                <a:latin typeface="Poppins"/>
                <a:ea typeface="Poppins"/>
                <a:cs typeface="Poppins"/>
                <a:sym typeface="Poppins"/>
              </a:rPr>
              <a:t>Ventajas:</a:t>
            </a:r>
          </a:p>
          <a:p>
            <a:pPr algn="l" marL="548840" indent="-274420" lvl="1">
              <a:lnSpc>
                <a:spcPts val="3558"/>
              </a:lnSpc>
              <a:buFont typeface="Arial"/>
              <a:buChar char="•"/>
            </a:pPr>
            <a:r>
              <a:rPr lang="en-US" sz="2542">
                <a:solidFill>
                  <a:srgbClr val="FFFFFF"/>
                </a:solidFill>
                <a:latin typeface="Poppins"/>
                <a:ea typeface="Poppins"/>
                <a:cs typeface="Poppins"/>
                <a:sym typeface="Poppins"/>
              </a:rPr>
              <a:t>El contenido está claramente agrupado por características/módulos.</a:t>
            </a:r>
          </a:p>
          <a:p>
            <a:pPr algn="l" marL="548840" indent="-274420" lvl="1">
              <a:lnSpc>
                <a:spcPts val="3558"/>
              </a:lnSpc>
              <a:buFont typeface="Arial"/>
              <a:buChar char="•"/>
            </a:pPr>
            <a:r>
              <a:rPr lang="en-US" sz="2542">
                <a:solidFill>
                  <a:srgbClr val="FFFFFF"/>
                </a:solidFill>
                <a:latin typeface="Poppins"/>
                <a:ea typeface="Poppins"/>
                <a:cs typeface="Poppins"/>
                <a:sym typeface="Poppins"/>
              </a:rPr>
              <a:t>Las características/módulos son representaciones claras de objetos del mundo real.</a:t>
            </a:r>
          </a:p>
          <a:p>
            <a:pPr algn="l">
              <a:lnSpc>
                <a:spcPts val="3558"/>
              </a:lnSpc>
              <a:spcBef>
                <a:spcPct val="0"/>
              </a:spcBef>
            </a:pPr>
            <a:r>
              <a:rPr lang="en-US" sz="2542">
                <a:solidFill>
                  <a:srgbClr val="FFFFFF"/>
                </a:solidFill>
                <a:latin typeface="Poppins"/>
                <a:ea typeface="Poppins"/>
                <a:cs typeface="Poppins"/>
                <a:sym typeface="Poppins"/>
              </a:rPr>
              <a:t>Desventajas:</a:t>
            </a:r>
          </a:p>
          <a:p>
            <a:pPr algn="l" marL="548840" indent="-274420" lvl="1">
              <a:lnSpc>
                <a:spcPts val="3558"/>
              </a:lnSpc>
              <a:buFont typeface="Arial"/>
              <a:buChar char="•"/>
            </a:pPr>
            <a:r>
              <a:rPr lang="en-US" sz="2542">
                <a:solidFill>
                  <a:srgbClr val="FFFFFF"/>
                </a:solidFill>
                <a:latin typeface="Poppins"/>
                <a:ea typeface="Poppins"/>
                <a:cs typeface="Poppins"/>
                <a:sym typeface="Poppins"/>
              </a:rPr>
              <a:t>Se requiere un conocimiento profundo de la lógica de negocio para tomar las decisiones de agrupación correctas.</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939423" y="0"/>
            <a:ext cx="2627887" cy="2627887"/>
          </a:xfrm>
          <a:custGeom>
            <a:avLst/>
            <a:gdLst/>
            <a:ahLst/>
            <a:cxnLst/>
            <a:rect r="r" b="b" t="t" l="l"/>
            <a:pathLst>
              <a:path h="2627887" w="2627887">
                <a:moveTo>
                  <a:pt x="0" y="0"/>
                </a:moveTo>
                <a:lnTo>
                  <a:pt x="2627887" y="0"/>
                </a:lnTo>
                <a:lnTo>
                  <a:pt x="2627887" y="2627887"/>
                </a:lnTo>
                <a:lnTo>
                  <a:pt x="0" y="2627887"/>
                </a:lnTo>
                <a:lnTo>
                  <a:pt x="0" y="0"/>
                </a:lnTo>
                <a:close/>
              </a:path>
            </a:pathLst>
          </a:custGeom>
          <a:blipFill>
            <a:blip r:embed="rId3"/>
            <a:stretch>
              <a:fillRect l="0" t="0" r="0" b="0"/>
            </a:stretch>
          </a:blipFill>
        </p:spPr>
      </p:sp>
      <p:sp>
        <p:nvSpPr>
          <p:cNvPr name="TextBox 7" id="7"/>
          <p:cNvSpPr txBox="true"/>
          <p:nvPr/>
        </p:nvSpPr>
        <p:spPr>
          <a:xfrm rot="0">
            <a:off x="2993415" y="3569216"/>
            <a:ext cx="12519904" cy="4584119"/>
          </a:xfrm>
          <a:prstGeom prst="rect">
            <a:avLst/>
          </a:prstGeom>
        </p:spPr>
        <p:txBody>
          <a:bodyPr anchor="t" rtlCol="false" tIns="0" lIns="0" bIns="0" rIns="0">
            <a:spAutoFit/>
          </a:bodyPr>
          <a:lstStyle/>
          <a:p>
            <a:pPr algn="ctr">
              <a:lnSpc>
                <a:spcPts val="7304"/>
              </a:lnSpc>
              <a:spcBef>
                <a:spcPct val="0"/>
              </a:spcBef>
            </a:pPr>
            <a:r>
              <a:rPr lang="en-US" sz="5217">
                <a:solidFill>
                  <a:srgbClr val="38B6FF"/>
                </a:solidFill>
                <a:latin typeface="HK Modular"/>
                <a:ea typeface="HK Modular"/>
                <a:cs typeface="HK Modular"/>
                <a:sym typeface="HK Modular"/>
              </a:rPr>
              <a:t>CUAL SERIA LA MEJOR ORGANIZACION A NIVEL DE PAQUETES PARA EL EJERCICIO DE LA POKEDEX?</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154748" y="3676383"/>
            <a:ext cx="9303196" cy="5581917"/>
          </a:xfrm>
          <a:custGeom>
            <a:avLst/>
            <a:gdLst/>
            <a:ahLst/>
            <a:cxnLst/>
            <a:rect r="r" b="b" t="t" l="l"/>
            <a:pathLst>
              <a:path h="5581917" w="9303196">
                <a:moveTo>
                  <a:pt x="0" y="0"/>
                </a:moveTo>
                <a:lnTo>
                  <a:pt x="9303195" y="0"/>
                </a:lnTo>
                <a:lnTo>
                  <a:pt x="9303195" y="5581917"/>
                </a:lnTo>
                <a:lnTo>
                  <a:pt x="0" y="5581917"/>
                </a:lnTo>
                <a:lnTo>
                  <a:pt x="0" y="0"/>
                </a:lnTo>
                <a:close/>
              </a:path>
            </a:pathLst>
          </a:custGeom>
          <a:blipFill>
            <a:blip r:embed="rId4"/>
            <a:stretch>
              <a:fillRect l="0" t="0" r="0" b="0"/>
            </a:stretch>
          </a:blipFill>
        </p:spPr>
      </p:sp>
      <p:sp>
        <p:nvSpPr>
          <p:cNvPr name="TextBox 8" id="8"/>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RESPONSIVE</a:t>
            </a:r>
          </a:p>
        </p:txBody>
      </p:sp>
      <p:sp>
        <p:nvSpPr>
          <p:cNvPr name="TextBox 9" id="9"/>
          <p:cNvSpPr txBox="true"/>
          <p:nvPr/>
        </p:nvSpPr>
        <p:spPr>
          <a:xfrm rot="0">
            <a:off x="11968629" y="3908933"/>
            <a:ext cx="5290671" cy="4410826"/>
          </a:xfrm>
          <a:prstGeom prst="rect">
            <a:avLst/>
          </a:prstGeom>
        </p:spPr>
        <p:txBody>
          <a:bodyPr anchor="t" rtlCol="false" tIns="0" lIns="0" bIns="0" rIns="0">
            <a:spAutoFit/>
          </a:bodyPr>
          <a:lstStyle/>
          <a:p>
            <a:pPr algn="ctr">
              <a:lnSpc>
                <a:spcPts val="2935"/>
              </a:lnSpc>
              <a:spcBef>
                <a:spcPct val="0"/>
              </a:spcBef>
            </a:pPr>
            <a:r>
              <a:rPr lang="en-US" sz="2096">
                <a:solidFill>
                  <a:srgbClr val="FFFFFF"/>
                </a:solidFill>
                <a:latin typeface="Poppins"/>
                <a:ea typeface="Poppins"/>
                <a:cs typeface="Poppins"/>
                <a:sym typeface="Poppins"/>
              </a:rPr>
              <a:t>se refiere a la capacidad de un diseño, especialmente web, de adaptarse automáticamente a diferentes tamaños de pantalla para ofrecer una experiencia de usuario óptima en cualquier dispositivo (como ordenadores, tabletas y móviles). Esto se logra creando un diseño flexible y dinámico que se ajusta para que el contenido sea siempre fácil de leer y navegar, independientemente de la plataforma.</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TextBox 7" id="7"/>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HERO UI</a:t>
            </a:r>
          </a:p>
        </p:txBody>
      </p:sp>
      <p:sp>
        <p:nvSpPr>
          <p:cNvPr name="TextBox 8" id="8"/>
          <p:cNvSpPr txBox="true"/>
          <p:nvPr/>
        </p:nvSpPr>
        <p:spPr>
          <a:xfrm rot="0">
            <a:off x="1724313" y="3196023"/>
            <a:ext cx="14839374" cy="923593"/>
          </a:xfrm>
          <a:prstGeom prst="rect">
            <a:avLst/>
          </a:prstGeom>
        </p:spPr>
        <p:txBody>
          <a:bodyPr anchor="t" rtlCol="false" tIns="0" lIns="0" bIns="0" rIns="0">
            <a:spAutoFit/>
          </a:bodyPr>
          <a:lstStyle/>
          <a:p>
            <a:pPr algn="ctr">
              <a:lnSpc>
                <a:spcPts val="3692"/>
              </a:lnSpc>
              <a:spcBef>
                <a:spcPct val="0"/>
              </a:spcBef>
            </a:pPr>
            <a:r>
              <a:rPr lang="en-US" sz="2637">
                <a:solidFill>
                  <a:srgbClr val="FFFFFF"/>
                </a:solidFill>
                <a:latin typeface="Poppins"/>
                <a:ea typeface="Poppins"/>
                <a:cs typeface="Poppins"/>
                <a:sym typeface="Poppins"/>
              </a:rPr>
              <a:t>Es una coleccion meticulosamente elaborada de componentes UI reutilizables diseñados para integrarse directamente en los proyectos</a:t>
            </a:r>
          </a:p>
        </p:txBody>
      </p:sp>
      <p:sp>
        <p:nvSpPr>
          <p:cNvPr name="TextBox 9" id="9"/>
          <p:cNvSpPr txBox="true"/>
          <p:nvPr/>
        </p:nvSpPr>
        <p:spPr>
          <a:xfrm rot="0">
            <a:off x="1724313" y="4648366"/>
            <a:ext cx="14839374" cy="923593"/>
          </a:xfrm>
          <a:prstGeom prst="rect">
            <a:avLst/>
          </a:prstGeom>
        </p:spPr>
        <p:txBody>
          <a:bodyPr anchor="t" rtlCol="false" tIns="0" lIns="0" bIns="0" rIns="0">
            <a:spAutoFit/>
          </a:bodyPr>
          <a:lstStyle/>
          <a:p>
            <a:pPr algn="ctr">
              <a:lnSpc>
                <a:spcPts val="3692"/>
              </a:lnSpc>
              <a:spcBef>
                <a:spcPct val="0"/>
              </a:spcBef>
            </a:pPr>
            <a:r>
              <a:rPr lang="en-US" sz="2637">
                <a:solidFill>
                  <a:srgbClr val="FFFFFF"/>
                </a:solidFill>
                <a:latin typeface="Poppins"/>
                <a:ea typeface="Poppins"/>
                <a:cs typeface="Poppins"/>
                <a:sym typeface="Poppins"/>
              </a:rPr>
              <a:t>Defiende la filosofia que otorga a los desarrolladores el control total sobre su base de codigo</a:t>
            </a:r>
          </a:p>
        </p:txBody>
      </p:sp>
      <p:sp>
        <p:nvSpPr>
          <p:cNvPr name="TextBox 10" id="10"/>
          <p:cNvSpPr txBox="true"/>
          <p:nvPr/>
        </p:nvSpPr>
        <p:spPr>
          <a:xfrm rot="0">
            <a:off x="1833680" y="5919960"/>
            <a:ext cx="14839374" cy="1385549"/>
          </a:xfrm>
          <a:prstGeom prst="rect">
            <a:avLst/>
          </a:prstGeom>
        </p:spPr>
        <p:txBody>
          <a:bodyPr anchor="t" rtlCol="false" tIns="0" lIns="0" bIns="0" rIns="0">
            <a:spAutoFit/>
          </a:bodyPr>
          <a:lstStyle/>
          <a:p>
            <a:pPr algn="ctr">
              <a:lnSpc>
                <a:spcPts val="3692"/>
              </a:lnSpc>
              <a:spcBef>
                <a:spcPct val="0"/>
              </a:spcBef>
            </a:pPr>
            <a:r>
              <a:rPr lang="en-US" sz="2637">
                <a:solidFill>
                  <a:srgbClr val="FFFFFF"/>
                </a:solidFill>
                <a:latin typeface="Poppins"/>
                <a:ea typeface="Poppins"/>
                <a:cs typeface="Poppins"/>
                <a:sym typeface="Poppins"/>
              </a:rPr>
              <a:t>En lugar de importar componentes opacos de un modulo, utiliza la interfaz de linea de comandos de HeroUI para agregar el codigo fuente real de los componentes que necesita a su proyecto</a:t>
            </a:r>
          </a:p>
        </p:txBody>
      </p:sp>
      <p:sp>
        <p:nvSpPr>
          <p:cNvPr name="TextBox 11" id="11"/>
          <p:cNvSpPr txBox="true"/>
          <p:nvPr/>
        </p:nvSpPr>
        <p:spPr>
          <a:xfrm rot="0">
            <a:off x="1971963" y="7714512"/>
            <a:ext cx="14344074" cy="854977"/>
          </a:xfrm>
          <a:prstGeom prst="rect">
            <a:avLst/>
          </a:prstGeom>
        </p:spPr>
        <p:txBody>
          <a:bodyPr anchor="t" rtlCol="false" tIns="0" lIns="0" bIns="0" rIns="0">
            <a:spAutoFit/>
          </a:bodyPr>
          <a:lstStyle/>
          <a:p>
            <a:pPr algn="ctr">
              <a:lnSpc>
                <a:spcPts val="3390"/>
              </a:lnSpc>
              <a:spcBef>
                <a:spcPct val="0"/>
              </a:spcBef>
            </a:pPr>
            <a:r>
              <a:rPr lang="en-US" sz="2421">
                <a:solidFill>
                  <a:srgbClr val="FFFFFF"/>
                </a:solidFill>
                <a:latin typeface="Poppins"/>
                <a:ea typeface="Poppins"/>
                <a:cs typeface="Poppins"/>
                <a:sym typeface="Poppins"/>
              </a:rPr>
              <a:t>HeroUI proporciona los bloques de construcción para crear interfaces de usuario hermosas, accesibles y receptivas.</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9253367" y="3657661"/>
            <a:ext cx="8190766" cy="4869424"/>
          </a:xfrm>
          <a:custGeom>
            <a:avLst/>
            <a:gdLst/>
            <a:ahLst/>
            <a:cxnLst/>
            <a:rect r="r" b="b" t="t" l="l"/>
            <a:pathLst>
              <a:path h="4869424" w="8190766">
                <a:moveTo>
                  <a:pt x="0" y="0"/>
                </a:moveTo>
                <a:lnTo>
                  <a:pt x="8190766" y="0"/>
                </a:lnTo>
                <a:lnTo>
                  <a:pt x="8190766" y="4869425"/>
                </a:lnTo>
                <a:lnTo>
                  <a:pt x="0" y="4869425"/>
                </a:lnTo>
                <a:lnTo>
                  <a:pt x="0" y="0"/>
                </a:lnTo>
                <a:close/>
              </a:path>
            </a:pathLst>
          </a:custGeom>
          <a:blipFill>
            <a:blip r:embed="rId4"/>
            <a:stretch>
              <a:fillRect l="0" t="0" r="0" b="0"/>
            </a:stretch>
          </a:blipFill>
        </p:spPr>
      </p:sp>
      <p:sp>
        <p:nvSpPr>
          <p:cNvPr name="TextBox 8" id="8"/>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HERO UI - REQUISITOS</a:t>
            </a:r>
          </a:p>
        </p:txBody>
      </p:sp>
      <p:sp>
        <p:nvSpPr>
          <p:cNvPr name="TextBox 9" id="9"/>
          <p:cNvSpPr txBox="true"/>
          <p:nvPr/>
        </p:nvSpPr>
        <p:spPr>
          <a:xfrm rot="0">
            <a:off x="1665698" y="3828313"/>
            <a:ext cx="6838374" cy="923593"/>
          </a:xfrm>
          <a:prstGeom prst="rect">
            <a:avLst/>
          </a:prstGeom>
        </p:spPr>
        <p:txBody>
          <a:bodyPr anchor="t" rtlCol="false" tIns="0" lIns="0" bIns="0" rIns="0">
            <a:spAutoFit/>
          </a:bodyPr>
          <a:lstStyle/>
          <a:p>
            <a:pPr algn="ctr">
              <a:lnSpc>
                <a:spcPts val="3692"/>
              </a:lnSpc>
              <a:spcBef>
                <a:spcPct val="0"/>
              </a:spcBef>
            </a:pPr>
            <a:r>
              <a:rPr lang="en-US" sz="2637">
                <a:solidFill>
                  <a:srgbClr val="FFFFFF"/>
                </a:solidFill>
                <a:latin typeface="Poppins"/>
                <a:ea typeface="Poppins"/>
                <a:cs typeface="Poppins"/>
                <a:sym typeface="Poppins"/>
              </a:rPr>
              <a:t>Node.js - Version instalada generalmente superor a la version 18</a:t>
            </a:r>
          </a:p>
        </p:txBody>
      </p:sp>
      <p:sp>
        <p:nvSpPr>
          <p:cNvPr name="TextBox 10" id="10"/>
          <p:cNvSpPr txBox="true"/>
          <p:nvPr/>
        </p:nvSpPr>
        <p:spPr>
          <a:xfrm rot="0">
            <a:off x="1893807" y="5597239"/>
            <a:ext cx="6838374" cy="923593"/>
          </a:xfrm>
          <a:prstGeom prst="rect">
            <a:avLst/>
          </a:prstGeom>
        </p:spPr>
        <p:txBody>
          <a:bodyPr anchor="t" rtlCol="false" tIns="0" lIns="0" bIns="0" rIns="0">
            <a:spAutoFit/>
          </a:bodyPr>
          <a:lstStyle/>
          <a:p>
            <a:pPr algn="ctr">
              <a:lnSpc>
                <a:spcPts val="3692"/>
              </a:lnSpc>
              <a:spcBef>
                <a:spcPct val="0"/>
              </a:spcBef>
            </a:pPr>
            <a:r>
              <a:rPr lang="en-US" sz="2637">
                <a:solidFill>
                  <a:srgbClr val="FFFFFF"/>
                </a:solidFill>
                <a:latin typeface="Poppins"/>
                <a:ea typeface="Poppins"/>
                <a:cs typeface="Poppins"/>
                <a:sym typeface="Poppins"/>
              </a:rPr>
              <a:t>Gestor de paquetes como npm, yarn o pnpm</a:t>
            </a:r>
          </a:p>
        </p:txBody>
      </p:sp>
      <p:sp>
        <p:nvSpPr>
          <p:cNvPr name="TextBox 11" id="11"/>
          <p:cNvSpPr txBox="true"/>
          <p:nvPr/>
        </p:nvSpPr>
        <p:spPr>
          <a:xfrm rot="0">
            <a:off x="1481988" y="7141537"/>
            <a:ext cx="7662012" cy="1385549"/>
          </a:xfrm>
          <a:prstGeom prst="rect">
            <a:avLst/>
          </a:prstGeom>
        </p:spPr>
        <p:txBody>
          <a:bodyPr anchor="t" rtlCol="false" tIns="0" lIns="0" bIns="0" rIns="0">
            <a:spAutoFit/>
          </a:bodyPr>
          <a:lstStyle/>
          <a:p>
            <a:pPr algn="ctr">
              <a:lnSpc>
                <a:spcPts val="3692"/>
              </a:lnSpc>
              <a:spcBef>
                <a:spcPct val="0"/>
              </a:spcBef>
            </a:pPr>
            <a:r>
              <a:rPr lang="en-US" sz="2637">
                <a:solidFill>
                  <a:srgbClr val="FFFFFF"/>
                </a:solidFill>
                <a:latin typeface="Poppins"/>
                <a:ea typeface="Poppins"/>
                <a:cs typeface="Poppins"/>
                <a:sym typeface="Poppins"/>
              </a:rPr>
              <a:t>Hero UI esta diseñado para ser agregado a un proyecto construido con un framework de React</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TextBox 7" id="7"/>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DRIBBBLE</a:t>
            </a:r>
          </a:p>
        </p:txBody>
      </p:sp>
      <p:sp>
        <p:nvSpPr>
          <p:cNvPr name="TextBox 8" id="8"/>
          <p:cNvSpPr txBox="true"/>
          <p:nvPr/>
        </p:nvSpPr>
        <p:spPr>
          <a:xfrm rot="0">
            <a:off x="3390873" y="3549397"/>
            <a:ext cx="11506253" cy="2005108"/>
          </a:xfrm>
          <a:prstGeom prst="rect">
            <a:avLst/>
          </a:prstGeom>
        </p:spPr>
        <p:txBody>
          <a:bodyPr anchor="t" rtlCol="false" tIns="0" lIns="0" bIns="0" rIns="0">
            <a:spAutoFit/>
          </a:bodyPr>
          <a:lstStyle/>
          <a:p>
            <a:pPr algn="ctr">
              <a:lnSpc>
                <a:spcPts val="3972"/>
              </a:lnSpc>
              <a:spcBef>
                <a:spcPct val="0"/>
              </a:spcBef>
            </a:pPr>
            <a:r>
              <a:rPr lang="en-US" sz="2837">
                <a:solidFill>
                  <a:srgbClr val="FFFFFF"/>
                </a:solidFill>
                <a:latin typeface="Poppins"/>
                <a:ea typeface="Poppins"/>
                <a:cs typeface="Poppins"/>
                <a:sym typeface="Poppins"/>
              </a:rPr>
              <a:t>Dribbble es una comunidad y portafolio profesional en línea. Los diseñadores suben shots (imágenes pequeñas de su trabajo) para mostrar proyectos, recibir retroalimentación y conseguir visibilidad </a:t>
            </a:r>
          </a:p>
        </p:txBody>
      </p:sp>
      <p:sp>
        <p:nvSpPr>
          <p:cNvPr name="TextBox 9" id="9"/>
          <p:cNvSpPr txBox="true"/>
          <p:nvPr/>
        </p:nvSpPr>
        <p:spPr>
          <a:xfrm rot="0">
            <a:off x="2227847" y="6126005"/>
            <a:ext cx="13832307" cy="1531536"/>
          </a:xfrm>
          <a:prstGeom prst="rect">
            <a:avLst/>
          </a:prstGeom>
        </p:spPr>
        <p:txBody>
          <a:bodyPr anchor="t" rtlCol="false" tIns="0" lIns="0" bIns="0" rIns="0">
            <a:spAutoFit/>
          </a:bodyPr>
          <a:lstStyle/>
          <a:p>
            <a:pPr algn="ctr">
              <a:lnSpc>
                <a:spcPts val="4066"/>
              </a:lnSpc>
              <a:spcBef>
                <a:spcPct val="0"/>
              </a:spcBef>
            </a:pPr>
            <a:r>
              <a:rPr lang="en-US" sz="2904">
                <a:solidFill>
                  <a:srgbClr val="FFFFFF"/>
                </a:solidFill>
                <a:latin typeface="Poppins"/>
                <a:ea typeface="Poppins"/>
                <a:cs typeface="Poppins"/>
                <a:sym typeface="Poppins"/>
              </a:rPr>
              <a:t>Nos va a permitir tener referencias visuales para nuestros componentes de Front permitiendo asi que tengamos mejores referentes para nuestro diseño</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10179017" y="3348701"/>
            <a:ext cx="7484274" cy="6071617"/>
          </a:xfrm>
          <a:custGeom>
            <a:avLst/>
            <a:gdLst/>
            <a:ahLst/>
            <a:cxnLst/>
            <a:rect r="r" b="b" t="t" l="l"/>
            <a:pathLst>
              <a:path h="6071617" w="7484274">
                <a:moveTo>
                  <a:pt x="0" y="0"/>
                </a:moveTo>
                <a:lnTo>
                  <a:pt x="7484274" y="0"/>
                </a:lnTo>
                <a:lnTo>
                  <a:pt x="7484274" y="6071618"/>
                </a:lnTo>
                <a:lnTo>
                  <a:pt x="0" y="6071618"/>
                </a:lnTo>
                <a:lnTo>
                  <a:pt x="0" y="0"/>
                </a:lnTo>
                <a:close/>
              </a:path>
            </a:pathLst>
          </a:custGeom>
          <a:blipFill>
            <a:blip r:embed="rId4"/>
            <a:stretch>
              <a:fillRect l="0" t="0" r="0" b="0"/>
            </a:stretch>
          </a:blipFill>
        </p:spPr>
      </p:sp>
      <p:sp>
        <p:nvSpPr>
          <p:cNvPr name="TextBox 8" id="8"/>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MATERIAL DESIGN</a:t>
            </a:r>
          </a:p>
        </p:txBody>
      </p:sp>
      <p:sp>
        <p:nvSpPr>
          <p:cNvPr name="TextBox 9" id="9"/>
          <p:cNvSpPr txBox="true"/>
          <p:nvPr/>
        </p:nvSpPr>
        <p:spPr>
          <a:xfrm rot="0">
            <a:off x="1340388" y="3447266"/>
            <a:ext cx="8290107" cy="2353459"/>
          </a:xfrm>
          <a:prstGeom prst="rect">
            <a:avLst/>
          </a:prstGeom>
        </p:spPr>
        <p:txBody>
          <a:bodyPr anchor="t" rtlCol="false" tIns="0" lIns="0" bIns="0" rIns="0">
            <a:spAutoFit/>
          </a:bodyPr>
          <a:lstStyle/>
          <a:p>
            <a:pPr algn="ctr">
              <a:lnSpc>
                <a:spcPts val="3116"/>
              </a:lnSpc>
              <a:spcBef>
                <a:spcPct val="0"/>
              </a:spcBef>
            </a:pPr>
            <a:r>
              <a:rPr lang="en-US" sz="2225">
                <a:solidFill>
                  <a:srgbClr val="FFFFFF"/>
                </a:solidFill>
                <a:latin typeface="Poppins"/>
                <a:ea typeface="Poppins"/>
                <a:cs typeface="Poppins"/>
                <a:sym typeface="Poppins"/>
              </a:rPr>
              <a:t>El material design es un estilo de diseño desarrollado por Google que se presentó al público en 2014, a la par de la versión Android Lollipop. Este se enfoca en los aspectos visuales que corresponden al sistema operativo Android, aunque también es una normativa que se aplica en diferentes páginas web y plataformas.</a:t>
            </a:r>
          </a:p>
        </p:txBody>
      </p:sp>
      <p:sp>
        <p:nvSpPr>
          <p:cNvPr name="TextBox 10" id="10"/>
          <p:cNvSpPr txBox="true"/>
          <p:nvPr/>
        </p:nvSpPr>
        <p:spPr>
          <a:xfrm rot="0">
            <a:off x="1340388" y="6689025"/>
            <a:ext cx="8290107" cy="2731294"/>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Poppins"/>
                <a:ea typeface="Poppins"/>
                <a:cs typeface="Poppins"/>
                <a:sym typeface="Poppins"/>
              </a:rPr>
              <a:t>En otras palabras, este es un lenguaje de diseño con el que Google entiende la interacción entre una persona y un dispositivo. Con este estilo de diseño, Google nos presenta unas normativas o guías que nos indican cómo podemos diseñar una app o web para su sistema operativo, tanto para una versión de un dispositivo móvil como de escritorio.</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Freeform 7" id="7"/>
          <p:cNvSpPr/>
          <p:nvPr/>
        </p:nvSpPr>
        <p:spPr>
          <a:xfrm flipH="false" flipV="false" rot="0">
            <a:off x="5281140" y="1899124"/>
            <a:ext cx="7164439" cy="4029997"/>
          </a:xfrm>
          <a:custGeom>
            <a:avLst/>
            <a:gdLst/>
            <a:ahLst/>
            <a:cxnLst/>
            <a:rect r="r" b="b" t="t" l="l"/>
            <a:pathLst>
              <a:path h="4029997" w="7164439">
                <a:moveTo>
                  <a:pt x="0" y="0"/>
                </a:moveTo>
                <a:lnTo>
                  <a:pt x="7164439" y="0"/>
                </a:lnTo>
                <a:lnTo>
                  <a:pt x="7164439" y="4029997"/>
                </a:lnTo>
                <a:lnTo>
                  <a:pt x="0" y="4029997"/>
                </a:lnTo>
                <a:lnTo>
                  <a:pt x="0" y="0"/>
                </a:lnTo>
                <a:close/>
              </a:path>
            </a:pathLst>
          </a:custGeom>
          <a:blipFill>
            <a:blip r:embed="rId4"/>
            <a:stretch>
              <a:fillRect l="0" t="0" r="0" b="0"/>
            </a:stretch>
          </a:blipFill>
        </p:spPr>
      </p:sp>
      <p:sp>
        <p:nvSpPr>
          <p:cNvPr name="TextBox 8" id="8"/>
          <p:cNvSpPr txBox="true"/>
          <p:nvPr/>
        </p:nvSpPr>
        <p:spPr>
          <a:xfrm rot="0">
            <a:off x="1762052" y="5843396"/>
            <a:ext cx="14763896" cy="3237407"/>
          </a:xfrm>
          <a:prstGeom prst="rect">
            <a:avLst/>
          </a:prstGeom>
        </p:spPr>
        <p:txBody>
          <a:bodyPr anchor="t" rtlCol="false" tIns="0" lIns="0" bIns="0" rIns="0">
            <a:spAutoFit/>
          </a:bodyPr>
          <a:lstStyle/>
          <a:p>
            <a:pPr algn="ctr">
              <a:lnSpc>
                <a:spcPts val="4294"/>
              </a:lnSpc>
              <a:spcBef>
                <a:spcPct val="0"/>
              </a:spcBef>
            </a:pPr>
            <a:r>
              <a:rPr lang="en-US" sz="3067">
                <a:solidFill>
                  <a:srgbClr val="FFFFFF"/>
                </a:solidFill>
                <a:latin typeface="Poppins"/>
                <a:ea typeface="Poppins"/>
                <a:cs typeface="Poppins"/>
                <a:sym typeface="Poppins"/>
              </a:rPr>
              <a:t>es una plataforma en la nube para desarrolladores que facilita la construcción, implementación y escalado de aplicaciones web modernas, como sitios estáticos y funciones sin servidor. Permite a los equipos automatizar el despliegue desde repositorios como GitHub, ofrece una experiencia de desarrollo optimizada y proporciona una infraestructura global de alto rendimiento sin necesidad de configuración adicional.</a:t>
            </a: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TextBox 7" id="7"/>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VERCEL</a:t>
            </a:r>
          </a:p>
        </p:txBody>
      </p:sp>
      <p:sp>
        <p:nvSpPr>
          <p:cNvPr name="TextBox 8" id="8"/>
          <p:cNvSpPr txBox="true"/>
          <p:nvPr/>
        </p:nvSpPr>
        <p:spPr>
          <a:xfrm rot="0">
            <a:off x="1762052" y="3410857"/>
            <a:ext cx="14763896" cy="5928742"/>
          </a:xfrm>
          <a:prstGeom prst="rect">
            <a:avLst/>
          </a:prstGeom>
        </p:spPr>
        <p:txBody>
          <a:bodyPr anchor="t" rtlCol="false" tIns="0" lIns="0" bIns="0" rIns="0">
            <a:spAutoFit/>
          </a:bodyPr>
          <a:lstStyle/>
          <a:p>
            <a:pPr algn="ctr" marL="662324" indent="-331162" lvl="1">
              <a:lnSpc>
                <a:spcPts val="4294"/>
              </a:lnSpc>
              <a:buAutoNum type="arabicPeriod" startAt="1"/>
            </a:pPr>
            <a:r>
              <a:rPr lang="en-US" sz="3067">
                <a:solidFill>
                  <a:srgbClr val="FFFFFF"/>
                </a:solidFill>
                <a:latin typeface="Poppins"/>
                <a:ea typeface="Poppins"/>
                <a:cs typeface="Poppins"/>
                <a:sym typeface="Poppins"/>
              </a:rPr>
              <a:t>Ve a la pagina de vercel, ahi inicia sesion con github y autoriza a vercel para que pueda acceder a tus repositorios</a:t>
            </a:r>
          </a:p>
          <a:p>
            <a:pPr algn="ctr" marL="662324" indent="-331162" lvl="1">
              <a:lnSpc>
                <a:spcPts val="4294"/>
              </a:lnSpc>
              <a:buAutoNum type="arabicPeriod" startAt="1"/>
            </a:pPr>
            <a:r>
              <a:rPr lang="en-US" sz="3067">
                <a:solidFill>
                  <a:srgbClr val="FFFFFF"/>
                </a:solidFill>
                <a:latin typeface="Poppins"/>
                <a:ea typeface="Poppins"/>
                <a:cs typeface="Poppins"/>
                <a:sym typeface="Poppins"/>
              </a:rPr>
              <a:t>En vercel haz clic en Add new Project → Import Git Repository</a:t>
            </a:r>
          </a:p>
          <a:p>
            <a:pPr algn="ctr" marL="662324" indent="-331162" lvl="1">
              <a:lnSpc>
                <a:spcPts val="4294"/>
              </a:lnSpc>
              <a:buAutoNum type="arabicPeriod" startAt="1"/>
            </a:pPr>
            <a:r>
              <a:rPr lang="en-US" sz="3067">
                <a:solidFill>
                  <a:srgbClr val="FFFFFF"/>
                </a:solidFill>
                <a:latin typeface="Poppins"/>
                <a:ea typeface="Poppins"/>
                <a:cs typeface="Poppins"/>
                <a:sym typeface="Poppins"/>
              </a:rPr>
              <a:t>Selecciona tu repositorio de GitHub, ahi vercel detectara automaticamente el framework </a:t>
            </a:r>
          </a:p>
          <a:p>
            <a:pPr algn="ctr" marL="662324" indent="-331162" lvl="1">
              <a:lnSpc>
                <a:spcPts val="4294"/>
              </a:lnSpc>
              <a:buAutoNum type="arabicPeriod" startAt="1"/>
            </a:pPr>
            <a:r>
              <a:rPr lang="en-US" sz="3067">
                <a:solidFill>
                  <a:srgbClr val="FFFFFF"/>
                </a:solidFill>
                <a:latin typeface="Poppins"/>
                <a:ea typeface="Poppins"/>
                <a:cs typeface="Poppins"/>
                <a:sym typeface="Poppins"/>
              </a:rPr>
              <a:t>Revisa o ajusta las opaciones del build:</a:t>
            </a:r>
          </a:p>
          <a:p>
            <a:pPr algn="ctr" marL="1324648" indent="-441549" lvl="2">
              <a:lnSpc>
                <a:spcPts val="4294"/>
              </a:lnSpc>
              <a:buAutoNum type="alphaLcPeriod" startAt="1"/>
            </a:pPr>
            <a:r>
              <a:rPr lang="en-US" sz="3067">
                <a:solidFill>
                  <a:srgbClr val="FFFFFF"/>
                </a:solidFill>
                <a:latin typeface="Poppins"/>
                <a:ea typeface="Poppins"/>
                <a:cs typeface="Poppins"/>
                <a:sym typeface="Poppins"/>
              </a:rPr>
              <a:t>Build command depende del framework</a:t>
            </a:r>
          </a:p>
          <a:p>
            <a:pPr algn="ctr" marL="1324648" indent="-441549" lvl="2">
              <a:lnSpc>
                <a:spcPts val="4294"/>
              </a:lnSpc>
              <a:buAutoNum type="alphaLcPeriod" startAt="1"/>
            </a:pPr>
            <a:r>
              <a:rPr lang="en-US" sz="3067">
                <a:solidFill>
                  <a:srgbClr val="FFFFFF"/>
                </a:solidFill>
                <a:latin typeface="Poppins"/>
                <a:ea typeface="Poppins"/>
                <a:cs typeface="Poppins"/>
                <a:sym typeface="Poppins"/>
              </a:rPr>
              <a:t>Output directory depende del framework</a:t>
            </a:r>
          </a:p>
          <a:p>
            <a:pPr algn="ctr" marL="662324" indent="-331162" lvl="1">
              <a:lnSpc>
                <a:spcPts val="4294"/>
              </a:lnSpc>
              <a:buAutoNum type="arabicPeriod" startAt="1"/>
            </a:pPr>
            <a:r>
              <a:rPr lang="en-US" sz="3067">
                <a:solidFill>
                  <a:srgbClr val="FFFFFF"/>
                </a:solidFill>
                <a:latin typeface="Poppins"/>
                <a:ea typeface="Poppins"/>
                <a:cs typeface="Poppins"/>
                <a:sym typeface="Poppins"/>
              </a:rPr>
              <a:t>Da clic en Deploy</a:t>
            </a:r>
          </a:p>
          <a:p>
            <a:pPr algn="ctr" marL="662324" indent="-331162" lvl="1">
              <a:lnSpc>
                <a:spcPts val="4294"/>
              </a:lnSpc>
              <a:spcBef>
                <a:spcPct val="0"/>
              </a:spcBef>
              <a:buAutoNum type="arabicPeriod" startAt="1"/>
            </a:pPr>
            <a:r>
              <a:rPr lang="en-US" sz="3067">
                <a:solidFill>
                  <a:srgbClr val="FFFFFF"/>
                </a:solidFill>
                <a:latin typeface="Poppins"/>
                <a:ea typeface="Poppins"/>
                <a:cs typeface="Poppins"/>
                <a:sym typeface="Poppins"/>
              </a:rPr>
              <a:t>Ahi espera a que se instalen las dependencias y se desplegara automaticamente, el dominio puede ser: https://tu-proyecto.vercel.app</a:t>
            </a: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TextBox 7" id="7"/>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MANUAL DE IDENTIDAD</a:t>
            </a:r>
          </a:p>
        </p:txBody>
      </p:sp>
      <p:sp>
        <p:nvSpPr>
          <p:cNvPr name="TextBox 8" id="8"/>
          <p:cNvSpPr txBox="true"/>
          <p:nvPr/>
        </p:nvSpPr>
        <p:spPr>
          <a:xfrm rot="0">
            <a:off x="2563075" y="3516142"/>
            <a:ext cx="12960780" cy="2668486"/>
          </a:xfrm>
          <a:prstGeom prst="rect">
            <a:avLst/>
          </a:prstGeom>
        </p:spPr>
        <p:txBody>
          <a:bodyPr anchor="t" rtlCol="false" tIns="0" lIns="0" bIns="0" rIns="0">
            <a:spAutoFit/>
          </a:bodyPr>
          <a:lstStyle/>
          <a:p>
            <a:pPr algn="ctr">
              <a:lnSpc>
                <a:spcPts val="3532"/>
              </a:lnSpc>
              <a:spcBef>
                <a:spcPct val="0"/>
              </a:spcBef>
            </a:pPr>
            <a:r>
              <a:rPr lang="en-US" sz="2523">
                <a:solidFill>
                  <a:srgbClr val="FFFFFF"/>
                </a:solidFill>
                <a:latin typeface="Poppins"/>
                <a:ea typeface="Poppins"/>
                <a:cs typeface="Poppins"/>
                <a:sym typeface="Poppins"/>
              </a:rPr>
              <a:t>también llamado guía de identidad visual o design system guide) es un documento o conjunto de recursos que define cómo debe verse, sentirse y comportarse una marca o producto digital en su interfaz.</a:t>
            </a:r>
          </a:p>
          <a:p>
            <a:pPr algn="ctr">
              <a:lnSpc>
                <a:spcPts val="3532"/>
              </a:lnSpc>
              <a:spcBef>
                <a:spcPct val="0"/>
              </a:spcBef>
            </a:pPr>
            <a:r>
              <a:rPr lang="en-US" sz="2523">
                <a:solidFill>
                  <a:srgbClr val="FFFFFF"/>
                </a:solidFill>
                <a:latin typeface="Poppins"/>
                <a:ea typeface="Poppins"/>
                <a:cs typeface="Poppins"/>
                <a:sym typeface="Poppins"/>
              </a:rPr>
              <a:t>En otras palabras, es la “biblia visual” del proyecto — una guía que garantiza que todos los desarrolladores y diseñadores mantengan coherencia visual y de experiencia en toda la aplicación o sitio web.</a:t>
            </a:r>
          </a:p>
        </p:txBody>
      </p:sp>
      <p:sp>
        <p:nvSpPr>
          <p:cNvPr name="TextBox 9" id="9"/>
          <p:cNvSpPr txBox="true"/>
          <p:nvPr/>
        </p:nvSpPr>
        <p:spPr>
          <a:xfrm rot="0">
            <a:off x="2563075" y="7069720"/>
            <a:ext cx="12960780" cy="1783027"/>
          </a:xfrm>
          <a:prstGeom prst="rect">
            <a:avLst/>
          </a:prstGeom>
        </p:spPr>
        <p:txBody>
          <a:bodyPr anchor="t" rtlCol="false" tIns="0" lIns="0" bIns="0" rIns="0">
            <a:spAutoFit/>
          </a:bodyPr>
          <a:lstStyle/>
          <a:p>
            <a:pPr algn="ctr">
              <a:lnSpc>
                <a:spcPts val="3532"/>
              </a:lnSpc>
            </a:pPr>
            <a:r>
              <a:rPr lang="en-US" sz="2523">
                <a:solidFill>
                  <a:srgbClr val="FFFFFF"/>
                </a:solidFill>
                <a:latin typeface="Poppins"/>
                <a:ea typeface="Poppins"/>
                <a:cs typeface="Poppins"/>
                <a:sym typeface="Poppins"/>
              </a:rPr>
              <a:t>Incluye Tipografia utilizada por cada tipo de informacion (Titulo, Subtitulo, texto normal, texto pequeño)</a:t>
            </a:r>
          </a:p>
          <a:p>
            <a:pPr algn="ctr">
              <a:lnSpc>
                <a:spcPts val="3532"/>
              </a:lnSpc>
              <a:spcBef>
                <a:spcPct val="0"/>
              </a:spcBef>
            </a:pPr>
            <a:r>
              <a:rPr lang="en-US" sz="2523">
                <a:solidFill>
                  <a:srgbClr val="FFFFFF"/>
                </a:solidFill>
                <a:latin typeface="Poppins"/>
                <a:ea typeface="Poppins"/>
                <a:cs typeface="Poppins"/>
                <a:sym typeface="Poppins"/>
              </a:rPr>
              <a:t>Colores generales de la aplicacion - Alertas informativas, Alertas de Advertencia, Alertas de Error</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TextBox 7" id="7"/>
          <p:cNvSpPr txBox="true"/>
          <p:nvPr/>
        </p:nvSpPr>
        <p:spPr>
          <a:xfrm rot="0">
            <a:off x="2982879" y="4643133"/>
            <a:ext cx="12540977" cy="1819884"/>
          </a:xfrm>
          <a:prstGeom prst="rect">
            <a:avLst/>
          </a:prstGeom>
        </p:spPr>
        <p:txBody>
          <a:bodyPr anchor="t" rtlCol="false" tIns="0" lIns="0" bIns="0" rIns="0">
            <a:spAutoFit/>
          </a:bodyPr>
          <a:lstStyle/>
          <a:p>
            <a:pPr algn="ctr">
              <a:lnSpc>
                <a:spcPts val="7316"/>
              </a:lnSpc>
              <a:spcBef>
                <a:spcPct val="0"/>
              </a:spcBef>
            </a:pPr>
            <a:r>
              <a:rPr lang="en-US" sz="5226">
                <a:solidFill>
                  <a:srgbClr val="38B6FF"/>
                </a:solidFill>
                <a:latin typeface="HK Modular"/>
                <a:ea typeface="HK Modular"/>
                <a:cs typeface="HK Modular"/>
                <a:sym typeface="HK Modular"/>
              </a:rPr>
              <a:t>MANUAL DE IDENTIDAD DE LA POKEDEX</a:t>
            </a: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30057" y="-436091"/>
            <a:ext cx="2627887" cy="2627887"/>
          </a:xfrm>
          <a:custGeom>
            <a:avLst/>
            <a:gdLst/>
            <a:ahLst/>
            <a:cxnLst/>
            <a:rect r="r" b="b" t="t" l="l"/>
            <a:pathLst>
              <a:path h="2627887" w="2627887">
                <a:moveTo>
                  <a:pt x="0" y="0"/>
                </a:moveTo>
                <a:lnTo>
                  <a:pt x="2627886" y="0"/>
                </a:lnTo>
                <a:lnTo>
                  <a:pt x="2627886" y="2627887"/>
                </a:lnTo>
                <a:lnTo>
                  <a:pt x="0" y="2627887"/>
                </a:lnTo>
                <a:lnTo>
                  <a:pt x="0" y="0"/>
                </a:lnTo>
                <a:close/>
              </a:path>
            </a:pathLst>
          </a:custGeom>
          <a:blipFill>
            <a:blip r:embed="rId3"/>
            <a:stretch>
              <a:fillRect l="0" t="0" r="0" b="0"/>
            </a:stretch>
          </a:blipFill>
        </p:spPr>
      </p:sp>
      <p:sp>
        <p:nvSpPr>
          <p:cNvPr name="TextBox 7" id="7"/>
          <p:cNvSpPr txBox="true"/>
          <p:nvPr/>
        </p:nvSpPr>
        <p:spPr>
          <a:xfrm rot="0">
            <a:off x="797756" y="4092099"/>
            <a:ext cx="7032300" cy="2318635"/>
          </a:xfrm>
          <a:prstGeom prst="rect">
            <a:avLst/>
          </a:prstGeom>
        </p:spPr>
        <p:txBody>
          <a:bodyPr anchor="t" rtlCol="false" tIns="0" lIns="0" bIns="0" rIns="0">
            <a:spAutoFit/>
          </a:bodyPr>
          <a:lstStyle/>
          <a:p>
            <a:pPr algn="ctr">
              <a:lnSpc>
                <a:spcPts val="4604"/>
              </a:lnSpc>
              <a:spcBef>
                <a:spcPct val="0"/>
              </a:spcBef>
            </a:pPr>
            <a:r>
              <a:rPr lang="en-US" sz="3289">
                <a:solidFill>
                  <a:srgbClr val="38B6FF"/>
                </a:solidFill>
                <a:latin typeface="HK Modular"/>
                <a:ea typeface="HK Modular"/>
                <a:cs typeface="HK Modular"/>
                <a:sym typeface="HK Modular"/>
              </a:rPr>
              <a:t>HIGH LEVEL DESIGN: DOCUMENTO DE ARQUITECTURA Y DISEÑO DEL FRONT</a:t>
            </a:r>
          </a:p>
        </p:txBody>
      </p:sp>
      <p:sp>
        <p:nvSpPr>
          <p:cNvPr name="TextBox 8" id="8"/>
          <p:cNvSpPr txBox="true"/>
          <p:nvPr/>
        </p:nvSpPr>
        <p:spPr>
          <a:xfrm rot="0">
            <a:off x="8299113" y="2720067"/>
            <a:ext cx="8960187" cy="6150200"/>
          </a:xfrm>
          <a:prstGeom prst="rect">
            <a:avLst/>
          </a:prstGeom>
        </p:spPr>
        <p:txBody>
          <a:bodyPr anchor="t" rtlCol="false" tIns="0" lIns="0" bIns="0" rIns="0">
            <a:spAutoFit/>
          </a:bodyPr>
          <a:lstStyle/>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Nombre del Proyecto</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Introduccion de la Solucion</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Pantallas y Acceso por Rol</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Flujo de Navegacion entre pantallas (Diagrama y explicacion de cada flujo)</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Tecnologias Utilizadas</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Paleta de colores</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Modelos de Referencia</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Funcionalidades del sistema</a:t>
            </a:r>
          </a:p>
          <a:p>
            <a:pPr algn="l" marL="893788" indent="-297929" lvl="2">
              <a:lnSpc>
                <a:spcPts val="2897"/>
              </a:lnSpc>
              <a:buFont typeface="Arial"/>
              <a:buChar char="⚬"/>
            </a:pPr>
            <a:r>
              <a:rPr lang="en-US" sz="2069">
                <a:solidFill>
                  <a:srgbClr val="FFFFFF"/>
                </a:solidFill>
                <a:latin typeface="Canva Sans"/>
                <a:ea typeface="Canva Sans"/>
                <a:cs typeface="Canva Sans"/>
                <a:sym typeface="Canva Sans"/>
              </a:rPr>
              <a:t>Funcionalidad: Nombre de la funcionalidad</a:t>
            </a:r>
          </a:p>
          <a:p>
            <a:pPr algn="l" marL="1340682" indent="-335170" lvl="3">
              <a:lnSpc>
                <a:spcPts val="2897"/>
              </a:lnSpc>
              <a:buFont typeface="Arial"/>
              <a:buChar char="￭"/>
            </a:pPr>
            <a:r>
              <a:rPr lang="en-US" sz="2069">
                <a:solidFill>
                  <a:srgbClr val="FFFFFF"/>
                </a:solidFill>
                <a:latin typeface="Canva Sans"/>
                <a:ea typeface="Canva Sans"/>
                <a:cs typeface="Canva Sans"/>
                <a:sym typeface="Canva Sans"/>
              </a:rPr>
              <a:t>Descripcion de la funcionalidad</a:t>
            </a:r>
          </a:p>
          <a:p>
            <a:pPr algn="l" marL="1340682" indent="-335170" lvl="3">
              <a:lnSpc>
                <a:spcPts val="2897"/>
              </a:lnSpc>
              <a:buFont typeface="Arial"/>
              <a:buChar char="￭"/>
            </a:pPr>
            <a:r>
              <a:rPr lang="en-US" sz="2069">
                <a:solidFill>
                  <a:srgbClr val="FFFFFF"/>
                </a:solidFill>
                <a:latin typeface="Canva Sans"/>
                <a:ea typeface="Canva Sans"/>
                <a:cs typeface="Canva Sans"/>
                <a:sym typeface="Canva Sans"/>
              </a:rPr>
              <a:t>Pantallas con su descripcion</a:t>
            </a:r>
          </a:p>
          <a:p>
            <a:pPr algn="l" marL="1340682" indent="-335170" lvl="3">
              <a:lnSpc>
                <a:spcPts val="2897"/>
              </a:lnSpc>
              <a:buFont typeface="Arial"/>
              <a:buChar char="￭"/>
            </a:pPr>
            <a:r>
              <a:rPr lang="en-US" sz="2069">
                <a:solidFill>
                  <a:srgbClr val="FFFFFF"/>
                </a:solidFill>
                <a:latin typeface="Canva Sans"/>
                <a:ea typeface="Canva Sans"/>
                <a:cs typeface="Canva Sans"/>
                <a:sym typeface="Canva Sans"/>
              </a:rPr>
              <a:t>Flujo Basico</a:t>
            </a:r>
          </a:p>
          <a:p>
            <a:pPr algn="l" marL="1340682" indent="-335170" lvl="3">
              <a:lnSpc>
                <a:spcPts val="2897"/>
              </a:lnSpc>
              <a:buFont typeface="Arial"/>
              <a:buChar char="￭"/>
            </a:pPr>
            <a:r>
              <a:rPr lang="en-US" sz="2069">
                <a:solidFill>
                  <a:srgbClr val="FFFFFF"/>
                </a:solidFill>
                <a:latin typeface="Canva Sans"/>
                <a:ea typeface="Canva Sans"/>
                <a:cs typeface="Canva Sans"/>
                <a:sym typeface="Canva Sans"/>
              </a:rPr>
              <a:t>Flujo de Errores</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Link de despliegue del Front</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Referencias Bibliograficas</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Historial de Revision</a:t>
            </a: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4237761" y="-7692879"/>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365746" y="2076251"/>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5D10EA"/>
                </a:solidFill>
                <a:latin typeface="HK Modular"/>
                <a:ea typeface="HK Modular"/>
                <a:cs typeface="HK Modular"/>
                <a:sym typeface="HK Modular"/>
              </a:rPr>
              <a:t>TAREA</a:t>
            </a:r>
          </a:p>
        </p:txBody>
      </p:sp>
      <p:sp>
        <p:nvSpPr>
          <p:cNvPr name="Freeform 13" id="13"/>
          <p:cNvSpPr/>
          <p:nvPr/>
        </p:nvSpPr>
        <p:spPr>
          <a:xfrm flipH="false" flipV="false" rot="0">
            <a:off x="7613426" y="-501874"/>
            <a:ext cx="3061147" cy="3061147"/>
          </a:xfrm>
          <a:custGeom>
            <a:avLst/>
            <a:gdLst/>
            <a:ahLst/>
            <a:cxnLst/>
            <a:rect r="r" b="b" t="t" l="l"/>
            <a:pathLst>
              <a:path h="3061147" w="3061147">
                <a:moveTo>
                  <a:pt x="0" y="0"/>
                </a:moveTo>
                <a:lnTo>
                  <a:pt x="3061148" y="0"/>
                </a:lnTo>
                <a:lnTo>
                  <a:pt x="3061148" y="3061148"/>
                </a:lnTo>
                <a:lnTo>
                  <a:pt x="0" y="3061148"/>
                </a:lnTo>
                <a:lnTo>
                  <a:pt x="0" y="0"/>
                </a:lnTo>
                <a:close/>
              </a:path>
            </a:pathLst>
          </a:custGeom>
          <a:blipFill>
            <a:blip r:embed="rId3"/>
            <a:stretch>
              <a:fillRect l="0" t="0" r="0" b="0"/>
            </a:stretch>
          </a:blipFill>
        </p:spPr>
      </p:sp>
      <p:sp>
        <p:nvSpPr>
          <p:cNvPr name="TextBox 14" id="14"/>
          <p:cNvSpPr txBox="true"/>
          <p:nvPr/>
        </p:nvSpPr>
        <p:spPr>
          <a:xfrm rot="0">
            <a:off x="1502121" y="3919883"/>
            <a:ext cx="15283757" cy="2825046"/>
          </a:xfrm>
          <a:prstGeom prst="rect">
            <a:avLst/>
          </a:prstGeom>
        </p:spPr>
        <p:txBody>
          <a:bodyPr anchor="t" rtlCol="false" tIns="0" lIns="0" bIns="0" rIns="0">
            <a:spAutoFit/>
          </a:bodyPr>
          <a:lstStyle/>
          <a:p>
            <a:pPr algn="just" marL="437785" indent="-218893" lvl="1">
              <a:lnSpc>
                <a:spcPts val="2838"/>
              </a:lnSpc>
              <a:buFont typeface="Arial"/>
              <a:buChar char="•"/>
            </a:pPr>
            <a:r>
              <a:rPr lang="en-US" sz="2027">
                <a:solidFill>
                  <a:srgbClr val="FFFFFF"/>
                </a:solidFill>
                <a:latin typeface="Poppins"/>
                <a:ea typeface="Poppins"/>
                <a:cs typeface="Poppins"/>
                <a:sym typeface="Poppins"/>
              </a:rPr>
              <a:t>Revisar los tutoriales de React publciados en Moodle (IMPORTANTE)</a:t>
            </a:r>
          </a:p>
          <a:p>
            <a:pPr algn="just" marL="437785" indent="-218893" lvl="1">
              <a:lnSpc>
                <a:spcPts val="2838"/>
              </a:lnSpc>
              <a:buFont typeface="Arial"/>
              <a:buChar char="•"/>
            </a:pPr>
            <a:r>
              <a:rPr lang="en-US" sz="2027">
                <a:solidFill>
                  <a:srgbClr val="FFFFFF"/>
                </a:solidFill>
                <a:latin typeface="Poppins"/>
                <a:ea typeface="Poppins"/>
                <a:cs typeface="Poppins"/>
                <a:sym typeface="Poppins"/>
              </a:rPr>
              <a:t>PARA LA PROXIMA CLASE DE LABORATORIO:</a:t>
            </a:r>
          </a:p>
          <a:p>
            <a:pPr algn="just" marL="875571" indent="-291857" lvl="2">
              <a:lnSpc>
                <a:spcPts val="2838"/>
              </a:lnSpc>
              <a:buFont typeface="Arial"/>
              <a:buChar char="⚬"/>
            </a:pPr>
            <a:r>
              <a:rPr lang="en-US" sz="2027">
                <a:solidFill>
                  <a:srgbClr val="FFFFFF"/>
                </a:solidFill>
                <a:latin typeface="Poppins"/>
                <a:ea typeface="Poppins"/>
                <a:cs typeface="Poppins"/>
                <a:sym typeface="Poppins"/>
              </a:rPr>
              <a:t> Traigan todas las dudas que tegan del proyecto, ordenadas y listadas, y el formato realizado en semana 8 completo</a:t>
            </a:r>
          </a:p>
          <a:p>
            <a:pPr algn="just" marL="875571" indent="-291857" lvl="2">
              <a:lnSpc>
                <a:spcPts val="2838"/>
              </a:lnSpc>
              <a:buFont typeface="Arial"/>
              <a:buChar char="⚬"/>
            </a:pPr>
            <a:r>
              <a:rPr lang="en-US" sz="2027">
                <a:solidFill>
                  <a:srgbClr val="FFFFFF"/>
                </a:solidFill>
                <a:latin typeface="Poppins"/>
                <a:ea typeface="Poppins"/>
                <a:cs typeface="Poppins"/>
                <a:sym typeface="Poppins"/>
              </a:rPr>
              <a:t> Establezcan el plan de trabajo para la sesion</a:t>
            </a:r>
          </a:p>
          <a:p>
            <a:pPr algn="just" marL="1313356" indent="-328339" lvl="3">
              <a:lnSpc>
                <a:spcPts val="2838"/>
              </a:lnSpc>
              <a:buFont typeface="Arial"/>
              <a:buChar char="￭"/>
            </a:pPr>
            <a:r>
              <a:rPr lang="en-US" sz="2027">
                <a:solidFill>
                  <a:srgbClr val="FFFFFF"/>
                </a:solidFill>
                <a:latin typeface="Poppins"/>
                <a:ea typeface="Poppins"/>
                <a:cs typeface="Poppins"/>
                <a:sym typeface="Poppins"/>
              </a:rPr>
              <a:t>Division de roles</a:t>
            </a:r>
          </a:p>
          <a:p>
            <a:pPr algn="just" marL="1313356" indent="-328339" lvl="3">
              <a:lnSpc>
                <a:spcPts val="2838"/>
              </a:lnSpc>
              <a:buFont typeface="Arial"/>
              <a:buChar char="￭"/>
            </a:pPr>
            <a:r>
              <a:rPr lang="en-US" sz="2027">
                <a:solidFill>
                  <a:srgbClr val="FFFFFF"/>
                </a:solidFill>
                <a:latin typeface="Poppins"/>
                <a:ea typeface="Poppins"/>
                <a:cs typeface="Poppins"/>
                <a:sym typeface="Poppins"/>
              </a:rPr>
              <a:t>Estimacion sprint</a:t>
            </a:r>
          </a:p>
          <a:p>
            <a:pPr algn="just">
              <a:lnSpc>
                <a:spcPts val="2838"/>
              </a:lnSpc>
              <a:spcBef>
                <a:spcPct val="0"/>
              </a:spcBef>
            </a:pPr>
          </a:p>
        </p:txBody>
      </p:sp>
      <p:sp>
        <p:nvSpPr>
          <p:cNvPr name="Freeform 15" id="15"/>
          <p:cNvSpPr/>
          <p:nvPr/>
        </p:nvSpPr>
        <p:spPr>
          <a:xfrm flipH="false" flipV="false" rot="0">
            <a:off x="13491035" y="7075383"/>
            <a:ext cx="807749" cy="1846284"/>
          </a:xfrm>
          <a:custGeom>
            <a:avLst/>
            <a:gdLst/>
            <a:ahLst/>
            <a:cxnLst/>
            <a:rect r="r" b="b" t="t" l="l"/>
            <a:pathLst>
              <a:path h="1846284" w="807749">
                <a:moveTo>
                  <a:pt x="0" y="0"/>
                </a:moveTo>
                <a:lnTo>
                  <a:pt x="807750" y="0"/>
                </a:lnTo>
                <a:lnTo>
                  <a:pt x="807750" y="1846285"/>
                </a:lnTo>
                <a:lnTo>
                  <a:pt x="0" y="18462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6376999" y="7075383"/>
            <a:ext cx="807749" cy="1846284"/>
          </a:xfrm>
          <a:custGeom>
            <a:avLst/>
            <a:gdLst/>
            <a:ahLst/>
            <a:cxnLst/>
            <a:rect r="r" b="b" t="t" l="l"/>
            <a:pathLst>
              <a:path h="1846284" w="807749">
                <a:moveTo>
                  <a:pt x="0" y="0"/>
                </a:moveTo>
                <a:lnTo>
                  <a:pt x="807749" y="0"/>
                </a:lnTo>
                <a:lnTo>
                  <a:pt x="807749" y="1846285"/>
                </a:lnTo>
                <a:lnTo>
                  <a:pt x="0" y="18462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2606974" y="7075383"/>
            <a:ext cx="807749" cy="1846284"/>
          </a:xfrm>
          <a:custGeom>
            <a:avLst/>
            <a:gdLst/>
            <a:ahLst/>
            <a:cxnLst/>
            <a:rect r="r" b="b" t="t" l="l"/>
            <a:pathLst>
              <a:path h="1846284" w="807749">
                <a:moveTo>
                  <a:pt x="0" y="0"/>
                </a:moveTo>
                <a:lnTo>
                  <a:pt x="807750" y="0"/>
                </a:lnTo>
                <a:lnTo>
                  <a:pt x="807750" y="1846285"/>
                </a:lnTo>
                <a:lnTo>
                  <a:pt x="0" y="18462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9721011" y="7075383"/>
            <a:ext cx="807749" cy="1846284"/>
          </a:xfrm>
          <a:custGeom>
            <a:avLst/>
            <a:gdLst/>
            <a:ahLst/>
            <a:cxnLst/>
            <a:rect r="r" b="b" t="t" l="l"/>
            <a:pathLst>
              <a:path h="1846284" w="807749">
                <a:moveTo>
                  <a:pt x="0" y="0"/>
                </a:moveTo>
                <a:lnTo>
                  <a:pt x="807749" y="0"/>
                </a:lnTo>
                <a:lnTo>
                  <a:pt x="807749" y="1846285"/>
                </a:lnTo>
                <a:lnTo>
                  <a:pt x="0" y="18462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9" id="19"/>
          <p:cNvSpPr txBox="true"/>
          <p:nvPr/>
        </p:nvSpPr>
        <p:spPr>
          <a:xfrm rot="0">
            <a:off x="5655075" y="9210675"/>
            <a:ext cx="2251597" cy="345011"/>
          </a:xfrm>
          <a:prstGeom prst="rect">
            <a:avLst/>
          </a:prstGeom>
        </p:spPr>
        <p:txBody>
          <a:bodyPr anchor="t" rtlCol="false" tIns="0" lIns="0" bIns="0" rIns="0">
            <a:spAutoFit/>
          </a:bodyPr>
          <a:lstStyle/>
          <a:p>
            <a:pPr algn="ctr">
              <a:lnSpc>
                <a:spcPts val="2734"/>
              </a:lnSpc>
              <a:spcBef>
                <a:spcPct val="0"/>
              </a:spcBef>
            </a:pPr>
            <a:r>
              <a:rPr lang="en-US" sz="1953">
                <a:solidFill>
                  <a:srgbClr val="FFFFFF"/>
                </a:solidFill>
                <a:latin typeface="HK Modular"/>
                <a:ea typeface="HK Modular"/>
                <a:cs typeface="HK Modular"/>
                <a:sym typeface="HK Modular"/>
              </a:rPr>
              <a:t>DEVOPS</a:t>
            </a:r>
          </a:p>
        </p:txBody>
      </p:sp>
      <p:sp>
        <p:nvSpPr>
          <p:cNvPr name="TextBox 20" id="20"/>
          <p:cNvSpPr txBox="true"/>
          <p:nvPr/>
        </p:nvSpPr>
        <p:spPr>
          <a:xfrm rot="0">
            <a:off x="1834601" y="9083809"/>
            <a:ext cx="2352497" cy="711365"/>
          </a:xfrm>
          <a:prstGeom prst="rect">
            <a:avLst/>
          </a:prstGeom>
        </p:spPr>
        <p:txBody>
          <a:bodyPr anchor="t" rtlCol="false" tIns="0" lIns="0" bIns="0" rIns="0">
            <a:spAutoFit/>
          </a:bodyPr>
          <a:lstStyle/>
          <a:p>
            <a:pPr algn="ctr">
              <a:lnSpc>
                <a:spcPts val="2857"/>
              </a:lnSpc>
              <a:spcBef>
                <a:spcPct val="0"/>
              </a:spcBef>
            </a:pPr>
            <a:r>
              <a:rPr lang="en-US" sz="2040">
                <a:solidFill>
                  <a:srgbClr val="FFFFFF"/>
                </a:solidFill>
                <a:latin typeface="HK Modular"/>
                <a:ea typeface="HK Modular"/>
                <a:cs typeface="HK Modular"/>
                <a:sym typeface="HK Modular"/>
              </a:rPr>
              <a:t>LIDER SEMANA 9</a:t>
            </a:r>
          </a:p>
        </p:txBody>
      </p:sp>
      <p:sp>
        <p:nvSpPr>
          <p:cNvPr name="TextBox 21" id="21"/>
          <p:cNvSpPr txBox="true"/>
          <p:nvPr/>
        </p:nvSpPr>
        <p:spPr>
          <a:xfrm rot="0">
            <a:off x="9031485" y="9274526"/>
            <a:ext cx="2186802" cy="320406"/>
          </a:xfrm>
          <a:prstGeom prst="rect">
            <a:avLst/>
          </a:prstGeom>
        </p:spPr>
        <p:txBody>
          <a:bodyPr anchor="t" rtlCol="false" tIns="0" lIns="0" bIns="0" rIns="0">
            <a:spAutoFit/>
          </a:bodyPr>
          <a:lstStyle/>
          <a:p>
            <a:pPr algn="ctr">
              <a:lnSpc>
                <a:spcPts val="2508"/>
              </a:lnSpc>
              <a:spcBef>
                <a:spcPct val="0"/>
              </a:spcBef>
            </a:pPr>
            <a:r>
              <a:rPr lang="en-US" sz="1791">
                <a:solidFill>
                  <a:srgbClr val="FFFFFF"/>
                </a:solidFill>
                <a:latin typeface="HK Modular"/>
                <a:ea typeface="HK Modular"/>
                <a:cs typeface="HK Modular"/>
                <a:sym typeface="HK Modular"/>
              </a:rPr>
              <a:t>BACK</a:t>
            </a:r>
          </a:p>
        </p:txBody>
      </p:sp>
      <p:sp>
        <p:nvSpPr>
          <p:cNvPr name="TextBox 22" id="22"/>
          <p:cNvSpPr txBox="true"/>
          <p:nvPr/>
        </p:nvSpPr>
        <p:spPr>
          <a:xfrm rot="0">
            <a:off x="13225910" y="9274526"/>
            <a:ext cx="2251597" cy="345011"/>
          </a:xfrm>
          <a:prstGeom prst="rect">
            <a:avLst/>
          </a:prstGeom>
        </p:spPr>
        <p:txBody>
          <a:bodyPr anchor="t" rtlCol="false" tIns="0" lIns="0" bIns="0" rIns="0">
            <a:spAutoFit/>
          </a:bodyPr>
          <a:lstStyle/>
          <a:p>
            <a:pPr algn="ctr">
              <a:lnSpc>
                <a:spcPts val="2734"/>
              </a:lnSpc>
              <a:spcBef>
                <a:spcPct val="0"/>
              </a:spcBef>
            </a:pPr>
            <a:r>
              <a:rPr lang="en-US" sz="1953">
                <a:solidFill>
                  <a:srgbClr val="FFFFFF"/>
                </a:solidFill>
                <a:latin typeface="HK Modular"/>
                <a:ea typeface="HK Modular"/>
                <a:cs typeface="HK Modular"/>
                <a:sym typeface="HK Modular"/>
              </a:rPr>
              <a:t>FRONT</a:t>
            </a:r>
          </a:p>
        </p:txBody>
      </p:sp>
      <p:sp>
        <p:nvSpPr>
          <p:cNvPr name="Freeform 23" id="23"/>
          <p:cNvSpPr/>
          <p:nvPr/>
        </p:nvSpPr>
        <p:spPr>
          <a:xfrm flipH="false" flipV="false" rot="0">
            <a:off x="14705073" y="7075383"/>
            <a:ext cx="807749" cy="1846284"/>
          </a:xfrm>
          <a:custGeom>
            <a:avLst/>
            <a:gdLst/>
            <a:ahLst/>
            <a:cxnLst/>
            <a:rect r="r" b="b" t="t" l="l"/>
            <a:pathLst>
              <a:path h="1846284" w="807749">
                <a:moveTo>
                  <a:pt x="0" y="0"/>
                </a:moveTo>
                <a:lnTo>
                  <a:pt x="807749" y="0"/>
                </a:lnTo>
                <a:lnTo>
                  <a:pt x="807749" y="1846285"/>
                </a:lnTo>
                <a:lnTo>
                  <a:pt x="0" y="18462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3554B2">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00B2F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8155505" y="-311349"/>
            <a:ext cx="2367992" cy="2367992"/>
          </a:xfrm>
          <a:custGeom>
            <a:avLst/>
            <a:gdLst/>
            <a:ahLst/>
            <a:cxnLst/>
            <a:rect r="r" b="b" t="t" l="l"/>
            <a:pathLst>
              <a:path h="2367992" w="2367992">
                <a:moveTo>
                  <a:pt x="0" y="0"/>
                </a:moveTo>
                <a:lnTo>
                  <a:pt x="2367992" y="0"/>
                </a:lnTo>
                <a:lnTo>
                  <a:pt x="2367992" y="2367993"/>
                </a:lnTo>
                <a:lnTo>
                  <a:pt x="0" y="2367993"/>
                </a:lnTo>
                <a:lnTo>
                  <a:pt x="0" y="0"/>
                </a:lnTo>
                <a:close/>
              </a:path>
            </a:pathLst>
          </a:custGeom>
          <a:blipFill>
            <a:blip r:embed="rId3"/>
            <a:stretch>
              <a:fillRect l="0" t="0" r="0" b="0"/>
            </a:stretch>
          </a:blipFill>
        </p:spPr>
      </p:sp>
      <p:sp>
        <p:nvSpPr>
          <p:cNvPr name="Freeform 13" id="13"/>
          <p:cNvSpPr/>
          <p:nvPr/>
        </p:nvSpPr>
        <p:spPr>
          <a:xfrm flipH="false" flipV="false" rot="0">
            <a:off x="10243218" y="2056644"/>
            <a:ext cx="7316406" cy="7316406"/>
          </a:xfrm>
          <a:custGeom>
            <a:avLst/>
            <a:gdLst/>
            <a:ahLst/>
            <a:cxnLst/>
            <a:rect r="r" b="b" t="t" l="l"/>
            <a:pathLst>
              <a:path h="7316406" w="7316406">
                <a:moveTo>
                  <a:pt x="0" y="0"/>
                </a:moveTo>
                <a:lnTo>
                  <a:pt x="7316407" y="0"/>
                </a:lnTo>
                <a:lnTo>
                  <a:pt x="7316407" y="7316406"/>
                </a:lnTo>
                <a:lnTo>
                  <a:pt x="0" y="7316406"/>
                </a:lnTo>
                <a:lnTo>
                  <a:pt x="0" y="0"/>
                </a:lnTo>
                <a:close/>
              </a:path>
            </a:pathLst>
          </a:custGeom>
          <a:blipFill>
            <a:blip r:embed="rId4"/>
            <a:stretch>
              <a:fillRect l="0" t="0" r="0" b="0"/>
            </a:stretch>
          </a:blipFill>
        </p:spPr>
      </p:sp>
      <p:sp>
        <p:nvSpPr>
          <p:cNvPr name="TextBox 14" id="14"/>
          <p:cNvSpPr txBox="true"/>
          <p:nvPr/>
        </p:nvSpPr>
        <p:spPr>
          <a:xfrm rot="0">
            <a:off x="735432" y="5364282"/>
            <a:ext cx="8935087" cy="2433724"/>
          </a:xfrm>
          <a:prstGeom prst="rect">
            <a:avLst/>
          </a:prstGeom>
        </p:spPr>
        <p:txBody>
          <a:bodyPr anchor="t" rtlCol="false" tIns="0" lIns="0" bIns="0" rIns="0">
            <a:spAutoFit/>
          </a:bodyPr>
          <a:lstStyle/>
          <a:p>
            <a:pPr algn="ctr">
              <a:lnSpc>
                <a:spcPts val="6476"/>
              </a:lnSpc>
              <a:spcBef>
                <a:spcPct val="0"/>
              </a:spcBef>
            </a:pPr>
            <a:r>
              <a:rPr lang="en-US" sz="4626">
                <a:solidFill>
                  <a:srgbClr val="6CDAFF"/>
                </a:solidFill>
                <a:latin typeface="HK Modular"/>
                <a:ea typeface="HK Modular"/>
                <a:cs typeface="HK Modular"/>
                <a:sym typeface="HK Modular"/>
              </a:rPr>
              <a:t>LA SESION DE PROYECTO DEL VIERNES</a:t>
            </a:r>
          </a:p>
        </p:txBody>
      </p:sp>
      <p:sp>
        <p:nvSpPr>
          <p:cNvPr name="TextBox 15" id="15"/>
          <p:cNvSpPr txBox="true"/>
          <p:nvPr/>
        </p:nvSpPr>
        <p:spPr>
          <a:xfrm rot="0">
            <a:off x="549173" y="3595289"/>
            <a:ext cx="9307605" cy="1217902"/>
          </a:xfrm>
          <a:prstGeom prst="rect">
            <a:avLst/>
          </a:prstGeom>
        </p:spPr>
        <p:txBody>
          <a:bodyPr anchor="t" rtlCol="false" tIns="0" lIns="0" bIns="0" rIns="0">
            <a:spAutoFit/>
          </a:bodyPr>
          <a:lstStyle/>
          <a:p>
            <a:pPr algn="ctr">
              <a:lnSpc>
                <a:spcPts val="9973"/>
              </a:lnSpc>
              <a:spcBef>
                <a:spcPct val="0"/>
              </a:spcBef>
            </a:pPr>
            <a:r>
              <a:rPr lang="en-US" sz="7123">
                <a:solidFill>
                  <a:srgbClr val="5D10EA"/>
                </a:solidFill>
                <a:latin typeface="HK Modular"/>
                <a:ea typeface="HK Modular"/>
                <a:cs typeface="HK Modular"/>
                <a:sym typeface="HK Modular"/>
              </a:rPr>
              <a:t>NOS VEMOS 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DAG1aqOKKLo</dc:identifier>
  <dcterms:modified xsi:type="dcterms:W3CDTF">2011-08-01T06:04:30Z</dcterms:modified>
  <cp:revision>1</cp:revision>
  <dc:title>CVDS/DOSW 1 - S9</dc:title>
</cp:coreProperties>
</file>